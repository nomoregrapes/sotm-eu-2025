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9" r:id="rId4"/>
    <p:sldId id="273" r:id="rId5"/>
    <p:sldId id="274" r:id="rId6"/>
    <p:sldId id="275" r:id="rId7"/>
    <p:sldId id="276" r:id="rId8"/>
    <p:sldId id="277" r:id="rId9"/>
    <p:sldId id="278" r:id="rId10"/>
    <p:sldId id="279" r:id="rId11"/>
    <p:sldId id="280" r:id="rId12"/>
    <p:sldId id="293" r:id="rId13"/>
    <p:sldId id="295" r:id="rId14"/>
    <p:sldId id="296" r:id="rId15"/>
    <p:sldId id="266" r:id="rId16"/>
    <p:sldId id="258" r:id="rId17"/>
    <p:sldId id="282" r:id="rId18"/>
    <p:sldId id="271" r:id="rId19"/>
    <p:sldId id="283" r:id="rId20"/>
    <p:sldId id="284" r:id="rId21"/>
    <p:sldId id="285" r:id="rId22"/>
    <p:sldId id="267" r:id="rId23"/>
    <p:sldId id="291" r:id="rId24"/>
    <p:sldId id="292" r:id="rId25"/>
    <p:sldId id="288" r:id="rId26"/>
    <p:sldId id="289" r:id="rId27"/>
    <p:sldId id="298" r:id="rId28"/>
    <p:sldId id="290" r:id="rId29"/>
    <p:sldId id="286" r:id="rId30"/>
    <p:sldId id="264" r:id="rId31"/>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FEE130-DC78-E1B5-27B7-61119B896A6C}" name="Christos Konstantinou" initials="CK" userId="S::c.konstantinou@ecf.com::e44a6cfe-f3c8-42a3-a846-2a1e81537efe" providerId="AD"/>
  <p188:author id="{9EC34372-7022-2AD1-40B1-B6221134A055}" name="Holger Haubold | ECF" initials="HH" userId="S::h.haubold@ecf.com::069119b0-1ac2-4073-a9c2-97afec6bfddf" providerId="AD"/>
  <p188:author id="{1CAEEAB9-794E-EC75-0DAA-D0B4F867059C}" name="Christos Konstantinou" initials="CK" userId="S::ckonstantinou@irfofficial.org::4a3a848a-8729-4cff-9e7d-f90239b4334a" providerId="AD"/>
  <p188:author id="{40C252E3-46F3-0012-8618-40D75874F8D8}" name="Aleksander Buczyński | ECF" initials="AE" userId="S::a.buczynski@ecf.com::84009866-47a2-4bd5-b1e3-c79206ddfb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27FF56-6DFE-472B-B2A4-E32FDD655F43}" v="23" dt="2025-11-13T16:58:26.584"/>
    <p1510:client id="{5AB12C7C-4C86-43E2-9112-1873A422FE18}" v="12" dt="2025-11-13T16:49:21.018"/>
    <p1510:client id="{702E8826-52DB-80DA-C108-73D17D493CBC}" v="3" dt="2025-11-13T16:57:28.904"/>
    <p1510:client id="{EBDBA649-AEA7-A479-BFA1-6169D02FC8E1}" v="13" dt="2025-11-13T17:02:45.2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163" autoAdjust="0"/>
  </p:normalViewPr>
  <p:slideViewPr>
    <p:cSldViewPr snapToGrid="0">
      <p:cViewPr varScale="1">
        <p:scale>
          <a:sx n="95" d="100"/>
          <a:sy n="95" d="100"/>
        </p:scale>
        <p:origin x="138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6EEB87-0261-464F-B909-AE237B19E83B}" type="doc">
      <dgm:prSet loTypeId="urn:microsoft.com/office/officeart/2016/7/layout/LinearArrowProcessNumbered" loCatId="process" qsTypeId="urn:microsoft.com/office/officeart/2005/8/quickstyle/simple1" qsCatId="simple" csTypeId="urn:microsoft.com/office/officeart/2005/8/colors/colorful2" csCatId="colorful" phldr="1"/>
      <dgm:spPr/>
      <dgm:t>
        <a:bodyPr/>
        <a:lstStyle/>
        <a:p>
          <a:endParaRPr lang="en-US"/>
        </a:p>
      </dgm:t>
    </dgm:pt>
    <dgm:pt modelId="{AC056ED1-3938-4C50-89A2-3FAE35CB14F7}">
      <dgm:prSet custT="1"/>
      <dgm:spPr/>
      <dgm:t>
        <a:bodyPr/>
        <a:lstStyle/>
        <a:p>
          <a:pPr algn="ctr"/>
          <a:r>
            <a:rPr lang="en-US" sz="1400"/>
            <a:t>Projection of both networks in coordinate system of the area of analysis</a:t>
          </a:r>
        </a:p>
      </dgm:t>
    </dgm:pt>
    <dgm:pt modelId="{5CF776B6-C2A0-484F-8B8E-206985D462B9}" type="parTrans" cxnId="{396EBA2B-8FC2-4943-B695-85A79ADFAFE0}">
      <dgm:prSet/>
      <dgm:spPr/>
      <dgm:t>
        <a:bodyPr/>
        <a:lstStyle/>
        <a:p>
          <a:endParaRPr lang="en-US"/>
        </a:p>
      </dgm:t>
    </dgm:pt>
    <dgm:pt modelId="{989E9CF9-C933-445F-BADB-5B1BE568CD0A}" type="sibTrans" cxnId="{396EBA2B-8FC2-4943-B695-85A79ADFAFE0}">
      <dgm:prSet phldrT="1" phldr="0"/>
      <dgm:spPr/>
      <dgm:t>
        <a:bodyPr/>
        <a:lstStyle/>
        <a:p>
          <a:r>
            <a:rPr lang="en-US"/>
            <a:t>1</a:t>
          </a:r>
        </a:p>
      </dgm:t>
    </dgm:pt>
    <dgm:pt modelId="{F2CA483D-2938-42B6-A239-4687BD9E6617}">
      <dgm:prSet custT="1"/>
      <dgm:spPr/>
      <dgm:t>
        <a:bodyPr/>
        <a:lstStyle/>
        <a:p>
          <a:pPr algn="ctr"/>
          <a:r>
            <a:rPr lang="en-US" sz="1400" dirty="0"/>
            <a:t>Creation of a 10m buffer zone around OSM network and Official network</a:t>
          </a:r>
        </a:p>
      </dgm:t>
    </dgm:pt>
    <dgm:pt modelId="{02180BB0-9717-42B4-8B78-A7154CE7AF93}" type="parTrans" cxnId="{F8648A5D-5A5D-4887-B6ED-FC1A69639E7A}">
      <dgm:prSet/>
      <dgm:spPr/>
      <dgm:t>
        <a:bodyPr/>
        <a:lstStyle/>
        <a:p>
          <a:endParaRPr lang="en-US"/>
        </a:p>
      </dgm:t>
    </dgm:pt>
    <dgm:pt modelId="{3EDFB531-B6A9-4009-A42E-2D862D53497A}" type="sibTrans" cxnId="{F8648A5D-5A5D-4887-B6ED-FC1A69639E7A}">
      <dgm:prSet phldrT="2" phldr="0"/>
      <dgm:spPr/>
      <dgm:t>
        <a:bodyPr/>
        <a:lstStyle/>
        <a:p>
          <a:r>
            <a:rPr lang="en-US"/>
            <a:t>2</a:t>
          </a:r>
        </a:p>
      </dgm:t>
    </dgm:pt>
    <dgm:pt modelId="{ECE2E7A9-B586-46D8-8707-54F32C9DCBBC}">
      <dgm:prSet custT="1"/>
      <dgm:spPr/>
      <dgm:t>
        <a:bodyPr/>
        <a:lstStyle/>
        <a:p>
          <a:pPr algn="ctr"/>
          <a:r>
            <a:rPr lang="en-US" sz="1400"/>
            <a:t>Spatial overlays between networks </a:t>
          </a:r>
        </a:p>
      </dgm:t>
    </dgm:pt>
    <dgm:pt modelId="{A908F1E9-2565-4C9F-84A0-B0DF8BD15409}" type="parTrans" cxnId="{FE0DEDF4-D20A-4C95-A712-982608A9D33C}">
      <dgm:prSet/>
      <dgm:spPr/>
      <dgm:t>
        <a:bodyPr/>
        <a:lstStyle/>
        <a:p>
          <a:endParaRPr lang="en-US"/>
        </a:p>
      </dgm:t>
    </dgm:pt>
    <dgm:pt modelId="{8631A0A0-F031-4C9F-96DD-4CCC95438AEC}" type="sibTrans" cxnId="{FE0DEDF4-D20A-4C95-A712-982608A9D33C}">
      <dgm:prSet phldrT="3" phldr="0"/>
      <dgm:spPr/>
      <dgm:t>
        <a:bodyPr/>
        <a:lstStyle/>
        <a:p>
          <a:r>
            <a:rPr lang="en-US"/>
            <a:t>3</a:t>
          </a:r>
        </a:p>
      </dgm:t>
    </dgm:pt>
    <dgm:pt modelId="{3DCF8B40-DC0A-47F1-B894-689AB8DFB130}">
      <dgm:prSet custT="1"/>
      <dgm:spPr/>
      <dgm:t>
        <a:bodyPr/>
        <a:lstStyle/>
        <a:p>
          <a:pPr algn="ctr"/>
          <a:r>
            <a:rPr lang="en-US" sz="1400"/>
            <a:t>Correction of the previous networks by checking the angle of intersection</a:t>
          </a:r>
        </a:p>
      </dgm:t>
    </dgm:pt>
    <dgm:pt modelId="{8EC79376-C613-4AC0-A8CE-0A749421B786}" type="parTrans" cxnId="{FCAE5811-8DD9-4E70-A33E-E7891875FEA3}">
      <dgm:prSet/>
      <dgm:spPr/>
      <dgm:t>
        <a:bodyPr/>
        <a:lstStyle/>
        <a:p>
          <a:endParaRPr lang="en-US"/>
        </a:p>
      </dgm:t>
    </dgm:pt>
    <dgm:pt modelId="{4ED84070-CCAF-4F02-9869-2AF2B6AF3157}" type="sibTrans" cxnId="{FCAE5811-8DD9-4E70-A33E-E7891875FEA3}">
      <dgm:prSet phldrT="5" phldr="0"/>
      <dgm:spPr/>
      <dgm:t>
        <a:bodyPr/>
        <a:lstStyle/>
        <a:p>
          <a:r>
            <a:rPr lang="en-US"/>
            <a:t>5</a:t>
          </a:r>
        </a:p>
      </dgm:t>
    </dgm:pt>
    <dgm:pt modelId="{360880C7-8CAC-4B77-AD8C-A4072FF42FF8}">
      <dgm:prSet custT="1"/>
      <dgm:spPr/>
      <dgm:t>
        <a:bodyPr/>
        <a:lstStyle/>
        <a:p>
          <a:pPr algn="ctr"/>
          <a:r>
            <a:rPr lang="en-US" sz="1400"/>
            <a:t>Automated creation of OSM network not in official, Official network not in OSM</a:t>
          </a:r>
        </a:p>
      </dgm:t>
    </dgm:pt>
    <dgm:pt modelId="{E5D93696-51FF-4DA7-8769-C7E24A09E4E8}" type="parTrans" cxnId="{636DC35A-16E8-435E-88A7-9A479432BFED}">
      <dgm:prSet/>
      <dgm:spPr/>
      <dgm:t>
        <a:bodyPr/>
        <a:lstStyle/>
        <a:p>
          <a:endParaRPr lang="en-GB"/>
        </a:p>
      </dgm:t>
    </dgm:pt>
    <dgm:pt modelId="{1AFAE720-3786-4E43-8B62-F30E9D9DDC91}" type="sibTrans" cxnId="{636DC35A-16E8-435E-88A7-9A479432BFED}">
      <dgm:prSet phldrT="4" phldr="0"/>
      <dgm:spPr/>
      <dgm:t>
        <a:bodyPr/>
        <a:lstStyle/>
        <a:p>
          <a:r>
            <a:rPr lang="en-GB"/>
            <a:t>4</a:t>
          </a:r>
        </a:p>
      </dgm:t>
    </dgm:pt>
    <dgm:pt modelId="{46D0A515-EF14-4F7D-AF7B-0E5CA4D9B5E4}">
      <dgm:prSet custT="1"/>
      <dgm:spPr/>
      <dgm:t>
        <a:bodyPr/>
        <a:lstStyle/>
        <a:p>
          <a:pPr algn="ctr"/>
          <a:r>
            <a:rPr lang="en-US" sz="1400" dirty="0"/>
            <a:t>URL link addition of Google Street  view per segment </a:t>
          </a:r>
        </a:p>
      </dgm:t>
    </dgm:pt>
    <dgm:pt modelId="{E58CB401-7806-46F4-891C-6792BEEC6F2B}" type="parTrans" cxnId="{55CF8C00-0312-4668-8054-0000BF3A400C}">
      <dgm:prSet/>
      <dgm:spPr/>
      <dgm:t>
        <a:bodyPr/>
        <a:lstStyle/>
        <a:p>
          <a:endParaRPr lang="en-GB"/>
        </a:p>
      </dgm:t>
    </dgm:pt>
    <dgm:pt modelId="{3C702EC2-0D7D-442D-843E-7D57F22FC1B4}" type="sibTrans" cxnId="{55CF8C00-0312-4668-8054-0000BF3A400C}">
      <dgm:prSet phldrT="6" phldr="0"/>
      <dgm:spPr/>
      <dgm:t>
        <a:bodyPr/>
        <a:lstStyle/>
        <a:p>
          <a:r>
            <a:rPr lang="en-GB"/>
            <a:t>6</a:t>
          </a:r>
        </a:p>
      </dgm:t>
    </dgm:pt>
    <dgm:pt modelId="{DA52262B-B93F-404F-8176-F89EDE976582}" type="pres">
      <dgm:prSet presAssocID="{666EEB87-0261-464F-B909-AE237B19E83B}" presName="linearFlow" presStyleCnt="0">
        <dgm:presLayoutVars>
          <dgm:dir/>
          <dgm:animLvl val="lvl"/>
          <dgm:resizeHandles val="exact"/>
        </dgm:presLayoutVars>
      </dgm:prSet>
      <dgm:spPr/>
    </dgm:pt>
    <dgm:pt modelId="{A5AA9024-4554-416D-93EF-46523B01914D}" type="pres">
      <dgm:prSet presAssocID="{AC056ED1-3938-4C50-89A2-3FAE35CB14F7}" presName="compositeNode" presStyleCnt="0"/>
      <dgm:spPr/>
    </dgm:pt>
    <dgm:pt modelId="{7EA78680-EE8B-41FB-BBE5-003651392653}" type="pres">
      <dgm:prSet presAssocID="{AC056ED1-3938-4C50-89A2-3FAE35CB14F7}" presName="parTx" presStyleLbl="node1" presStyleIdx="0" presStyleCnt="0">
        <dgm:presLayoutVars>
          <dgm:chMax val="0"/>
          <dgm:chPref val="0"/>
          <dgm:bulletEnabled val="1"/>
        </dgm:presLayoutVars>
      </dgm:prSet>
      <dgm:spPr/>
    </dgm:pt>
    <dgm:pt modelId="{18418AB0-B5CA-4FC3-AE64-2387A88A1ACD}" type="pres">
      <dgm:prSet presAssocID="{AC056ED1-3938-4C50-89A2-3FAE35CB14F7}" presName="parSh" presStyleCnt="0"/>
      <dgm:spPr/>
    </dgm:pt>
    <dgm:pt modelId="{954DE8A0-800A-49A9-910B-016B32F9AF7C}" type="pres">
      <dgm:prSet presAssocID="{AC056ED1-3938-4C50-89A2-3FAE35CB14F7}" presName="lineNode" presStyleLbl="alignAccFollowNode1" presStyleIdx="0" presStyleCnt="18"/>
      <dgm:spPr/>
    </dgm:pt>
    <dgm:pt modelId="{BA9C20B0-CF67-4D54-AA1B-C7FEF041A896}" type="pres">
      <dgm:prSet presAssocID="{AC056ED1-3938-4C50-89A2-3FAE35CB14F7}" presName="lineArrowNode" presStyleLbl="alignAccFollowNode1" presStyleIdx="1" presStyleCnt="18"/>
      <dgm:spPr/>
    </dgm:pt>
    <dgm:pt modelId="{CE4198C2-EBD3-40F6-9969-3E664A76F7D1}" type="pres">
      <dgm:prSet presAssocID="{989E9CF9-C933-445F-BADB-5B1BE568CD0A}" presName="sibTransNodeCircle" presStyleLbl="alignNode1" presStyleIdx="0" presStyleCnt="6">
        <dgm:presLayoutVars>
          <dgm:chMax val="0"/>
          <dgm:bulletEnabled/>
        </dgm:presLayoutVars>
      </dgm:prSet>
      <dgm:spPr/>
    </dgm:pt>
    <dgm:pt modelId="{032C3F89-1B69-4969-856E-8C089C946664}" type="pres">
      <dgm:prSet presAssocID="{989E9CF9-C933-445F-BADB-5B1BE568CD0A}" presName="spacerBetweenCircleAndCallout" presStyleCnt="0">
        <dgm:presLayoutVars/>
      </dgm:prSet>
      <dgm:spPr/>
    </dgm:pt>
    <dgm:pt modelId="{2DBF0F2C-B429-433E-8C66-5BCFC6780499}" type="pres">
      <dgm:prSet presAssocID="{AC056ED1-3938-4C50-89A2-3FAE35CB14F7}" presName="nodeText" presStyleLbl="alignAccFollowNode1" presStyleIdx="2" presStyleCnt="18">
        <dgm:presLayoutVars>
          <dgm:bulletEnabled val="1"/>
        </dgm:presLayoutVars>
      </dgm:prSet>
      <dgm:spPr/>
    </dgm:pt>
    <dgm:pt modelId="{EE242DFC-20B5-4E9A-A53B-DB65E4294BD8}" type="pres">
      <dgm:prSet presAssocID="{989E9CF9-C933-445F-BADB-5B1BE568CD0A}" presName="sibTransComposite" presStyleCnt="0"/>
      <dgm:spPr/>
    </dgm:pt>
    <dgm:pt modelId="{E5281895-F266-4EFA-B3BB-A4EE49825FD2}" type="pres">
      <dgm:prSet presAssocID="{F2CA483D-2938-42B6-A239-4687BD9E6617}" presName="compositeNode" presStyleCnt="0"/>
      <dgm:spPr/>
    </dgm:pt>
    <dgm:pt modelId="{243E1A3C-E84B-46D9-B223-BA1529E2EC79}" type="pres">
      <dgm:prSet presAssocID="{F2CA483D-2938-42B6-A239-4687BD9E6617}" presName="parTx" presStyleLbl="node1" presStyleIdx="0" presStyleCnt="0">
        <dgm:presLayoutVars>
          <dgm:chMax val="0"/>
          <dgm:chPref val="0"/>
          <dgm:bulletEnabled val="1"/>
        </dgm:presLayoutVars>
      </dgm:prSet>
      <dgm:spPr/>
    </dgm:pt>
    <dgm:pt modelId="{4B19FDAF-4CB0-45BB-AB93-DE24652F1CF6}" type="pres">
      <dgm:prSet presAssocID="{F2CA483D-2938-42B6-A239-4687BD9E6617}" presName="parSh" presStyleCnt="0"/>
      <dgm:spPr/>
    </dgm:pt>
    <dgm:pt modelId="{66A6753A-5DC7-422C-80D1-41321A943C3F}" type="pres">
      <dgm:prSet presAssocID="{F2CA483D-2938-42B6-A239-4687BD9E6617}" presName="lineNode" presStyleLbl="alignAccFollowNode1" presStyleIdx="3" presStyleCnt="18"/>
      <dgm:spPr/>
    </dgm:pt>
    <dgm:pt modelId="{8932C9FF-398C-4349-BA3F-B1AA708BF034}" type="pres">
      <dgm:prSet presAssocID="{F2CA483D-2938-42B6-A239-4687BD9E6617}" presName="lineArrowNode" presStyleLbl="alignAccFollowNode1" presStyleIdx="4" presStyleCnt="18"/>
      <dgm:spPr/>
    </dgm:pt>
    <dgm:pt modelId="{D6946FC8-7096-480B-B154-F3BE23E1C0E5}" type="pres">
      <dgm:prSet presAssocID="{3EDFB531-B6A9-4009-A42E-2D862D53497A}" presName="sibTransNodeCircle" presStyleLbl="alignNode1" presStyleIdx="1" presStyleCnt="6">
        <dgm:presLayoutVars>
          <dgm:chMax val="0"/>
          <dgm:bulletEnabled/>
        </dgm:presLayoutVars>
      </dgm:prSet>
      <dgm:spPr/>
    </dgm:pt>
    <dgm:pt modelId="{B5DE0928-0CAC-4D3F-9360-491BCF114861}" type="pres">
      <dgm:prSet presAssocID="{3EDFB531-B6A9-4009-A42E-2D862D53497A}" presName="spacerBetweenCircleAndCallout" presStyleCnt="0">
        <dgm:presLayoutVars/>
      </dgm:prSet>
      <dgm:spPr/>
    </dgm:pt>
    <dgm:pt modelId="{EC6D71A3-938A-4B66-BB5E-435836A6636A}" type="pres">
      <dgm:prSet presAssocID="{F2CA483D-2938-42B6-A239-4687BD9E6617}" presName="nodeText" presStyleLbl="alignAccFollowNode1" presStyleIdx="5" presStyleCnt="18">
        <dgm:presLayoutVars>
          <dgm:bulletEnabled val="1"/>
        </dgm:presLayoutVars>
      </dgm:prSet>
      <dgm:spPr/>
    </dgm:pt>
    <dgm:pt modelId="{89CBE342-09AF-4C93-854C-A2C310BC33AD}" type="pres">
      <dgm:prSet presAssocID="{3EDFB531-B6A9-4009-A42E-2D862D53497A}" presName="sibTransComposite" presStyleCnt="0"/>
      <dgm:spPr/>
    </dgm:pt>
    <dgm:pt modelId="{73FCD8BC-B4F2-4072-9519-E7471DD1ADA8}" type="pres">
      <dgm:prSet presAssocID="{ECE2E7A9-B586-46D8-8707-54F32C9DCBBC}" presName="compositeNode" presStyleCnt="0"/>
      <dgm:spPr/>
    </dgm:pt>
    <dgm:pt modelId="{1C2584C7-C9E7-44CE-A897-BF749B16EDE0}" type="pres">
      <dgm:prSet presAssocID="{ECE2E7A9-B586-46D8-8707-54F32C9DCBBC}" presName="parTx" presStyleLbl="node1" presStyleIdx="0" presStyleCnt="0">
        <dgm:presLayoutVars>
          <dgm:chMax val="0"/>
          <dgm:chPref val="0"/>
          <dgm:bulletEnabled val="1"/>
        </dgm:presLayoutVars>
      </dgm:prSet>
      <dgm:spPr/>
    </dgm:pt>
    <dgm:pt modelId="{EE8D48BD-F274-495B-936C-B0E49E45CB7A}" type="pres">
      <dgm:prSet presAssocID="{ECE2E7A9-B586-46D8-8707-54F32C9DCBBC}" presName="parSh" presStyleCnt="0"/>
      <dgm:spPr/>
    </dgm:pt>
    <dgm:pt modelId="{EE73CC3E-6EBD-49AD-A47B-469A5D8E3EEF}" type="pres">
      <dgm:prSet presAssocID="{ECE2E7A9-B586-46D8-8707-54F32C9DCBBC}" presName="lineNode" presStyleLbl="alignAccFollowNode1" presStyleIdx="6" presStyleCnt="18"/>
      <dgm:spPr/>
    </dgm:pt>
    <dgm:pt modelId="{EC54518B-D4AC-47AF-A623-D32B02F17803}" type="pres">
      <dgm:prSet presAssocID="{ECE2E7A9-B586-46D8-8707-54F32C9DCBBC}" presName="lineArrowNode" presStyleLbl="alignAccFollowNode1" presStyleIdx="7" presStyleCnt="18"/>
      <dgm:spPr/>
    </dgm:pt>
    <dgm:pt modelId="{8888438F-DD91-429D-B23E-85637036A911}" type="pres">
      <dgm:prSet presAssocID="{8631A0A0-F031-4C9F-96DD-4CCC95438AEC}" presName="sibTransNodeCircle" presStyleLbl="alignNode1" presStyleIdx="2" presStyleCnt="6">
        <dgm:presLayoutVars>
          <dgm:chMax val="0"/>
          <dgm:bulletEnabled/>
        </dgm:presLayoutVars>
      </dgm:prSet>
      <dgm:spPr/>
    </dgm:pt>
    <dgm:pt modelId="{8480EF1F-3DCC-4233-9B16-5E2D04C724BC}" type="pres">
      <dgm:prSet presAssocID="{8631A0A0-F031-4C9F-96DD-4CCC95438AEC}" presName="spacerBetweenCircleAndCallout" presStyleCnt="0">
        <dgm:presLayoutVars/>
      </dgm:prSet>
      <dgm:spPr/>
    </dgm:pt>
    <dgm:pt modelId="{B1B0D558-16BE-4335-824A-8DDA4E66DCD9}" type="pres">
      <dgm:prSet presAssocID="{ECE2E7A9-B586-46D8-8707-54F32C9DCBBC}" presName="nodeText" presStyleLbl="alignAccFollowNode1" presStyleIdx="8" presStyleCnt="18" custLinFactNeighborX="732">
        <dgm:presLayoutVars>
          <dgm:bulletEnabled val="1"/>
        </dgm:presLayoutVars>
      </dgm:prSet>
      <dgm:spPr/>
    </dgm:pt>
    <dgm:pt modelId="{348F6E3F-7305-4A86-AD39-FFF5F9D53E0E}" type="pres">
      <dgm:prSet presAssocID="{8631A0A0-F031-4C9F-96DD-4CCC95438AEC}" presName="sibTransComposite" presStyleCnt="0"/>
      <dgm:spPr/>
    </dgm:pt>
    <dgm:pt modelId="{9D9E1BA8-2C90-43D7-8027-6562E0380A2D}" type="pres">
      <dgm:prSet presAssocID="{360880C7-8CAC-4B77-AD8C-A4072FF42FF8}" presName="compositeNode" presStyleCnt="0"/>
      <dgm:spPr/>
    </dgm:pt>
    <dgm:pt modelId="{57390A28-BA9C-4D44-8EE1-D8291B80A58F}" type="pres">
      <dgm:prSet presAssocID="{360880C7-8CAC-4B77-AD8C-A4072FF42FF8}" presName="parTx" presStyleLbl="node1" presStyleIdx="0" presStyleCnt="0">
        <dgm:presLayoutVars>
          <dgm:chMax val="0"/>
          <dgm:chPref val="0"/>
          <dgm:bulletEnabled val="1"/>
        </dgm:presLayoutVars>
      </dgm:prSet>
      <dgm:spPr/>
    </dgm:pt>
    <dgm:pt modelId="{8C4E36B5-74D3-452F-AF3A-9B6E5D4F3FA3}" type="pres">
      <dgm:prSet presAssocID="{360880C7-8CAC-4B77-AD8C-A4072FF42FF8}" presName="parSh" presStyleCnt="0"/>
      <dgm:spPr/>
    </dgm:pt>
    <dgm:pt modelId="{9889C71B-A216-4F61-A77E-443EB08D7F4C}" type="pres">
      <dgm:prSet presAssocID="{360880C7-8CAC-4B77-AD8C-A4072FF42FF8}" presName="lineNode" presStyleLbl="alignAccFollowNode1" presStyleIdx="9" presStyleCnt="18"/>
      <dgm:spPr/>
    </dgm:pt>
    <dgm:pt modelId="{D3FA830F-D483-4433-8627-899789FE7498}" type="pres">
      <dgm:prSet presAssocID="{360880C7-8CAC-4B77-AD8C-A4072FF42FF8}" presName="lineArrowNode" presStyleLbl="alignAccFollowNode1" presStyleIdx="10" presStyleCnt="18"/>
      <dgm:spPr/>
    </dgm:pt>
    <dgm:pt modelId="{A5750CFE-5E2E-440E-8F1C-41B18B573CE0}" type="pres">
      <dgm:prSet presAssocID="{1AFAE720-3786-4E43-8B62-F30E9D9DDC91}" presName="sibTransNodeCircle" presStyleLbl="alignNode1" presStyleIdx="3" presStyleCnt="6">
        <dgm:presLayoutVars>
          <dgm:chMax val="0"/>
          <dgm:bulletEnabled/>
        </dgm:presLayoutVars>
      </dgm:prSet>
      <dgm:spPr/>
    </dgm:pt>
    <dgm:pt modelId="{6472ABB4-7E1B-49EC-8E57-6E84C96F671F}" type="pres">
      <dgm:prSet presAssocID="{1AFAE720-3786-4E43-8B62-F30E9D9DDC91}" presName="spacerBetweenCircleAndCallout" presStyleCnt="0">
        <dgm:presLayoutVars/>
      </dgm:prSet>
      <dgm:spPr/>
    </dgm:pt>
    <dgm:pt modelId="{29C57A4F-8E71-45EE-BE53-1BC4968BF709}" type="pres">
      <dgm:prSet presAssocID="{360880C7-8CAC-4B77-AD8C-A4072FF42FF8}" presName="nodeText" presStyleLbl="alignAccFollowNode1" presStyleIdx="11" presStyleCnt="18">
        <dgm:presLayoutVars>
          <dgm:bulletEnabled val="1"/>
        </dgm:presLayoutVars>
      </dgm:prSet>
      <dgm:spPr/>
    </dgm:pt>
    <dgm:pt modelId="{1ED03831-3A19-4C8D-A1F7-D0B47D009247}" type="pres">
      <dgm:prSet presAssocID="{1AFAE720-3786-4E43-8B62-F30E9D9DDC91}" presName="sibTransComposite" presStyleCnt="0"/>
      <dgm:spPr/>
    </dgm:pt>
    <dgm:pt modelId="{DD922C60-C2BA-46E9-AC77-FE0C93E5A79C}" type="pres">
      <dgm:prSet presAssocID="{3DCF8B40-DC0A-47F1-B894-689AB8DFB130}" presName="compositeNode" presStyleCnt="0"/>
      <dgm:spPr/>
    </dgm:pt>
    <dgm:pt modelId="{F82CA16D-5DBA-4484-AA51-DBDD66DDB2B7}" type="pres">
      <dgm:prSet presAssocID="{3DCF8B40-DC0A-47F1-B894-689AB8DFB130}" presName="parTx" presStyleLbl="node1" presStyleIdx="0" presStyleCnt="0">
        <dgm:presLayoutVars>
          <dgm:chMax val="0"/>
          <dgm:chPref val="0"/>
          <dgm:bulletEnabled val="1"/>
        </dgm:presLayoutVars>
      </dgm:prSet>
      <dgm:spPr/>
    </dgm:pt>
    <dgm:pt modelId="{5AA09746-3B10-445C-B5CD-7035A81B96D0}" type="pres">
      <dgm:prSet presAssocID="{3DCF8B40-DC0A-47F1-B894-689AB8DFB130}" presName="parSh" presStyleCnt="0"/>
      <dgm:spPr/>
    </dgm:pt>
    <dgm:pt modelId="{F342764D-D105-49BB-B175-C9C4A457440F}" type="pres">
      <dgm:prSet presAssocID="{3DCF8B40-DC0A-47F1-B894-689AB8DFB130}" presName="lineNode" presStyleLbl="alignAccFollowNode1" presStyleIdx="12" presStyleCnt="18"/>
      <dgm:spPr/>
    </dgm:pt>
    <dgm:pt modelId="{13B998BE-EF4D-4E28-8B78-3E72A4562188}" type="pres">
      <dgm:prSet presAssocID="{3DCF8B40-DC0A-47F1-B894-689AB8DFB130}" presName="lineArrowNode" presStyleLbl="alignAccFollowNode1" presStyleIdx="13" presStyleCnt="18"/>
      <dgm:spPr/>
    </dgm:pt>
    <dgm:pt modelId="{0513EC7D-3960-42B6-99D9-DA9AB27DB098}" type="pres">
      <dgm:prSet presAssocID="{4ED84070-CCAF-4F02-9869-2AF2B6AF3157}" presName="sibTransNodeCircle" presStyleLbl="alignNode1" presStyleIdx="4" presStyleCnt="6">
        <dgm:presLayoutVars>
          <dgm:chMax val="0"/>
          <dgm:bulletEnabled/>
        </dgm:presLayoutVars>
      </dgm:prSet>
      <dgm:spPr/>
    </dgm:pt>
    <dgm:pt modelId="{2F84E480-B3EA-49AD-B50D-D76BE944DB03}" type="pres">
      <dgm:prSet presAssocID="{4ED84070-CCAF-4F02-9869-2AF2B6AF3157}" presName="spacerBetweenCircleAndCallout" presStyleCnt="0">
        <dgm:presLayoutVars/>
      </dgm:prSet>
      <dgm:spPr/>
    </dgm:pt>
    <dgm:pt modelId="{E94CB676-47EE-4FB2-9286-19096B52384F}" type="pres">
      <dgm:prSet presAssocID="{3DCF8B40-DC0A-47F1-B894-689AB8DFB130}" presName="nodeText" presStyleLbl="alignAccFollowNode1" presStyleIdx="14" presStyleCnt="18">
        <dgm:presLayoutVars>
          <dgm:bulletEnabled val="1"/>
        </dgm:presLayoutVars>
      </dgm:prSet>
      <dgm:spPr/>
    </dgm:pt>
    <dgm:pt modelId="{641F89B1-E0EE-4538-8ADD-C447E03A8D8F}" type="pres">
      <dgm:prSet presAssocID="{4ED84070-CCAF-4F02-9869-2AF2B6AF3157}" presName="sibTransComposite" presStyleCnt="0"/>
      <dgm:spPr/>
    </dgm:pt>
    <dgm:pt modelId="{73287D86-5632-4B44-9ACB-9BCB888A059E}" type="pres">
      <dgm:prSet presAssocID="{46D0A515-EF14-4F7D-AF7B-0E5CA4D9B5E4}" presName="compositeNode" presStyleCnt="0"/>
      <dgm:spPr/>
    </dgm:pt>
    <dgm:pt modelId="{12EB91E5-7591-434A-B1CF-FF0024AD10EA}" type="pres">
      <dgm:prSet presAssocID="{46D0A515-EF14-4F7D-AF7B-0E5CA4D9B5E4}" presName="parTx" presStyleLbl="node1" presStyleIdx="0" presStyleCnt="0">
        <dgm:presLayoutVars>
          <dgm:chMax val="0"/>
          <dgm:chPref val="0"/>
          <dgm:bulletEnabled val="1"/>
        </dgm:presLayoutVars>
      </dgm:prSet>
      <dgm:spPr/>
    </dgm:pt>
    <dgm:pt modelId="{2D55D2B7-4B85-4F43-9C5D-0FCE4FAEA002}" type="pres">
      <dgm:prSet presAssocID="{46D0A515-EF14-4F7D-AF7B-0E5CA4D9B5E4}" presName="parSh" presStyleCnt="0"/>
      <dgm:spPr/>
    </dgm:pt>
    <dgm:pt modelId="{6195FB2B-53DF-49C0-9599-CBBC403FF54F}" type="pres">
      <dgm:prSet presAssocID="{46D0A515-EF14-4F7D-AF7B-0E5CA4D9B5E4}" presName="lineNode" presStyleLbl="alignAccFollowNode1" presStyleIdx="15" presStyleCnt="18"/>
      <dgm:spPr/>
    </dgm:pt>
    <dgm:pt modelId="{CC69F2BA-628C-4F70-95E3-D4F4D78466DA}" type="pres">
      <dgm:prSet presAssocID="{46D0A515-EF14-4F7D-AF7B-0E5CA4D9B5E4}" presName="lineArrowNode" presStyleLbl="alignAccFollowNode1" presStyleIdx="16" presStyleCnt="18"/>
      <dgm:spPr/>
    </dgm:pt>
    <dgm:pt modelId="{6A5EB4CC-063E-4265-9D1D-B99480006AB2}" type="pres">
      <dgm:prSet presAssocID="{3C702EC2-0D7D-442D-843E-7D57F22FC1B4}" presName="sibTransNodeCircle" presStyleLbl="alignNode1" presStyleIdx="5" presStyleCnt="6">
        <dgm:presLayoutVars>
          <dgm:chMax val="0"/>
          <dgm:bulletEnabled/>
        </dgm:presLayoutVars>
      </dgm:prSet>
      <dgm:spPr/>
    </dgm:pt>
    <dgm:pt modelId="{CD2BFD66-77D8-4D6D-B9B7-34F0F14F4423}" type="pres">
      <dgm:prSet presAssocID="{3C702EC2-0D7D-442D-843E-7D57F22FC1B4}" presName="spacerBetweenCircleAndCallout" presStyleCnt="0">
        <dgm:presLayoutVars/>
      </dgm:prSet>
      <dgm:spPr/>
    </dgm:pt>
    <dgm:pt modelId="{0E345258-AD7B-43F0-AFD4-250E09DE32C5}" type="pres">
      <dgm:prSet presAssocID="{46D0A515-EF14-4F7D-AF7B-0E5CA4D9B5E4}" presName="nodeText" presStyleLbl="alignAccFollowNode1" presStyleIdx="17" presStyleCnt="18">
        <dgm:presLayoutVars>
          <dgm:bulletEnabled val="1"/>
        </dgm:presLayoutVars>
      </dgm:prSet>
      <dgm:spPr/>
    </dgm:pt>
  </dgm:ptLst>
  <dgm:cxnLst>
    <dgm:cxn modelId="{55CF8C00-0312-4668-8054-0000BF3A400C}" srcId="{666EEB87-0261-464F-B909-AE237B19E83B}" destId="{46D0A515-EF14-4F7D-AF7B-0E5CA4D9B5E4}" srcOrd="5" destOrd="0" parTransId="{E58CB401-7806-46F4-891C-6792BEEC6F2B}" sibTransId="{3C702EC2-0D7D-442D-843E-7D57F22FC1B4}"/>
    <dgm:cxn modelId="{1FB3540E-9015-4A42-8251-7EC73A3E975D}" type="presOf" srcId="{3C702EC2-0D7D-442D-843E-7D57F22FC1B4}" destId="{6A5EB4CC-063E-4265-9D1D-B99480006AB2}" srcOrd="0" destOrd="0" presId="urn:microsoft.com/office/officeart/2016/7/layout/LinearArrowProcessNumbered"/>
    <dgm:cxn modelId="{FCAE5811-8DD9-4E70-A33E-E7891875FEA3}" srcId="{666EEB87-0261-464F-B909-AE237B19E83B}" destId="{3DCF8B40-DC0A-47F1-B894-689AB8DFB130}" srcOrd="4" destOrd="0" parTransId="{8EC79376-C613-4AC0-A8CE-0A749421B786}" sibTransId="{4ED84070-CCAF-4F02-9869-2AF2B6AF3157}"/>
    <dgm:cxn modelId="{396EBA2B-8FC2-4943-B695-85A79ADFAFE0}" srcId="{666EEB87-0261-464F-B909-AE237B19E83B}" destId="{AC056ED1-3938-4C50-89A2-3FAE35CB14F7}" srcOrd="0" destOrd="0" parTransId="{5CF776B6-C2A0-484F-8B8E-206985D462B9}" sibTransId="{989E9CF9-C933-445F-BADB-5B1BE568CD0A}"/>
    <dgm:cxn modelId="{5BC81F40-FAB7-4A17-8EF4-F68E21A93D36}" type="presOf" srcId="{1AFAE720-3786-4E43-8B62-F30E9D9DDC91}" destId="{A5750CFE-5E2E-440E-8F1C-41B18B573CE0}" srcOrd="0" destOrd="0" presId="urn:microsoft.com/office/officeart/2016/7/layout/LinearArrowProcessNumbered"/>
    <dgm:cxn modelId="{F8648A5D-5A5D-4887-B6ED-FC1A69639E7A}" srcId="{666EEB87-0261-464F-B909-AE237B19E83B}" destId="{F2CA483D-2938-42B6-A239-4687BD9E6617}" srcOrd="1" destOrd="0" parTransId="{02180BB0-9717-42B4-8B78-A7154CE7AF93}" sibTransId="{3EDFB531-B6A9-4009-A42E-2D862D53497A}"/>
    <dgm:cxn modelId="{7F710860-370D-4785-8540-287D24C39B12}" type="presOf" srcId="{ECE2E7A9-B586-46D8-8707-54F32C9DCBBC}" destId="{B1B0D558-16BE-4335-824A-8DDA4E66DCD9}" srcOrd="0" destOrd="0" presId="urn:microsoft.com/office/officeart/2016/7/layout/LinearArrowProcessNumbered"/>
    <dgm:cxn modelId="{8111956F-02BD-4AF1-BBF7-61B1E62C747E}" type="presOf" srcId="{3DCF8B40-DC0A-47F1-B894-689AB8DFB130}" destId="{E94CB676-47EE-4FB2-9286-19096B52384F}" srcOrd="0" destOrd="0" presId="urn:microsoft.com/office/officeart/2016/7/layout/LinearArrowProcessNumbered"/>
    <dgm:cxn modelId="{11268C78-3CC5-43C5-AA98-5D1BD2BCB2E5}" type="presOf" srcId="{AC056ED1-3938-4C50-89A2-3FAE35CB14F7}" destId="{2DBF0F2C-B429-433E-8C66-5BCFC6780499}" srcOrd="0" destOrd="0" presId="urn:microsoft.com/office/officeart/2016/7/layout/LinearArrowProcessNumbered"/>
    <dgm:cxn modelId="{636DC35A-16E8-435E-88A7-9A479432BFED}" srcId="{666EEB87-0261-464F-B909-AE237B19E83B}" destId="{360880C7-8CAC-4B77-AD8C-A4072FF42FF8}" srcOrd="3" destOrd="0" parTransId="{E5D93696-51FF-4DA7-8769-C7E24A09E4E8}" sibTransId="{1AFAE720-3786-4E43-8B62-F30E9D9DDC91}"/>
    <dgm:cxn modelId="{1449AE80-0EDE-494D-9515-4A7EC0AB3CF3}" type="presOf" srcId="{360880C7-8CAC-4B77-AD8C-A4072FF42FF8}" destId="{29C57A4F-8E71-45EE-BE53-1BC4968BF709}" srcOrd="0" destOrd="0" presId="urn:microsoft.com/office/officeart/2016/7/layout/LinearArrowProcessNumbered"/>
    <dgm:cxn modelId="{A33B7090-7BE1-4676-8659-666122046967}" type="presOf" srcId="{46D0A515-EF14-4F7D-AF7B-0E5CA4D9B5E4}" destId="{0E345258-AD7B-43F0-AFD4-250E09DE32C5}" srcOrd="0" destOrd="0" presId="urn:microsoft.com/office/officeart/2016/7/layout/LinearArrowProcessNumbered"/>
    <dgm:cxn modelId="{458E459A-2DFD-422E-95E2-A82181C8B971}" type="presOf" srcId="{666EEB87-0261-464F-B909-AE237B19E83B}" destId="{DA52262B-B93F-404F-8176-F89EDE976582}" srcOrd="0" destOrd="0" presId="urn:microsoft.com/office/officeart/2016/7/layout/LinearArrowProcessNumbered"/>
    <dgm:cxn modelId="{81DAB0A9-8ECB-4BEF-A4B2-814A79D79344}" type="presOf" srcId="{F2CA483D-2938-42B6-A239-4687BD9E6617}" destId="{EC6D71A3-938A-4B66-BB5E-435836A6636A}" srcOrd="0" destOrd="0" presId="urn:microsoft.com/office/officeart/2016/7/layout/LinearArrowProcessNumbered"/>
    <dgm:cxn modelId="{5725A4AB-677A-4E09-856F-DB2E14902EEE}" type="presOf" srcId="{3EDFB531-B6A9-4009-A42E-2D862D53497A}" destId="{D6946FC8-7096-480B-B154-F3BE23E1C0E5}" srcOrd="0" destOrd="0" presId="urn:microsoft.com/office/officeart/2016/7/layout/LinearArrowProcessNumbered"/>
    <dgm:cxn modelId="{DAB6C8D7-E7B9-403F-9654-44490A745C2C}" type="presOf" srcId="{989E9CF9-C933-445F-BADB-5B1BE568CD0A}" destId="{CE4198C2-EBD3-40F6-9969-3E664A76F7D1}" srcOrd="0" destOrd="0" presId="urn:microsoft.com/office/officeart/2016/7/layout/LinearArrowProcessNumbered"/>
    <dgm:cxn modelId="{F37D85E7-4503-403F-8805-057008E372F4}" type="presOf" srcId="{4ED84070-CCAF-4F02-9869-2AF2B6AF3157}" destId="{0513EC7D-3960-42B6-99D9-DA9AB27DB098}" srcOrd="0" destOrd="0" presId="urn:microsoft.com/office/officeart/2016/7/layout/LinearArrowProcessNumbered"/>
    <dgm:cxn modelId="{FE0DEDF4-D20A-4C95-A712-982608A9D33C}" srcId="{666EEB87-0261-464F-B909-AE237B19E83B}" destId="{ECE2E7A9-B586-46D8-8707-54F32C9DCBBC}" srcOrd="2" destOrd="0" parTransId="{A908F1E9-2565-4C9F-84A0-B0DF8BD15409}" sibTransId="{8631A0A0-F031-4C9F-96DD-4CCC95438AEC}"/>
    <dgm:cxn modelId="{A350E2FF-A854-41BC-A6B1-859E03D97D7A}" type="presOf" srcId="{8631A0A0-F031-4C9F-96DD-4CCC95438AEC}" destId="{8888438F-DD91-429D-B23E-85637036A911}" srcOrd="0" destOrd="0" presId="urn:microsoft.com/office/officeart/2016/7/layout/LinearArrowProcessNumbered"/>
    <dgm:cxn modelId="{06B05C40-C7DE-48E2-AD5F-D503A4D5AAA2}" type="presParOf" srcId="{DA52262B-B93F-404F-8176-F89EDE976582}" destId="{A5AA9024-4554-416D-93EF-46523B01914D}" srcOrd="0" destOrd="0" presId="urn:microsoft.com/office/officeart/2016/7/layout/LinearArrowProcessNumbered"/>
    <dgm:cxn modelId="{1B348640-5DAC-4848-B801-ADA41E51E29B}" type="presParOf" srcId="{A5AA9024-4554-416D-93EF-46523B01914D}" destId="{7EA78680-EE8B-41FB-BBE5-003651392653}" srcOrd="0" destOrd="0" presId="urn:microsoft.com/office/officeart/2016/7/layout/LinearArrowProcessNumbered"/>
    <dgm:cxn modelId="{2E6BDEC3-9241-44FE-88E4-BB180C05F4F8}" type="presParOf" srcId="{A5AA9024-4554-416D-93EF-46523B01914D}" destId="{18418AB0-B5CA-4FC3-AE64-2387A88A1ACD}" srcOrd="1" destOrd="0" presId="urn:microsoft.com/office/officeart/2016/7/layout/LinearArrowProcessNumbered"/>
    <dgm:cxn modelId="{3859EDE0-0E54-405C-8869-CC1BEB4B1CFE}" type="presParOf" srcId="{18418AB0-B5CA-4FC3-AE64-2387A88A1ACD}" destId="{954DE8A0-800A-49A9-910B-016B32F9AF7C}" srcOrd="0" destOrd="0" presId="urn:microsoft.com/office/officeart/2016/7/layout/LinearArrowProcessNumbered"/>
    <dgm:cxn modelId="{E442B7A2-20A2-4DD6-B4C5-9E541A612EDF}" type="presParOf" srcId="{18418AB0-B5CA-4FC3-AE64-2387A88A1ACD}" destId="{BA9C20B0-CF67-4D54-AA1B-C7FEF041A896}" srcOrd="1" destOrd="0" presId="urn:microsoft.com/office/officeart/2016/7/layout/LinearArrowProcessNumbered"/>
    <dgm:cxn modelId="{52D9E13B-B210-4A4E-B8A9-0DC6F782D39D}" type="presParOf" srcId="{18418AB0-B5CA-4FC3-AE64-2387A88A1ACD}" destId="{CE4198C2-EBD3-40F6-9969-3E664A76F7D1}" srcOrd="2" destOrd="0" presId="urn:microsoft.com/office/officeart/2016/7/layout/LinearArrowProcessNumbered"/>
    <dgm:cxn modelId="{ACAD9EBF-CA89-4615-9B20-B88C7746CEC8}" type="presParOf" srcId="{18418AB0-B5CA-4FC3-AE64-2387A88A1ACD}" destId="{032C3F89-1B69-4969-856E-8C089C946664}" srcOrd="3" destOrd="0" presId="urn:microsoft.com/office/officeart/2016/7/layout/LinearArrowProcessNumbered"/>
    <dgm:cxn modelId="{E725B20F-1B90-48A5-B638-5B6AEFD97AE1}" type="presParOf" srcId="{A5AA9024-4554-416D-93EF-46523B01914D}" destId="{2DBF0F2C-B429-433E-8C66-5BCFC6780499}" srcOrd="2" destOrd="0" presId="urn:microsoft.com/office/officeart/2016/7/layout/LinearArrowProcessNumbered"/>
    <dgm:cxn modelId="{8C49B190-BB72-404F-ADBA-89226995EB64}" type="presParOf" srcId="{DA52262B-B93F-404F-8176-F89EDE976582}" destId="{EE242DFC-20B5-4E9A-A53B-DB65E4294BD8}" srcOrd="1" destOrd="0" presId="urn:microsoft.com/office/officeart/2016/7/layout/LinearArrowProcessNumbered"/>
    <dgm:cxn modelId="{6B049E03-5FD1-460C-B996-797573B6A8C9}" type="presParOf" srcId="{DA52262B-B93F-404F-8176-F89EDE976582}" destId="{E5281895-F266-4EFA-B3BB-A4EE49825FD2}" srcOrd="2" destOrd="0" presId="urn:microsoft.com/office/officeart/2016/7/layout/LinearArrowProcessNumbered"/>
    <dgm:cxn modelId="{37623AD5-219D-406A-AC8E-012D1930D79C}" type="presParOf" srcId="{E5281895-F266-4EFA-B3BB-A4EE49825FD2}" destId="{243E1A3C-E84B-46D9-B223-BA1529E2EC79}" srcOrd="0" destOrd="0" presId="urn:microsoft.com/office/officeart/2016/7/layout/LinearArrowProcessNumbered"/>
    <dgm:cxn modelId="{07D9BE07-7A98-4571-9847-8DCC1AD9A742}" type="presParOf" srcId="{E5281895-F266-4EFA-B3BB-A4EE49825FD2}" destId="{4B19FDAF-4CB0-45BB-AB93-DE24652F1CF6}" srcOrd="1" destOrd="0" presId="urn:microsoft.com/office/officeart/2016/7/layout/LinearArrowProcessNumbered"/>
    <dgm:cxn modelId="{6F0D8F9D-7BDA-4EC9-B848-B79DC122BB3A}" type="presParOf" srcId="{4B19FDAF-4CB0-45BB-AB93-DE24652F1CF6}" destId="{66A6753A-5DC7-422C-80D1-41321A943C3F}" srcOrd="0" destOrd="0" presId="urn:microsoft.com/office/officeart/2016/7/layout/LinearArrowProcessNumbered"/>
    <dgm:cxn modelId="{D18EA6E0-8535-4C24-A5DD-BC2164932CE0}" type="presParOf" srcId="{4B19FDAF-4CB0-45BB-AB93-DE24652F1CF6}" destId="{8932C9FF-398C-4349-BA3F-B1AA708BF034}" srcOrd="1" destOrd="0" presId="urn:microsoft.com/office/officeart/2016/7/layout/LinearArrowProcessNumbered"/>
    <dgm:cxn modelId="{DDF51D2A-4597-4BB4-AEAA-4C3FF203BEC0}" type="presParOf" srcId="{4B19FDAF-4CB0-45BB-AB93-DE24652F1CF6}" destId="{D6946FC8-7096-480B-B154-F3BE23E1C0E5}" srcOrd="2" destOrd="0" presId="urn:microsoft.com/office/officeart/2016/7/layout/LinearArrowProcessNumbered"/>
    <dgm:cxn modelId="{A54AFC7D-A946-4FBF-8290-070C17D5366A}" type="presParOf" srcId="{4B19FDAF-4CB0-45BB-AB93-DE24652F1CF6}" destId="{B5DE0928-0CAC-4D3F-9360-491BCF114861}" srcOrd="3" destOrd="0" presId="urn:microsoft.com/office/officeart/2016/7/layout/LinearArrowProcessNumbered"/>
    <dgm:cxn modelId="{3D0D5C58-F510-4218-B5CF-78A503D86AD2}" type="presParOf" srcId="{E5281895-F266-4EFA-B3BB-A4EE49825FD2}" destId="{EC6D71A3-938A-4B66-BB5E-435836A6636A}" srcOrd="2" destOrd="0" presId="urn:microsoft.com/office/officeart/2016/7/layout/LinearArrowProcessNumbered"/>
    <dgm:cxn modelId="{4C19EC6F-C837-4808-B6C9-4EEC66919EBF}" type="presParOf" srcId="{DA52262B-B93F-404F-8176-F89EDE976582}" destId="{89CBE342-09AF-4C93-854C-A2C310BC33AD}" srcOrd="3" destOrd="0" presId="urn:microsoft.com/office/officeart/2016/7/layout/LinearArrowProcessNumbered"/>
    <dgm:cxn modelId="{435C2ED7-5BB8-4DCA-94F4-12090968DCDF}" type="presParOf" srcId="{DA52262B-B93F-404F-8176-F89EDE976582}" destId="{73FCD8BC-B4F2-4072-9519-E7471DD1ADA8}" srcOrd="4" destOrd="0" presId="urn:microsoft.com/office/officeart/2016/7/layout/LinearArrowProcessNumbered"/>
    <dgm:cxn modelId="{1AB89452-73D1-4EDF-9AD0-16B3FC7C832C}" type="presParOf" srcId="{73FCD8BC-B4F2-4072-9519-E7471DD1ADA8}" destId="{1C2584C7-C9E7-44CE-A897-BF749B16EDE0}" srcOrd="0" destOrd="0" presId="urn:microsoft.com/office/officeart/2016/7/layout/LinearArrowProcessNumbered"/>
    <dgm:cxn modelId="{2CD1AB35-3F74-4A61-B9EC-F02BB6F1E30C}" type="presParOf" srcId="{73FCD8BC-B4F2-4072-9519-E7471DD1ADA8}" destId="{EE8D48BD-F274-495B-936C-B0E49E45CB7A}" srcOrd="1" destOrd="0" presId="urn:microsoft.com/office/officeart/2016/7/layout/LinearArrowProcessNumbered"/>
    <dgm:cxn modelId="{88C31CEB-179B-4158-BFD3-CC22D7EDE00B}" type="presParOf" srcId="{EE8D48BD-F274-495B-936C-B0E49E45CB7A}" destId="{EE73CC3E-6EBD-49AD-A47B-469A5D8E3EEF}" srcOrd="0" destOrd="0" presId="urn:microsoft.com/office/officeart/2016/7/layout/LinearArrowProcessNumbered"/>
    <dgm:cxn modelId="{F698289E-8A91-4D35-9113-2D0DB38450DE}" type="presParOf" srcId="{EE8D48BD-F274-495B-936C-B0E49E45CB7A}" destId="{EC54518B-D4AC-47AF-A623-D32B02F17803}" srcOrd="1" destOrd="0" presId="urn:microsoft.com/office/officeart/2016/7/layout/LinearArrowProcessNumbered"/>
    <dgm:cxn modelId="{BE1124F1-444A-4F8B-B0B0-6863A743E695}" type="presParOf" srcId="{EE8D48BD-F274-495B-936C-B0E49E45CB7A}" destId="{8888438F-DD91-429D-B23E-85637036A911}" srcOrd="2" destOrd="0" presId="urn:microsoft.com/office/officeart/2016/7/layout/LinearArrowProcessNumbered"/>
    <dgm:cxn modelId="{0732ADF3-4E51-41C3-88E5-984A57CD3A3A}" type="presParOf" srcId="{EE8D48BD-F274-495B-936C-B0E49E45CB7A}" destId="{8480EF1F-3DCC-4233-9B16-5E2D04C724BC}" srcOrd="3" destOrd="0" presId="urn:microsoft.com/office/officeart/2016/7/layout/LinearArrowProcessNumbered"/>
    <dgm:cxn modelId="{A1D435C4-CCDE-489E-BF41-E5D95BA8D56A}" type="presParOf" srcId="{73FCD8BC-B4F2-4072-9519-E7471DD1ADA8}" destId="{B1B0D558-16BE-4335-824A-8DDA4E66DCD9}" srcOrd="2" destOrd="0" presId="urn:microsoft.com/office/officeart/2016/7/layout/LinearArrowProcessNumbered"/>
    <dgm:cxn modelId="{59551913-0A0A-4DE2-99FC-41708E98F31B}" type="presParOf" srcId="{DA52262B-B93F-404F-8176-F89EDE976582}" destId="{348F6E3F-7305-4A86-AD39-FFF5F9D53E0E}" srcOrd="5" destOrd="0" presId="urn:microsoft.com/office/officeart/2016/7/layout/LinearArrowProcessNumbered"/>
    <dgm:cxn modelId="{195A64D7-59FE-493C-8E85-01E22994BE80}" type="presParOf" srcId="{DA52262B-B93F-404F-8176-F89EDE976582}" destId="{9D9E1BA8-2C90-43D7-8027-6562E0380A2D}" srcOrd="6" destOrd="0" presId="urn:microsoft.com/office/officeart/2016/7/layout/LinearArrowProcessNumbered"/>
    <dgm:cxn modelId="{952DACD7-FB03-4C91-96D3-A9E6024C2820}" type="presParOf" srcId="{9D9E1BA8-2C90-43D7-8027-6562E0380A2D}" destId="{57390A28-BA9C-4D44-8EE1-D8291B80A58F}" srcOrd="0" destOrd="0" presId="urn:microsoft.com/office/officeart/2016/7/layout/LinearArrowProcessNumbered"/>
    <dgm:cxn modelId="{A4A2ABD4-7883-412A-9B87-E3FCAF387BE2}" type="presParOf" srcId="{9D9E1BA8-2C90-43D7-8027-6562E0380A2D}" destId="{8C4E36B5-74D3-452F-AF3A-9B6E5D4F3FA3}" srcOrd="1" destOrd="0" presId="urn:microsoft.com/office/officeart/2016/7/layout/LinearArrowProcessNumbered"/>
    <dgm:cxn modelId="{3EC27ED3-D99F-4C22-B05C-1C3FE67B398C}" type="presParOf" srcId="{8C4E36B5-74D3-452F-AF3A-9B6E5D4F3FA3}" destId="{9889C71B-A216-4F61-A77E-443EB08D7F4C}" srcOrd="0" destOrd="0" presId="urn:microsoft.com/office/officeart/2016/7/layout/LinearArrowProcessNumbered"/>
    <dgm:cxn modelId="{EE4A4A17-3642-4A53-AAF5-C37DF2F0264C}" type="presParOf" srcId="{8C4E36B5-74D3-452F-AF3A-9B6E5D4F3FA3}" destId="{D3FA830F-D483-4433-8627-899789FE7498}" srcOrd="1" destOrd="0" presId="urn:microsoft.com/office/officeart/2016/7/layout/LinearArrowProcessNumbered"/>
    <dgm:cxn modelId="{A10848C2-0218-467B-AEBC-4970E2F3C2C6}" type="presParOf" srcId="{8C4E36B5-74D3-452F-AF3A-9B6E5D4F3FA3}" destId="{A5750CFE-5E2E-440E-8F1C-41B18B573CE0}" srcOrd="2" destOrd="0" presId="urn:microsoft.com/office/officeart/2016/7/layout/LinearArrowProcessNumbered"/>
    <dgm:cxn modelId="{9151679B-4B95-409B-82A5-BC0689BACD49}" type="presParOf" srcId="{8C4E36B5-74D3-452F-AF3A-9B6E5D4F3FA3}" destId="{6472ABB4-7E1B-49EC-8E57-6E84C96F671F}" srcOrd="3" destOrd="0" presId="urn:microsoft.com/office/officeart/2016/7/layout/LinearArrowProcessNumbered"/>
    <dgm:cxn modelId="{1F8526F4-5511-4710-B83A-282466E7C814}" type="presParOf" srcId="{9D9E1BA8-2C90-43D7-8027-6562E0380A2D}" destId="{29C57A4F-8E71-45EE-BE53-1BC4968BF709}" srcOrd="2" destOrd="0" presId="urn:microsoft.com/office/officeart/2016/7/layout/LinearArrowProcessNumbered"/>
    <dgm:cxn modelId="{CA3C1245-7A49-4F59-AE1C-B3778335FA7E}" type="presParOf" srcId="{DA52262B-B93F-404F-8176-F89EDE976582}" destId="{1ED03831-3A19-4C8D-A1F7-D0B47D009247}" srcOrd="7" destOrd="0" presId="urn:microsoft.com/office/officeart/2016/7/layout/LinearArrowProcessNumbered"/>
    <dgm:cxn modelId="{BA259433-B92A-4F52-AC1B-7EDC760B8522}" type="presParOf" srcId="{DA52262B-B93F-404F-8176-F89EDE976582}" destId="{DD922C60-C2BA-46E9-AC77-FE0C93E5A79C}" srcOrd="8" destOrd="0" presId="urn:microsoft.com/office/officeart/2016/7/layout/LinearArrowProcessNumbered"/>
    <dgm:cxn modelId="{70C8F784-434A-4C03-80CD-C24334ABD6CA}" type="presParOf" srcId="{DD922C60-C2BA-46E9-AC77-FE0C93E5A79C}" destId="{F82CA16D-5DBA-4484-AA51-DBDD66DDB2B7}" srcOrd="0" destOrd="0" presId="urn:microsoft.com/office/officeart/2016/7/layout/LinearArrowProcessNumbered"/>
    <dgm:cxn modelId="{6BB11D77-A2AA-436E-B3FF-7F1B14C6EFC7}" type="presParOf" srcId="{DD922C60-C2BA-46E9-AC77-FE0C93E5A79C}" destId="{5AA09746-3B10-445C-B5CD-7035A81B96D0}" srcOrd="1" destOrd="0" presId="urn:microsoft.com/office/officeart/2016/7/layout/LinearArrowProcessNumbered"/>
    <dgm:cxn modelId="{7FC96C97-4F5D-4D64-A401-6419184F63AF}" type="presParOf" srcId="{5AA09746-3B10-445C-B5CD-7035A81B96D0}" destId="{F342764D-D105-49BB-B175-C9C4A457440F}" srcOrd="0" destOrd="0" presId="urn:microsoft.com/office/officeart/2016/7/layout/LinearArrowProcessNumbered"/>
    <dgm:cxn modelId="{B58643A5-463D-411D-845C-F942AEC26D56}" type="presParOf" srcId="{5AA09746-3B10-445C-B5CD-7035A81B96D0}" destId="{13B998BE-EF4D-4E28-8B78-3E72A4562188}" srcOrd="1" destOrd="0" presId="urn:microsoft.com/office/officeart/2016/7/layout/LinearArrowProcessNumbered"/>
    <dgm:cxn modelId="{79CD446B-7100-481B-9337-B43A6E325639}" type="presParOf" srcId="{5AA09746-3B10-445C-B5CD-7035A81B96D0}" destId="{0513EC7D-3960-42B6-99D9-DA9AB27DB098}" srcOrd="2" destOrd="0" presId="urn:microsoft.com/office/officeart/2016/7/layout/LinearArrowProcessNumbered"/>
    <dgm:cxn modelId="{47D10E0F-1F03-4B4A-BE72-A416AA7BFF16}" type="presParOf" srcId="{5AA09746-3B10-445C-B5CD-7035A81B96D0}" destId="{2F84E480-B3EA-49AD-B50D-D76BE944DB03}" srcOrd="3" destOrd="0" presId="urn:microsoft.com/office/officeart/2016/7/layout/LinearArrowProcessNumbered"/>
    <dgm:cxn modelId="{F9D2F8E8-FD08-4242-9AD2-A3D7258AB41A}" type="presParOf" srcId="{DD922C60-C2BA-46E9-AC77-FE0C93E5A79C}" destId="{E94CB676-47EE-4FB2-9286-19096B52384F}" srcOrd="2" destOrd="0" presId="urn:microsoft.com/office/officeart/2016/7/layout/LinearArrowProcessNumbered"/>
    <dgm:cxn modelId="{A7E32BCF-78A0-4165-B8C3-54976D2C531A}" type="presParOf" srcId="{DA52262B-B93F-404F-8176-F89EDE976582}" destId="{641F89B1-E0EE-4538-8ADD-C447E03A8D8F}" srcOrd="9" destOrd="0" presId="urn:microsoft.com/office/officeart/2016/7/layout/LinearArrowProcessNumbered"/>
    <dgm:cxn modelId="{95F2C79B-63EC-460F-9BC4-6215994008DC}" type="presParOf" srcId="{DA52262B-B93F-404F-8176-F89EDE976582}" destId="{73287D86-5632-4B44-9ACB-9BCB888A059E}" srcOrd="10" destOrd="0" presId="urn:microsoft.com/office/officeart/2016/7/layout/LinearArrowProcessNumbered"/>
    <dgm:cxn modelId="{E3AB1D89-EEB9-4F91-B352-18BC629D72E6}" type="presParOf" srcId="{73287D86-5632-4B44-9ACB-9BCB888A059E}" destId="{12EB91E5-7591-434A-B1CF-FF0024AD10EA}" srcOrd="0" destOrd="0" presId="urn:microsoft.com/office/officeart/2016/7/layout/LinearArrowProcessNumbered"/>
    <dgm:cxn modelId="{AA6FBBEA-50E9-4F2B-9657-D24F9F2AC067}" type="presParOf" srcId="{73287D86-5632-4B44-9ACB-9BCB888A059E}" destId="{2D55D2B7-4B85-4F43-9C5D-0FCE4FAEA002}" srcOrd="1" destOrd="0" presId="urn:microsoft.com/office/officeart/2016/7/layout/LinearArrowProcessNumbered"/>
    <dgm:cxn modelId="{8D4A47D2-AD04-4E7F-88FE-22BAA30E6B60}" type="presParOf" srcId="{2D55D2B7-4B85-4F43-9C5D-0FCE4FAEA002}" destId="{6195FB2B-53DF-49C0-9599-CBBC403FF54F}" srcOrd="0" destOrd="0" presId="urn:microsoft.com/office/officeart/2016/7/layout/LinearArrowProcessNumbered"/>
    <dgm:cxn modelId="{DF71FBAE-29C8-4C50-A259-92B6285F6F76}" type="presParOf" srcId="{2D55D2B7-4B85-4F43-9C5D-0FCE4FAEA002}" destId="{CC69F2BA-628C-4F70-95E3-D4F4D78466DA}" srcOrd="1" destOrd="0" presId="urn:microsoft.com/office/officeart/2016/7/layout/LinearArrowProcessNumbered"/>
    <dgm:cxn modelId="{95D215BD-9036-4B47-8584-6E864651A196}" type="presParOf" srcId="{2D55D2B7-4B85-4F43-9C5D-0FCE4FAEA002}" destId="{6A5EB4CC-063E-4265-9D1D-B99480006AB2}" srcOrd="2" destOrd="0" presId="urn:microsoft.com/office/officeart/2016/7/layout/LinearArrowProcessNumbered"/>
    <dgm:cxn modelId="{BC1C84FE-15BE-4BEE-BE26-466DF348F40F}" type="presParOf" srcId="{2D55D2B7-4B85-4F43-9C5D-0FCE4FAEA002}" destId="{CD2BFD66-77D8-4D6D-B9B7-34F0F14F4423}" srcOrd="3" destOrd="0" presId="urn:microsoft.com/office/officeart/2016/7/layout/LinearArrowProcessNumbered"/>
    <dgm:cxn modelId="{E8EBFA50-D3EF-4302-8FA2-70E305BB8738}" type="presParOf" srcId="{73287D86-5632-4B44-9ACB-9BCB888A059E}" destId="{0E345258-AD7B-43F0-AFD4-250E09DE32C5}"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DE8A0-800A-49A9-910B-016B32F9AF7C}">
      <dsp:nvSpPr>
        <dsp:cNvPr id="0" name=""/>
        <dsp:cNvSpPr/>
      </dsp:nvSpPr>
      <dsp:spPr>
        <a:xfrm>
          <a:off x="786118" y="858341"/>
          <a:ext cx="625227" cy="7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BA9C20B0-CF67-4D54-AA1B-C7FEF041A896}">
      <dsp:nvSpPr>
        <dsp:cNvPr id="0" name=""/>
        <dsp:cNvSpPr/>
      </dsp:nvSpPr>
      <dsp:spPr>
        <a:xfrm>
          <a:off x="1448859" y="805858"/>
          <a:ext cx="71901" cy="135048"/>
        </a:xfrm>
        <a:prstGeom prst="chevron">
          <a:avLst>
            <a:gd name="adj" fmla="val 90000"/>
          </a:avLst>
        </a:prstGeom>
        <a:solidFill>
          <a:schemeClr val="accent2">
            <a:tint val="40000"/>
            <a:alpha val="90000"/>
            <a:hueOff val="295637"/>
            <a:satOff val="-258"/>
            <a:lumOff val="0"/>
            <a:alphaOff val="0"/>
          </a:schemeClr>
        </a:solidFill>
        <a:ln w="25400" cap="flat" cmpd="sng" algn="ctr">
          <a:solidFill>
            <a:schemeClr val="accent2">
              <a:tint val="40000"/>
              <a:alpha val="90000"/>
              <a:hueOff val="295637"/>
              <a:satOff val="-258"/>
              <a:lumOff val="0"/>
              <a:alphaOff val="0"/>
            </a:schemeClr>
          </a:solidFill>
          <a:prstDash val="solid"/>
          <a:miter/>
        </a:ln>
        <a:effectLst/>
      </dsp:spPr>
      <dsp:style>
        <a:lnRef idx="2">
          <a:scrgbClr r="0" g="0" b="0"/>
        </a:lnRef>
        <a:fillRef idx="1">
          <a:scrgbClr r="0" g="0" b="0"/>
        </a:fillRef>
        <a:effectRef idx="0">
          <a:scrgbClr r="0" g="0" b="0"/>
        </a:effectRef>
        <a:fontRef idx="minor"/>
      </dsp:style>
    </dsp:sp>
    <dsp:sp modelId="{CE4198C2-EBD3-40F6-9969-3E664A76F7D1}">
      <dsp:nvSpPr>
        <dsp:cNvPr id="0" name=""/>
        <dsp:cNvSpPr/>
      </dsp:nvSpPr>
      <dsp:spPr>
        <a:xfrm>
          <a:off x="415628" y="566041"/>
          <a:ext cx="584673" cy="584673"/>
        </a:xfrm>
        <a:prstGeom prst="ellips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22689" tIns="22689" rIns="22689" bIns="22689" numCol="1" spcCol="1270" anchor="ctr" anchorCtr="0">
          <a:noAutofit/>
        </a:bodyPr>
        <a:lstStyle/>
        <a:p>
          <a:pPr marL="0" lvl="0" indent="0" algn="ctr" defTabSz="1244600">
            <a:lnSpc>
              <a:spcPct val="90000"/>
            </a:lnSpc>
            <a:spcBef>
              <a:spcPct val="0"/>
            </a:spcBef>
            <a:spcAft>
              <a:spcPct val="35000"/>
            </a:spcAft>
            <a:buNone/>
          </a:pPr>
          <a:r>
            <a:rPr lang="en-US" sz="2800" kern="1200"/>
            <a:t>1</a:t>
          </a:r>
        </a:p>
      </dsp:txBody>
      <dsp:txXfrm>
        <a:off x="501251" y="651664"/>
        <a:ext cx="413427" cy="413427"/>
      </dsp:txXfrm>
    </dsp:sp>
    <dsp:sp modelId="{2DBF0F2C-B429-433E-8C66-5BCFC6780499}">
      <dsp:nvSpPr>
        <dsp:cNvPr id="0" name=""/>
        <dsp:cNvSpPr/>
      </dsp:nvSpPr>
      <dsp:spPr>
        <a:xfrm>
          <a:off x="4583" y="1316314"/>
          <a:ext cx="1406762" cy="1965600"/>
        </a:xfrm>
        <a:prstGeom prst="upArrowCallout">
          <a:avLst>
            <a:gd name="adj1" fmla="val 50000"/>
            <a:gd name="adj2" fmla="val 20000"/>
            <a:gd name="adj3" fmla="val 20000"/>
            <a:gd name="adj4" fmla="val 100000"/>
          </a:avLst>
        </a:prstGeom>
        <a:solidFill>
          <a:schemeClr val="accent2">
            <a:tint val="40000"/>
            <a:alpha val="90000"/>
            <a:hueOff val="591273"/>
            <a:satOff val="-515"/>
            <a:lumOff val="-1"/>
            <a:alphaOff val="0"/>
          </a:schemeClr>
        </a:solidFill>
        <a:ln w="25400" cap="flat" cmpd="sng" algn="ctr">
          <a:solidFill>
            <a:schemeClr val="accent2">
              <a:tint val="40000"/>
              <a:alpha val="90000"/>
              <a:hueOff val="591273"/>
              <a:satOff val="-515"/>
              <a:lumOff val="-1"/>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10967" tIns="165100" rIns="110967" bIns="165100" numCol="1" spcCol="1270" anchor="t" anchorCtr="0">
          <a:noAutofit/>
        </a:bodyPr>
        <a:lstStyle/>
        <a:p>
          <a:pPr marL="0" lvl="0" indent="0" algn="ctr" defTabSz="622300">
            <a:lnSpc>
              <a:spcPct val="90000"/>
            </a:lnSpc>
            <a:spcBef>
              <a:spcPct val="0"/>
            </a:spcBef>
            <a:spcAft>
              <a:spcPct val="35000"/>
            </a:spcAft>
            <a:buNone/>
          </a:pPr>
          <a:r>
            <a:rPr lang="en-US" sz="1400" kern="1200"/>
            <a:t>Projection of both networks in coordinate system of the area of analysis</a:t>
          </a:r>
        </a:p>
      </dsp:txBody>
      <dsp:txXfrm>
        <a:off x="4583" y="1597666"/>
        <a:ext cx="1406762" cy="1684248"/>
      </dsp:txXfrm>
    </dsp:sp>
    <dsp:sp modelId="{66A6753A-5DC7-422C-80D1-41321A943C3F}">
      <dsp:nvSpPr>
        <dsp:cNvPr id="0" name=""/>
        <dsp:cNvSpPr/>
      </dsp:nvSpPr>
      <dsp:spPr>
        <a:xfrm>
          <a:off x="1567653" y="858341"/>
          <a:ext cx="1406762" cy="71"/>
        </a:xfrm>
        <a:prstGeom prst="rect">
          <a:avLst/>
        </a:prstGeom>
        <a:solidFill>
          <a:schemeClr val="accent2">
            <a:tint val="40000"/>
            <a:alpha val="90000"/>
            <a:hueOff val="886910"/>
            <a:satOff val="-773"/>
            <a:lumOff val="-1"/>
            <a:alphaOff val="0"/>
          </a:schemeClr>
        </a:solidFill>
        <a:ln w="25400" cap="flat" cmpd="sng" algn="ctr">
          <a:solidFill>
            <a:schemeClr val="accent2">
              <a:tint val="40000"/>
              <a:alpha val="90000"/>
              <a:hueOff val="886910"/>
              <a:satOff val="-773"/>
              <a:lumOff val="-1"/>
              <a:alphaOff val="0"/>
            </a:schemeClr>
          </a:solidFill>
          <a:prstDash val="solid"/>
          <a:miter/>
        </a:ln>
        <a:effectLst/>
      </dsp:spPr>
      <dsp:style>
        <a:lnRef idx="2">
          <a:scrgbClr r="0" g="0" b="0"/>
        </a:lnRef>
        <a:fillRef idx="1">
          <a:scrgbClr r="0" g="0" b="0"/>
        </a:fillRef>
        <a:effectRef idx="0">
          <a:scrgbClr r="0" g="0" b="0"/>
        </a:effectRef>
        <a:fontRef idx="minor"/>
      </dsp:style>
    </dsp:sp>
    <dsp:sp modelId="{8932C9FF-398C-4349-BA3F-B1AA708BF034}">
      <dsp:nvSpPr>
        <dsp:cNvPr id="0" name=""/>
        <dsp:cNvSpPr/>
      </dsp:nvSpPr>
      <dsp:spPr>
        <a:xfrm>
          <a:off x="3011928" y="805858"/>
          <a:ext cx="71901" cy="135049"/>
        </a:xfrm>
        <a:prstGeom prst="chevron">
          <a:avLst>
            <a:gd name="adj" fmla="val 90000"/>
          </a:avLst>
        </a:prstGeom>
        <a:solidFill>
          <a:schemeClr val="accent2">
            <a:tint val="40000"/>
            <a:alpha val="90000"/>
            <a:hueOff val="1182546"/>
            <a:satOff val="-1030"/>
            <a:lumOff val="-1"/>
            <a:alphaOff val="0"/>
          </a:schemeClr>
        </a:solidFill>
        <a:ln w="25400" cap="flat" cmpd="sng" algn="ctr">
          <a:solidFill>
            <a:schemeClr val="accent2">
              <a:tint val="40000"/>
              <a:alpha val="90000"/>
              <a:hueOff val="1182546"/>
              <a:satOff val="-1030"/>
              <a:lumOff val="-1"/>
              <a:alphaOff val="0"/>
            </a:schemeClr>
          </a:solidFill>
          <a:prstDash val="solid"/>
          <a:miter/>
        </a:ln>
        <a:effectLst/>
      </dsp:spPr>
      <dsp:style>
        <a:lnRef idx="2">
          <a:scrgbClr r="0" g="0" b="0"/>
        </a:lnRef>
        <a:fillRef idx="1">
          <a:scrgbClr r="0" g="0" b="0"/>
        </a:fillRef>
        <a:effectRef idx="0">
          <a:scrgbClr r="0" g="0" b="0"/>
        </a:effectRef>
        <a:fontRef idx="minor"/>
      </dsp:style>
    </dsp:sp>
    <dsp:sp modelId="{D6946FC8-7096-480B-B154-F3BE23E1C0E5}">
      <dsp:nvSpPr>
        <dsp:cNvPr id="0" name=""/>
        <dsp:cNvSpPr/>
      </dsp:nvSpPr>
      <dsp:spPr>
        <a:xfrm>
          <a:off x="1978697" y="566040"/>
          <a:ext cx="584673" cy="584673"/>
        </a:xfrm>
        <a:prstGeom prst="ellipse">
          <a:avLst/>
        </a:prstGeom>
        <a:solidFill>
          <a:schemeClr val="accent2">
            <a:hueOff val="936304"/>
            <a:satOff val="-1168"/>
            <a:lumOff val="275"/>
            <a:alphaOff val="0"/>
          </a:schemeClr>
        </a:solidFill>
        <a:ln w="25400" cap="flat" cmpd="sng" algn="ctr">
          <a:solidFill>
            <a:schemeClr val="accent2">
              <a:hueOff val="936304"/>
              <a:satOff val="-1168"/>
              <a:lumOff val="275"/>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22689" tIns="22689" rIns="22689" bIns="22689" numCol="1" spcCol="1270" anchor="ctr" anchorCtr="0">
          <a:noAutofit/>
        </a:bodyPr>
        <a:lstStyle/>
        <a:p>
          <a:pPr marL="0" lvl="0" indent="0" algn="ctr" defTabSz="1244600">
            <a:lnSpc>
              <a:spcPct val="90000"/>
            </a:lnSpc>
            <a:spcBef>
              <a:spcPct val="0"/>
            </a:spcBef>
            <a:spcAft>
              <a:spcPct val="35000"/>
            </a:spcAft>
            <a:buNone/>
          </a:pPr>
          <a:r>
            <a:rPr lang="en-US" sz="2800" kern="1200"/>
            <a:t>2</a:t>
          </a:r>
        </a:p>
      </dsp:txBody>
      <dsp:txXfrm>
        <a:off x="2064320" y="651663"/>
        <a:ext cx="413427" cy="413427"/>
      </dsp:txXfrm>
    </dsp:sp>
    <dsp:sp modelId="{EC6D71A3-938A-4B66-BB5E-435836A6636A}">
      <dsp:nvSpPr>
        <dsp:cNvPr id="0" name=""/>
        <dsp:cNvSpPr/>
      </dsp:nvSpPr>
      <dsp:spPr>
        <a:xfrm>
          <a:off x="1567653" y="1316314"/>
          <a:ext cx="1406762" cy="1965600"/>
        </a:xfrm>
        <a:prstGeom prst="upArrowCallout">
          <a:avLst>
            <a:gd name="adj1" fmla="val 50000"/>
            <a:gd name="adj2" fmla="val 20000"/>
            <a:gd name="adj3" fmla="val 20000"/>
            <a:gd name="adj4" fmla="val 100000"/>
          </a:avLst>
        </a:prstGeom>
        <a:solidFill>
          <a:schemeClr val="accent2">
            <a:tint val="40000"/>
            <a:alpha val="90000"/>
            <a:hueOff val="1478183"/>
            <a:satOff val="-1288"/>
            <a:lumOff val="-2"/>
            <a:alphaOff val="0"/>
          </a:schemeClr>
        </a:solidFill>
        <a:ln w="25400" cap="flat" cmpd="sng" algn="ctr">
          <a:solidFill>
            <a:schemeClr val="accent2">
              <a:tint val="40000"/>
              <a:alpha val="90000"/>
              <a:hueOff val="1478183"/>
              <a:satOff val="-1288"/>
              <a:lumOff val="-2"/>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10967" tIns="165100" rIns="110967" bIns="165100" numCol="1" spcCol="1270" anchor="t" anchorCtr="0">
          <a:noAutofit/>
        </a:bodyPr>
        <a:lstStyle/>
        <a:p>
          <a:pPr marL="0" lvl="0" indent="0" algn="ctr" defTabSz="622300">
            <a:lnSpc>
              <a:spcPct val="90000"/>
            </a:lnSpc>
            <a:spcBef>
              <a:spcPct val="0"/>
            </a:spcBef>
            <a:spcAft>
              <a:spcPct val="35000"/>
            </a:spcAft>
            <a:buNone/>
          </a:pPr>
          <a:r>
            <a:rPr lang="en-US" sz="1400" kern="1200" dirty="0"/>
            <a:t>Creation of a 10m buffer zone around OSM network and Official network</a:t>
          </a:r>
        </a:p>
      </dsp:txBody>
      <dsp:txXfrm>
        <a:off x="1567653" y="1597666"/>
        <a:ext cx="1406762" cy="1684248"/>
      </dsp:txXfrm>
    </dsp:sp>
    <dsp:sp modelId="{EE73CC3E-6EBD-49AD-A47B-469A5D8E3EEF}">
      <dsp:nvSpPr>
        <dsp:cNvPr id="0" name=""/>
        <dsp:cNvSpPr/>
      </dsp:nvSpPr>
      <dsp:spPr>
        <a:xfrm>
          <a:off x="3130722" y="858341"/>
          <a:ext cx="1406762" cy="72"/>
        </a:xfrm>
        <a:prstGeom prst="rect">
          <a:avLst/>
        </a:prstGeom>
        <a:solidFill>
          <a:schemeClr val="accent2">
            <a:tint val="40000"/>
            <a:alpha val="90000"/>
            <a:hueOff val="1773819"/>
            <a:satOff val="-1545"/>
            <a:lumOff val="-2"/>
            <a:alphaOff val="0"/>
          </a:schemeClr>
        </a:solidFill>
        <a:ln w="25400" cap="flat" cmpd="sng" algn="ctr">
          <a:solidFill>
            <a:schemeClr val="accent2">
              <a:tint val="40000"/>
              <a:alpha val="90000"/>
              <a:hueOff val="1773819"/>
              <a:satOff val="-1545"/>
              <a:lumOff val="-2"/>
              <a:alphaOff val="0"/>
            </a:schemeClr>
          </a:solidFill>
          <a:prstDash val="solid"/>
          <a:miter/>
        </a:ln>
        <a:effectLst/>
      </dsp:spPr>
      <dsp:style>
        <a:lnRef idx="2">
          <a:scrgbClr r="0" g="0" b="0"/>
        </a:lnRef>
        <a:fillRef idx="1">
          <a:scrgbClr r="0" g="0" b="0"/>
        </a:fillRef>
        <a:effectRef idx="0">
          <a:scrgbClr r="0" g="0" b="0"/>
        </a:effectRef>
        <a:fontRef idx="minor"/>
      </dsp:style>
    </dsp:sp>
    <dsp:sp modelId="{EC54518B-D4AC-47AF-A623-D32B02F17803}">
      <dsp:nvSpPr>
        <dsp:cNvPr id="0" name=""/>
        <dsp:cNvSpPr/>
      </dsp:nvSpPr>
      <dsp:spPr>
        <a:xfrm>
          <a:off x="4574998" y="805858"/>
          <a:ext cx="71901" cy="135049"/>
        </a:xfrm>
        <a:prstGeom prst="chevron">
          <a:avLst>
            <a:gd name="adj" fmla="val 90000"/>
          </a:avLst>
        </a:prstGeom>
        <a:solidFill>
          <a:schemeClr val="accent2">
            <a:tint val="40000"/>
            <a:alpha val="90000"/>
            <a:hueOff val="2069456"/>
            <a:satOff val="-1803"/>
            <a:lumOff val="-2"/>
            <a:alphaOff val="0"/>
          </a:schemeClr>
        </a:solidFill>
        <a:ln w="25400" cap="flat" cmpd="sng" algn="ctr">
          <a:solidFill>
            <a:schemeClr val="accent2">
              <a:tint val="40000"/>
              <a:alpha val="90000"/>
              <a:hueOff val="2069456"/>
              <a:satOff val="-1803"/>
              <a:lumOff val="-2"/>
              <a:alphaOff val="0"/>
            </a:schemeClr>
          </a:solidFill>
          <a:prstDash val="solid"/>
          <a:miter/>
        </a:ln>
        <a:effectLst/>
      </dsp:spPr>
      <dsp:style>
        <a:lnRef idx="2">
          <a:scrgbClr r="0" g="0" b="0"/>
        </a:lnRef>
        <a:fillRef idx="1">
          <a:scrgbClr r="0" g="0" b="0"/>
        </a:fillRef>
        <a:effectRef idx="0">
          <a:scrgbClr r="0" g="0" b="0"/>
        </a:effectRef>
        <a:fontRef idx="minor"/>
      </dsp:style>
    </dsp:sp>
    <dsp:sp modelId="{8888438F-DD91-429D-B23E-85637036A911}">
      <dsp:nvSpPr>
        <dsp:cNvPr id="0" name=""/>
        <dsp:cNvSpPr/>
      </dsp:nvSpPr>
      <dsp:spPr>
        <a:xfrm>
          <a:off x="3541766" y="566040"/>
          <a:ext cx="584673" cy="584673"/>
        </a:xfrm>
        <a:prstGeom prst="ellipse">
          <a:avLst/>
        </a:prstGeom>
        <a:solidFill>
          <a:schemeClr val="accent2">
            <a:hueOff val="1872608"/>
            <a:satOff val="-2336"/>
            <a:lumOff val="549"/>
            <a:alphaOff val="0"/>
          </a:schemeClr>
        </a:solidFill>
        <a:ln w="25400" cap="flat" cmpd="sng" algn="ctr">
          <a:solidFill>
            <a:schemeClr val="accent2">
              <a:hueOff val="1872608"/>
              <a:satOff val="-2336"/>
              <a:lumOff val="549"/>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22689" tIns="22689" rIns="22689" bIns="22689" numCol="1" spcCol="1270" anchor="ctr" anchorCtr="0">
          <a:noAutofit/>
        </a:bodyPr>
        <a:lstStyle/>
        <a:p>
          <a:pPr marL="0" lvl="0" indent="0" algn="ctr" defTabSz="1244600">
            <a:lnSpc>
              <a:spcPct val="90000"/>
            </a:lnSpc>
            <a:spcBef>
              <a:spcPct val="0"/>
            </a:spcBef>
            <a:spcAft>
              <a:spcPct val="35000"/>
            </a:spcAft>
            <a:buNone/>
          </a:pPr>
          <a:r>
            <a:rPr lang="en-US" sz="2800" kern="1200"/>
            <a:t>3</a:t>
          </a:r>
        </a:p>
      </dsp:txBody>
      <dsp:txXfrm>
        <a:off x="3627389" y="651663"/>
        <a:ext cx="413427" cy="413427"/>
      </dsp:txXfrm>
    </dsp:sp>
    <dsp:sp modelId="{B1B0D558-16BE-4335-824A-8DDA4E66DCD9}">
      <dsp:nvSpPr>
        <dsp:cNvPr id="0" name=""/>
        <dsp:cNvSpPr/>
      </dsp:nvSpPr>
      <dsp:spPr>
        <a:xfrm>
          <a:off x="3141019" y="1316314"/>
          <a:ext cx="1406762" cy="1965600"/>
        </a:xfrm>
        <a:prstGeom prst="upArrowCallout">
          <a:avLst>
            <a:gd name="adj1" fmla="val 50000"/>
            <a:gd name="adj2" fmla="val 20000"/>
            <a:gd name="adj3" fmla="val 20000"/>
            <a:gd name="adj4" fmla="val 100000"/>
          </a:avLst>
        </a:prstGeom>
        <a:solidFill>
          <a:schemeClr val="accent2">
            <a:tint val="40000"/>
            <a:alpha val="90000"/>
            <a:hueOff val="2365092"/>
            <a:satOff val="-2060"/>
            <a:lumOff val="-3"/>
            <a:alphaOff val="0"/>
          </a:schemeClr>
        </a:solidFill>
        <a:ln w="25400" cap="flat" cmpd="sng" algn="ctr">
          <a:solidFill>
            <a:schemeClr val="accent2">
              <a:tint val="40000"/>
              <a:alpha val="90000"/>
              <a:hueOff val="2365092"/>
              <a:satOff val="-2060"/>
              <a:lumOff val="-3"/>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10967" tIns="165100" rIns="110967" bIns="165100" numCol="1" spcCol="1270" anchor="t" anchorCtr="0">
          <a:noAutofit/>
        </a:bodyPr>
        <a:lstStyle/>
        <a:p>
          <a:pPr marL="0" lvl="0" indent="0" algn="ctr" defTabSz="622300">
            <a:lnSpc>
              <a:spcPct val="90000"/>
            </a:lnSpc>
            <a:spcBef>
              <a:spcPct val="0"/>
            </a:spcBef>
            <a:spcAft>
              <a:spcPct val="35000"/>
            </a:spcAft>
            <a:buNone/>
          </a:pPr>
          <a:r>
            <a:rPr lang="en-US" sz="1400" kern="1200"/>
            <a:t>Spatial overlays between networks </a:t>
          </a:r>
        </a:p>
      </dsp:txBody>
      <dsp:txXfrm>
        <a:off x="3141019" y="1597666"/>
        <a:ext cx="1406762" cy="1684248"/>
      </dsp:txXfrm>
    </dsp:sp>
    <dsp:sp modelId="{9889C71B-A216-4F61-A77E-443EB08D7F4C}">
      <dsp:nvSpPr>
        <dsp:cNvPr id="0" name=""/>
        <dsp:cNvSpPr/>
      </dsp:nvSpPr>
      <dsp:spPr>
        <a:xfrm>
          <a:off x="4693791" y="858341"/>
          <a:ext cx="1406762" cy="72"/>
        </a:xfrm>
        <a:prstGeom prst="rect">
          <a:avLst/>
        </a:prstGeom>
        <a:solidFill>
          <a:schemeClr val="accent2">
            <a:tint val="40000"/>
            <a:alpha val="90000"/>
            <a:hueOff val="2660729"/>
            <a:satOff val="-2318"/>
            <a:lumOff val="-3"/>
            <a:alphaOff val="0"/>
          </a:schemeClr>
        </a:solidFill>
        <a:ln w="25400" cap="flat" cmpd="sng" algn="ctr">
          <a:solidFill>
            <a:schemeClr val="accent2">
              <a:tint val="40000"/>
              <a:alpha val="90000"/>
              <a:hueOff val="2660729"/>
              <a:satOff val="-2318"/>
              <a:lumOff val="-3"/>
              <a:alphaOff val="0"/>
            </a:schemeClr>
          </a:solidFill>
          <a:prstDash val="solid"/>
          <a:miter/>
        </a:ln>
        <a:effectLst/>
      </dsp:spPr>
      <dsp:style>
        <a:lnRef idx="2">
          <a:scrgbClr r="0" g="0" b="0"/>
        </a:lnRef>
        <a:fillRef idx="1">
          <a:scrgbClr r="0" g="0" b="0"/>
        </a:fillRef>
        <a:effectRef idx="0">
          <a:scrgbClr r="0" g="0" b="0"/>
        </a:effectRef>
        <a:fontRef idx="minor"/>
      </dsp:style>
    </dsp:sp>
    <dsp:sp modelId="{D3FA830F-D483-4433-8627-899789FE7498}">
      <dsp:nvSpPr>
        <dsp:cNvPr id="0" name=""/>
        <dsp:cNvSpPr/>
      </dsp:nvSpPr>
      <dsp:spPr>
        <a:xfrm>
          <a:off x="6138067" y="805858"/>
          <a:ext cx="71901" cy="135049"/>
        </a:xfrm>
        <a:prstGeom prst="chevron">
          <a:avLst>
            <a:gd name="adj" fmla="val 90000"/>
          </a:avLst>
        </a:prstGeom>
        <a:solidFill>
          <a:schemeClr val="accent2">
            <a:tint val="40000"/>
            <a:alpha val="90000"/>
            <a:hueOff val="2956365"/>
            <a:satOff val="-2575"/>
            <a:lumOff val="-4"/>
            <a:alphaOff val="0"/>
          </a:schemeClr>
        </a:solidFill>
        <a:ln w="25400" cap="flat" cmpd="sng" algn="ctr">
          <a:solidFill>
            <a:schemeClr val="accent2">
              <a:tint val="40000"/>
              <a:alpha val="90000"/>
              <a:hueOff val="2956365"/>
              <a:satOff val="-2575"/>
              <a:lumOff val="-4"/>
              <a:alphaOff val="0"/>
            </a:schemeClr>
          </a:solidFill>
          <a:prstDash val="solid"/>
          <a:miter/>
        </a:ln>
        <a:effectLst/>
      </dsp:spPr>
      <dsp:style>
        <a:lnRef idx="2">
          <a:scrgbClr r="0" g="0" b="0"/>
        </a:lnRef>
        <a:fillRef idx="1">
          <a:scrgbClr r="0" g="0" b="0"/>
        </a:fillRef>
        <a:effectRef idx="0">
          <a:scrgbClr r="0" g="0" b="0"/>
        </a:effectRef>
        <a:fontRef idx="minor"/>
      </dsp:style>
    </dsp:sp>
    <dsp:sp modelId="{A5750CFE-5E2E-440E-8F1C-41B18B573CE0}">
      <dsp:nvSpPr>
        <dsp:cNvPr id="0" name=""/>
        <dsp:cNvSpPr/>
      </dsp:nvSpPr>
      <dsp:spPr>
        <a:xfrm>
          <a:off x="5104836" y="566040"/>
          <a:ext cx="584673" cy="584673"/>
        </a:xfrm>
        <a:prstGeom prst="ellipse">
          <a:avLst/>
        </a:prstGeom>
        <a:solidFill>
          <a:schemeClr val="accent2">
            <a:hueOff val="2808911"/>
            <a:satOff val="-3503"/>
            <a:lumOff val="824"/>
            <a:alphaOff val="0"/>
          </a:schemeClr>
        </a:solidFill>
        <a:ln w="25400" cap="flat" cmpd="sng" algn="ctr">
          <a:solidFill>
            <a:schemeClr val="accent2">
              <a:hueOff val="2808911"/>
              <a:satOff val="-3503"/>
              <a:lumOff val="824"/>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22689" tIns="22689" rIns="22689" bIns="22689" numCol="1" spcCol="1270" anchor="ctr" anchorCtr="0">
          <a:noAutofit/>
        </a:bodyPr>
        <a:lstStyle/>
        <a:p>
          <a:pPr marL="0" lvl="0" indent="0" algn="ctr" defTabSz="1244600">
            <a:lnSpc>
              <a:spcPct val="90000"/>
            </a:lnSpc>
            <a:spcBef>
              <a:spcPct val="0"/>
            </a:spcBef>
            <a:spcAft>
              <a:spcPct val="35000"/>
            </a:spcAft>
            <a:buNone/>
          </a:pPr>
          <a:r>
            <a:rPr lang="en-GB" sz="2800" kern="1200"/>
            <a:t>4</a:t>
          </a:r>
        </a:p>
      </dsp:txBody>
      <dsp:txXfrm>
        <a:off x="5190459" y="651663"/>
        <a:ext cx="413427" cy="413427"/>
      </dsp:txXfrm>
    </dsp:sp>
    <dsp:sp modelId="{29C57A4F-8E71-45EE-BE53-1BC4968BF709}">
      <dsp:nvSpPr>
        <dsp:cNvPr id="0" name=""/>
        <dsp:cNvSpPr/>
      </dsp:nvSpPr>
      <dsp:spPr>
        <a:xfrm>
          <a:off x="4693791" y="1316314"/>
          <a:ext cx="1406762" cy="1965600"/>
        </a:xfrm>
        <a:prstGeom prst="upArrowCallout">
          <a:avLst>
            <a:gd name="adj1" fmla="val 50000"/>
            <a:gd name="adj2" fmla="val 20000"/>
            <a:gd name="adj3" fmla="val 20000"/>
            <a:gd name="adj4" fmla="val 100000"/>
          </a:avLst>
        </a:prstGeom>
        <a:solidFill>
          <a:schemeClr val="accent2">
            <a:tint val="40000"/>
            <a:alpha val="90000"/>
            <a:hueOff val="3252002"/>
            <a:satOff val="-2833"/>
            <a:lumOff val="-4"/>
            <a:alphaOff val="0"/>
          </a:schemeClr>
        </a:solidFill>
        <a:ln w="25400" cap="flat" cmpd="sng" algn="ctr">
          <a:solidFill>
            <a:schemeClr val="accent2">
              <a:tint val="40000"/>
              <a:alpha val="90000"/>
              <a:hueOff val="3252002"/>
              <a:satOff val="-2833"/>
              <a:lumOff val="-4"/>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10967" tIns="165100" rIns="110967" bIns="165100" numCol="1" spcCol="1270" anchor="t" anchorCtr="0">
          <a:noAutofit/>
        </a:bodyPr>
        <a:lstStyle/>
        <a:p>
          <a:pPr marL="0" lvl="0" indent="0" algn="ctr" defTabSz="622300">
            <a:lnSpc>
              <a:spcPct val="90000"/>
            </a:lnSpc>
            <a:spcBef>
              <a:spcPct val="0"/>
            </a:spcBef>
            <a:spcAft>
              <a:spcPct val="35000"/>
            </a:spcAft>
            <a:buNone/>
          </a:pPr>
          <a:r>
            <a:rPr lang="en-US" sz="1400" kern="1200"/>
            <a:t>Automated creation of OSM network not in official, Official network not in OSM</a:t>
          </a:r>
        </a:p>
      </dsp:txBody>
      <dsp:txXfrm>
        <a:off x="4693791" y="1597666"/>
        <a:ext cx="1406762" cy="1684248"/>
      </dsp:txXfrm>
    </dsp:sp>
    <dsp:sp modelId="{F342764D-D105-49BB-B175-C9C4A457440F}">
      <dsp:nvSpPr>
        <dsp:cNvPr id="0" name=""/>
        <dsp:cNvSpPr/>
      </dsp:nvSpPr>
      <dsp:spPr>
        <a:xfrm>
          <a:off x="6256860" y="858341"/>
          <a:ext cx="1406762" cy="72"/>
        </a:xfrm>
        <a:prstGeom prst="rect">
          <a:avLst/>
        </a:prstGeom>
        <a:solidFill>
          <a:schemeClr val="accent2">
            <a:tint val="40000"/>
            <a:alpha val="90000"/>
            <a:hueOff val="3547638"/>
            <a:satOff val="-3090"/>
            <a:lumOff val="-4"/>
            <a:alphaOff val="0"/>
          </a:schemeClr>
        </a:solidFill>
        <a:ln w="25400" cap="flat" cmpd="sng" algn="ctr">
          <a:solidFill>
            <a:schemeClr val="accent2">
              <a:tint val="40000"/>
              <a:alpha val="90000"/>
              <a:hueOff val="3547638"/>
              <a:satOff val="-3090"/>
              <a:lumOff val="-4"/>
              <a:alphaOff val="0"/>
            </a:schemeClr>
          </a:solidFill>
          <a:prstDash val="solid"/>
          <a:miter/>
        </a:ln>
        <a:effectLst/>
      </dsp:spPr>
      <dsp:style>
        <a:lnRef idx="2">
          <a:scrgbClr r="0" g="0" b="0"/>
        </a:lnRef>
        <a:fillRef idx="1">
          <a:scrgbClr r="0" g="0" b="0"/>
        </a:fillRef>
        <a:effectRef idx="0">
          <a:scrgbClr r="0" g="0" b="0"/>
        </a:effectRef>
        <a:fontRef idx="minor"/>
      </dsp:style>
    </dsp:sp>
    <dsp:sp modelId="{13B998BE-EF4D-4E28-8B78-3E72A4562188}">
      <dsp:nvSpPr>
        <dsp:cNvPr id="0" name=""/>
        <dsp:cNvSpPr/>
      </dsp:nvSpPr>
      <dsp:spPr>
        <a:xfrm>
          <a:off x="7701136" y="805858"/>
          <a:ext cx="71901" cy="135049"/>
        </a:xfrm>
        <a:prstGeom prst="chevron">
          <a:avLst>
            <a:gd name="adj" fmla="val 90000"/>
          </a:avLst>
        </a:prstGeom>
        <a:solidFill>
          <a:schemeClr val="accent2">
            <a:tint val="40000"/>
            <a:alpha val="90000"/>
            <a:hueOff val="3843275"/>
            <a:satOff val="-3348"/>
            <a:lumOff val="-5"/>
            <a:alphaOff val="0"/>
          </a:schemeClr>
        </a:solidFill>
        <a:ln w="25400" cap="flat" cmpd="sng" algn="ctr">
          <a:solidFill>
            <a:schemeClr val="accent2">
              <a:tint val="40000"/>
              <a:alpha val="90000"/>
              <a:hueOff val="3843275"/>
              <a:satOff val="-3348"/>
              <a:lumOff val="-5"/>
              <a:alphaOff val="0"/>
            </a:schemeClr>
          </a:solidFill>
          <a:prstDash val="solid"/>
          <a:miter/>
        </a:ln>
        <a:effectLst/>
      </dsp:spPr>
      <dsp:style>
        <a:lnRef idx="2">
          <a:scrgbClr r="0" g="0" b="0"/>
        </a:lnRef>
        <a:fillRef idx="1">
          <a:scrgbClr r="0" g="0" b="0"/>
        </a:fillRef>
        <a:effectRef idx="0">
          <a:scrgbClr r="0" g="0" b="0"/>
        </a:effectRef>
        <a:fontRef idx="minor"/>
      </dsp:style>
    </dsp:sp>
    <dsp:sp modelId="{0513EC7D-3960-42B6-99D9-DA9AB27DB098}">
      <dsp:nvSpPr>
        <dsp:cNvPr id="0" name=""/>
        <dsp:cNvSpPr/>
      </dsp:nvSpPr>
      <dsp:spPr>
        <a:xfrm>
          <a:off x="6667905" y="566040"/>
          <a:ext cx="584673" cy="584673"/>
        </a:xfrm>
        <a:prstGeom prst="ellipse">
          <a:avLst/>
        </a:prstGeom>
        <a:solidFill>
          <a:schemeClr val="accent2">
            <a:hueOff val="3745215"/>
            <a:satOff val="-4671"/>
            <a:lumOff val="1098"/>
            <a:alphaOff val="0"/>
          </a:schemeClr>
        </a:solidFill>
        <a:ln w="25400" cap="flat" cmpd="sng" algn="ctr">
          <a:solidFill>
            <a:schemeClr val="accent2">
              <a:hueOff val="3745215"/>
              <a:satOff val="-4671"/>
              <a:lumOff val="1098"/>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22689" tIns="22689" rIns="22689" bIns="22689" numCol="1" spcCol="1270" anchor="ctr" anchorCtr="0">
          <a:noAutofit/>
        </a:bodyPr>
        <a:lstStyle/>
        <a:p>
          <a:pPr marL="0" lvl="0" indent="0" algn="ctr" defTabSz="1244600">
            <a:lnSpc>
              <a:spcPct val="90000"/>
            </a:lnSpc>
            <a:spcBef>
              <a:spcPct val="0"/>
            </a:spcBef>
            <a:spcAft>
              <a:spcPct val="35000"/>
            </a:spcAft>
            <a:buNone/>
          </a:pPr>
          <a:r>
            <a:rPr lang="en-US" sz="2800" kern="1200"/>
            <a:t>5</a:t>
          </a:r>
        </a:p>
      </dsp:txBody>
      <dsp:txXfrm>
        <a:off x="6753528" y="651663"/>
        <a:ext cx="413427" cy="413427"/>
      </dsp:txXfrm>
    </dsp:sp>
    <dsp:sp modelId="{E94CB676-47EE-4FB2-9286-19096B52384F}">
      <dsp:nvSpPr>
        <dsp:cNvPr id="0" name=""/>
        <dsp:cNvSpPr/>
      </dsp:nvSpPr>
      <dsp:spPr>
        <a:xfrm>
          <a:off x="6256860" y="1316314"/>
          <a:ext cx="1406762" cy="1965600"/>
        </a:xfrm>
        <a:prstGeom prst="upArrowCallout">
          <a:avLst>
            <a:gd name="adj1" fmla="val 50000"/>
            <a:gd name="adj2" fmla="val 20000"/>
            <a:gd name="adj3" fmla="val 20000"/>
            <a:gd name="adj4" fmla="val 100000"/>
          </a:avLst>
        </a:prstGeom>
        <a:solidFill>
          <a:schemeClr val="accent2">
            <a:tint val="40000"/>
            <a:alpha val="90000"/>
            <a:hueOff val="4138911"/>
            <a:satOff val="-3605"/>
            <a:lumOff val="-5"/>
            <a:alphaOff val="0"/>
          </a:schemeClr>
        </a:solidFill>
        <a:ln w="25400" cap="flat" cmpd="sng" algn="ctr">
          <a:solidFill>
            <a:schemeClr val="accent2">
              <a:tint val="40000"/>
              <a:alpha val="90000"/>
              <a:hueOff val="4138911"/>
              <a:satOff val="-3605"/>
              <a:lumOff val="-5"/>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10967" tIns="165100" rIns="110967" bIns="165100" numCol="1" spcCol="1270" anchor="t" anchorCtr="0">
          <a:noAutofit/>
        </a:bodyPr>
        <a:lstStyle/>
        <a:p>
          <a:pPr marL="0" lvl="0" indent="0" algn="ctr" defTabSz="622300">
            <a:lnSpc>
              <a:spcPct val="90000"/>
            </a:lnSpc>
            <a:spcBef>
              <a:spcPct val="0"/>
            </a:spcBef>
            <a:spcAft>
              <a:spcPct val="35000"/>
            </a:spcAft>
            <a:buNone/>
          </a:pPr>
          <a:r>
            <a:rPr lang="en-US" sz="1400" kern="1200"/>
            <a:t>Correction of the previous networks by checking the angle of intersection</a:t>
          </a:r>
        </a:p>
      </dsp:txBody>
      <dsp:txXfrm>
        <a:off x="6256860" y="1597666"/>
        <a:ext cx="1406762" cy="1684248"/>
      </dsp:txXfrm>
    </dsp:sp>
    <dsp:sp modelId="{6195FB2B-53DF-49C0-9599-CBBC403FF54F}">
      <dsp:nvSpPr>
        <dsp:cNvPr id="0" name=""/>
        <dsp:cNvSpPr/>
      </dsp:nvSpPr>
      <dsp:spPr>
        <a:xfrm>
          <a:off x="7819929" y="858341"/>
          <a:ext cx="703381" cy="72"/>
        </a:xfrm>
        <a:prstGeom prst="rect">
          <a:avLst/>
        </a:prstGeom>
        <a:solidFill>
          <a:schemeClr val="accent2">
            <a:tint val="40000"/>
            <a:alpha val="90000"/>
            <a:hueOff val="4434548"/>
            <a:satOff val="-3863"/>
            <a:lumOff val="-5"/>
            <a:alphaOff val="0"/>
          </a:schemeClr>
        </a:solidFill>
        <a:ln w="25400" cap="flat" cmpd="sng" algn="ctr">
          <a:solidFill>
            <a:schemeClr val="accent2">
              <a:tint val="40000"/>
              <a:alpha val="90000"/>
              <a:hueOff val="4434548"/>
              <a:satOff val="-3863"/>
              <a:lumOff val="-5"/>
              <a:alphaOff val="0"/>
            </a:schemeClr>
          </a:solidFill>
          <a:prstDash val="solid"/>
          <a:miter/>
        </a:ln>
        <a:effectLst/>
      </dsp:spPr>
      <dsp:style>
        <a:lnRef idx="2">
          <a:scrgbClr r="0" g="0" b="0"/>
        </a:lnRef>
        <a:fillRef idx="1">
          <a:scrgbClr r="0" g="0" b="0"/>
        </a:fillRef>
        <a:effectRef idx="0">
          <a:scrgbClr r="0" g="0" b="0"/>
        </a:effectRef>
        <a:fontRef idx="minor"/>
      </dsp:style>
    </dsp:sp>
    <dsp:sp modelId="{6A5EB4CC-063E-4265-9D1D-B99480006AB2}">
      <dsp:nvSpPr>
        <dsp:cNvPr id="0" name=""/>
        <dsp:cNvSpPr/>
      </dsp:nvSpPr>
      <dsp:spPr>
        <a:xfrm>
          <a:off x="8230974" y="566040"/>
          <a:ext cx="584673" cy="584673"/>
        </a:xfrm>
        <a:prstGeom prst="ellipse">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22689" tIns="22689" rIns="22689" bIns="22689" numCol="1" spcCol="1270" anchor="ctr" anchorCtr="0">
          <a:noAutofit/>
        </a:bodyPr>
        <a:lstStyle/>
        <a:p>
          <a:pPr marL="0" lvl="0" indent="0" algn="ctr" defTabSz="1244600">
            <a:lnSpc>
              <a:spcPct val="90000"/>
            </a:lnSpc>
            <a:spcBef>
              <a:spcPct val="0"/>
            </a:spcBef>
            <a:spcAft>
              <a:spcPct val="35000"/>
            </a:spcAft>
            <a:buNone/>
          </a:pPr>
          <a:r>
            <a:rPr lang="en-GB" sz="2800" kern="1200"/>
            <a:t>6</a:t>
          </a:r>
        </a:p>
      </dsp:txBody>
      <dsp:txXfrm>
        <a:off x="8316597" y="651663"/>
        <a:ext cx="413427" cy="413427"/>
      </dsp:txXfrm>
    </dsp:sp>
    <dsp:sp modelId="{0E345258-AD7B-43F0-AFD4-250E09DE32C5}">
      <dsp:nvSpPr>
        <dsp:cNvPr id="0" name=""/>
        <dsp:cNvSpPr/>
      </dsp:nvSpPr>
      <dsp:spPr>
        <a:xfrm>
          <a:off x="7819929" y="1316314"/>
          <a:ext cx="1406762" cy="1965600"/>
        </a:xfrm>
        <a:prstGeom prst="upArrowCallout">
          <a:avLst>
            <a:gd name="adj1" fmla="val 50000"/>
            <a:gd name="adj2" fmla="val 20000"/>
            <a:gd name="adj3" fmla="val 20000"/>
            <a:gd name="adj4" fmla="val 100000"/>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miter/>
        </a:ln>
        <a:effectLst/>
      </dsp:spPr>
      <dsp:style>
        <a:lnRef idx="2">
          <a:scrgbClr r="0" g="0" b="0"/>
        </a:lnRef>
        <a:fillRef idx="1">
          <a:scrgbClr r="0" g="0" b="0"/>
        </a:fillRef>
        <a:effectRef idx="0">
          <a:scrgbClr r="0" g="0" b="0"/>
        </a:effectRef>
        <a:fontRef idx="minor"/>
      </dsp:style>
      <dsp:txBody>
        <a:bodyPr spcFirstLastPara="0" vert="horz" wrap="square" lIns="110967" tIns="165100" rIns="110967" bIns="165100" numCol="1" spcCol="1270" anchor="t" anchorCtr="0">
          <a:noAutofit/>
        </a:bodyPr>
        <a:lstStyle/>
        <a:p>
          <a:pPr marL="0" lvl="0" indent="0" algn="ctr" defTabSz="622300">
            <a:lnSpc>
              <a:spcPct val="90000"/>
            </a:lnSpc>
            <a:spcBef>
              <a:spcPct val="0"/>
            </a:spcBef>
            <a:spcAft>
              <a:spcPct val="35000"/>
            </a:spcAft>
            <a:buNone/>
          </a:pPr>
          <a:r>
            <a:rPr lang="en-US" sz="1400" kern="1200" dirty="0"/>
            <a:t>URL link addition of Google Street  view per segment </a:t>
          </a:r>
        </a:p>
      </dsp:txBody>
      <dsp:txXfrm>
        <a:off x="7819929" y="1597666"/>
        <a:ext cx="1406762" cy="1684248"/>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C2FC896-7DB2-4219-B7A6-F12EB3DF06CB}" type="datetimeFigureOut">
              <a:rPr lang="en-GB" smtClean="0"/>
              <a:t>14/11/2025</a:t>
            </a:fld>
            <a:endParaRPr lang="en-GB"/>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8129D51-5579-4921-9E29-D3D9CF74A89B}" type="slidenum">
              <a:rPr lang="en-GB" smtClean="0"/>
              <a:t>‹#›</a:t>
            </a:fld>
            <a:endParaRPr lang="en-GB"/>
          </a:p>
        </p:txBody>
      </p:sp>
    </p:spTree>
    <p:extLst>
      <p:ext uri="{BB962C8B-B14F-4D97-AF65-F5344CB8AC3E}">
        <p14:creationId xmlns:p14="http://schemas.microsoft.com/office/powerpoint/2010/main" val="2031234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general structure of the presentation</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2</a:t>
            </a:fld>
            <a:endParaRPr lang="en-GB"/>
          </a:p>
        </p:txBody>
      </p:sp>
    </p:spTree>
    <p:extLst>
      <p:ext uri="{BB962C8B-B14F-4D97-AF65-F5344CB8AC3E}">
        <p14:creationId xmlns:p14="http://schemas.microsoft.com/office/powerpoint/2010/main" val="2713557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an example on how we extract cycle tracks. So the result is that for every specified area we </a:t>
            </a:r>
            <a:r>
              <a:rPr lang="en-US" dirty="0" err="1"/>
              <a:t>we</a:t>
            </a:r>
            <a:r>
              <a:rPr lang="en-US" dirty="0"/>
              <a:t> input, we automatically extract the corresponding cycling infrastructure</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14</a:t>
            </a:fld>
            <a:endParaRPr lang="en-GB"/>
          </a:p>
        </p:txBody>
      </p:sp>
    </p:spTree>
    <p:extLst>
      <p:ext uri="{BB962C8B-B14F-4D97-AF65-F5344CB8AC3E}">
        <p14:creationId xmlns:p14="http://schemas.microsoft.com/office/powerpoint/2010/main" val="1824447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we have the previous version available but in the next months we will publish all </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15</a:t>
            </a:fld>
            <a:endParaRPr lang="en-GB"/>
          </a:p>
        </p:txBody>
      </p:sp>
    </p:spTree>
    <p:extLst>
      <p:ext uri="{BB962C8B-B14F-4D97-AF65-F5344CB8AC3E}">
        <p14:creationId xmlns:p14="http://schemas.microsoft.com/office/powerpoint/2010/main" val="2868829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on the official part of extraction. The first step was to identify all the available datasets across EU Member States. We decided to further analyze 48 of them as they included infra type and a good amount of different quality parameters</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16</a:t>
            </a:fld>
            <a:endParaRPr lang="en-GB"/>
          </a:p>
        </p:txBody>
      </p:sp>
    </p:spTree>
    <p:extLst>
      <p:ext uri="{BB962C8B-B14F-4D97-AF65-F5344CB8AC3E}">
        <p14:creationId xmlns:p14="http://schemas.microsoft.com/office/powerpoint/2010/main" val="2311859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in mind that sometimes in the official dataset cycle tracks and cycle and pedestrian track may be in the same tag from official – so we have to combine them also from the </a:t>
            </a:r>
            <a:r>
              <a:rPr lang="en-US" dirty="0" err="1"/>
              <a:t>osm</a:t>
            </a:r>
            <a:r>
              <a:rPr lang="en-US" dirty="0"/>
              <a:t> side. Also the </a:t>
            </a:r>
            <a:endParaRPr lang="en-GB" dirty="0"/>
          </a:p>
          <a:p>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17</a:t>
            </a:fld>
            <a:endParaRPr lang="en-GB"/>
          </a:p>
        </p:txBody>
      </p:sp>
    </p:spTree>
    <p:extLst>
      <p:ext uri="{BB962C8B-B14F-4D97-AF65-F5344CB8AC3E}">
        <p14:creationId xmlns:p14="http://schemas.microsoft.com/office/powerpoint/2010/main" val="340088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Austria is a good example but there are also instances from other datasets where the matching is very low.</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18</a:t>
            </a:fld>
            <a:endParaRPr lang="en-GB"/>
          </a:p>
        </p:txBody>
      </p:sp>
    </p:spTree>
    <p:extLst>
      <p:ext uri="{BB962C8B-B14F-4D97-AF65-F5344CB8AC3E}">
        <p14:creationId xmlns:p14="http://schemas.microsoft.com/office/powerpoint/2010/main" val="1821808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we used Google for some quick and dirty checks, but you should mention that you're aware that this approach cannot be replicated in improving OSM.</a:t>
            </a:r>
          </a:p>
          <a:p>
            <a:pPr marL="228600" indent="-228600">
              <a:buAutoNum type="arabicParenR"/>
            </a:pPr>
            <a:r>
              <a:rPr lang="en-US" dirty="0"/>
              <a:t>OSM buffer -&gt; Official not in </a:t>
            </a:r>
            <a:r>
              <a:rPr lang="en-US" dirty="0" err="1"/>
              <a:t>osm</a:t>
            </a:r>
            <a:r>
              <a:rPr lang="en-US" dirty="0"/>
              <a:t>, official in </a:t>
            </a:r>
            <a:r>
              <a:rPr lang="en-US" dirty="0" err="1"/>
              <a:t>osm</a:t>
            </a:r>
            <a:r>
              <a:rPr lang="en-US" dirty="0"/>
              <a:t> </a:t>
            </a:r>
          </a:p>
          <a:p>
            <a:pPr marL="228600" indent="-228600">
              <a:buAutoNum type="arabicParenR"/>
            </a:pPr>
            <a:r>
              <a:rPr lang="en-US" dirty="0"/>
              <a:t> Official buffer -&gt; </a:t>
            </a:r>
            <a:r>
              <a:rPr lang="en-US" dirty="0" err="1"/>
              <a:t>Osm</a:t>
            </a:r>
            <a:r>
              <a:rPr lang="en-US" dirty="0"/>
              <a:t> not in official</a:t>
            </a:r>
          </a:p>
          <a:p>
            <a:pPr marL="228600" indent="-228600">
              <a:buAutoNum type="arabicParenR"/>
            </a:pPr>
            <a:r>
              <a:rPr lang="en-US" dirty="0"/>
              <a:t>Angle correction: filter out segments that have an intersection angle more than 40 degrees from the official in </a:t>
            </a:r>
            <a:r>
              <a:rPr lang="en-US" dirty="0" err="1"/>
              <a:t>osm</a:t>
            </a:r>
            <a:r>
              <a:rPr lang="en-US" dirty="0"/>
              <a:t> and pass them to official not in </a:t>
            </a:r>
            <a:r>
              <a:rPr lang="en-US" dirty="0" err="1"/>
              <a:t>osm</a:t>
            </a:r>
            <a:r>
              <a:rPr lang="en-US" dirty="0"/>
              <a:t>. And the corresponding.</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19</a:t>
            </a:fld>
            <a:endParaRPr lang="en-GB"/>
          </a:p>
        </p:txBody>
      </p:sp>
    </p:spTree>
    <p:extLst>
      <p:ext uri="{BB962C8B-B14F-4D97-AF65-F5344CB8AC3E}">
        <p14:creationId xmlns:p14="http://schemas.microsoft.com/office/powerpoint/2010/main" val="74095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OSM buffer -&gt; Official not in </a:t>
            </a:r>
            <a:r>
              <a:rPr lang="en-US" dirty="0" err="1"/>
              <a:t>osm</a:t>
            </a:r>
            <a:r>
              <a:rPr lang="en-US" dirty="0"/>
              <a:t>, official in </a:t>
            </a:r>
            <a:r>
              <a:rPr lang="en-US" dirty="0" err="1"/>
              <a:t>osm</a:t>
            </a:r>
            <a:r>
              <a:rPr lang="en-US" dirty="0"/>
              <a:t> </a:t>
            </a:r>
          </a:p>
          <a:p>
            <a:pPr marL="228600" indent="-228600">
              <a:buAutoNum type="arabicParenR"/>
            </a:pPr>
            <a:r>
              <a:rPr lang="en-US" dirty="0"/>
              <a:t> Official buffer -&gt; </a:t>
            </a:r>
            <a:r>
              <a:rPr lang="en-US" dirty="0" err="1"/>
              <a:t>Osm</a:t>
            </a:r>
            <a:r>
              <a:rPr lang="en-US" dirty="0"/>
              <a:t> not in official</a:t>
            </a:r>
          </a:p>
          <a:p>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20</a:t>
            </a:fld>
            <a:endParaRPr lang="en-GB"/>
          </a:p>
        </p:txBody>
      </p:sp>
    </p:spTree>
    <p:extLst>
      <p:ext uri="{BB962C8B-B14F-4D97-AF65-F5344CB8AC3E}">
        <p14:creationId xmlns:p14="http://schemas.microsoft.com/office/powerpoint/2010/main" val="2518021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Angle correction: filter out segments that have an intersection angle more than 40 degrees from the official in </a:t>
            </a:r>
            <a:r>
              <a:rPr lang="en-US" dirty="0" err="1"/>
              <a:t>osm</a:t>
            </a:r>
            <a:r>
              <a:rPr lang="en-US" dirty="0"/>
              <a:t> and pass them to official not in </a:t>
            </a:r>
            <a:r>
              <a:rPr lang="en-US" dirty="0" err="1"/>
              <a:t>osm</a:t>
            </a:r>
            <a:r>
              <a:rPr lang="en-US" dirty="0"/>
              <a:t>. And the corresponding.</a:t>
            </a:r>
            <a:endParaRPr lang="en-GB" dirty="0"/>
          </a:p>
          <a:p>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21</a:t>
            </a:fld>
            <a:endParaRPr lang="en-GB"/>
          </a:p>
        </p:txBody>
      </p:sp>
    </p:spTree>
    <p:extLst>
      <p:ext uri="{BB962C8B-B14F-4D97-AF65-F5344CB8AC3E}">
        <p14:creationId xmlns:p14="http://schemas.microsoft.com/office/powerpoint/2010/main" val="23130694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all these different datasets we analyzed we have produced these 2 </a:t>
            </a:r>
            <a:r>
              <a:rPr lang="en-US" dirty="0" err="1"/>
              <a:t>gpkg</a:t>
            </a:r>
            <a:r>
              <a:rPr lang="en-US" dirty="0"/>
              <a:t> files that we plan to share with the OSM community.</a:t>
            </a:r>
          </a:p>
          <a:p>
            <a:r>
              <a:rPr lang="en-US" dirty="0"/>
              <a:t>Every GPKG has these info and infra type in standardized format and can be used to either complement or find incorrect information</a:t>
            </a:r>
          </a:p>
        </p:txBody>
      </p:sp>
      <p:sp>
        <p:nvSpPr>
          <p:cNvPr id="4" name="Slide Number Placeholder 3"/>
          <p:cNvSpPr>
            <a:spLocks noGrp="1"/>
          </p:cNvSpPr>
          <p:nvPr>
            <p:ph type="sldNum" sz="quarter" idx="5"/>
          </p:nvPr>
        </p:nvSpPr>
        <p:spPr/>
        <p:txBody>
          <a:bodyPr/>
          <a:lstStyle/>
          <a:p>
            <a:fld id="{F8129D51-5579-4921-9E29-D3D9CF74A89B}" type="slidenum">
              <a:rPr lang="en-GB" smtClean="0"/>
              <a:t>22</a:t>
            </a:fld>
            <a:endParaRPr lang="en-GB"/>
          </a:p>
        </p:txBody>
      </p:sp>
    </p:spTree>
    <p:extLst>
      <p:ext uri="{BB962C8B-B14F-4D97-AF65-F5344CB8AC3E}">
        <p14:creationId xmlns:p14="http://schemas.microsoft.com/office/powerpoint/2010/main" val="1270923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 all this analysis we were able to combine the official and </a:t>
            </a:r>
            <a:r>
              <a:rPr lang="en-US" dirty="0" err="1"/>
              <a:t>osm</a:t>
            </a:r>
            <a:r>
              <a:rPr lang="en-US" dirty="0"/>
              <a:t> datasets by identifying the most complete infra type from every source. Results from June – CC project funded from European Commission published the results.</a:t>
            </a:r>
          </a:p>
          <a:p>
            <a:r>
              <a:rPr lang="en-US" dirty="0"/>
              <a:t>Refer to the combinations</a:t>
            </a:r>
          </a:p>
          <a:p>
            <a:r>
              <a:rPr lang="en-US" dirty="0" err="1"/>
              <a:t>official_only_length</a:t>
            </a:r>
            <a:r>
              <a:rPr lang="en-US" dirty="0"/>
              <a:t> Length (in km) of official features that are not within the OSM buffer (represents official-only segments).</a:t>
            </a:r>
          </a:p>
          <a:p>
            <a:r>
              <a:rPr lang="en-US" dirty="0" err="1"/>
              <a:t>common_osm_ratio</a:t>
            </a:r>
            <a:r>
              <a:rPr lang="en-US" dirty="0"/>
              <a:t> Share of OSM network that overlaps with the official network, expressed as a percentage. Computed as </a:t>
            </a:r>
            <a:r>
              <a:rPr lang="en-US" dirty="0" err="1"/>
              <a:t>common_length</a:t>
            </a:r>
            <a:r>
              <a:rPr lang="en-US" dirty="0"/>
              <a:t> / (</a:t>
            </a:r>
            <a:r>
              <a:rPr lang="en-US" dirty="0" err="1"/>
              <a:t>common_length</a:t>
            </a:r>
            <a:r>
              <a:rPr lang="en-US" dirty="0"/>
              <a:t> + </a:t>
            </a:r>
            <a:r>
              <a:rPr lang="en-US" dirty="0" err="1"/>
              <a:t>osm_only_length</a:t>
            </a:r>
            <a:r>
              <a:rPr lang="en-US" dirty="0"/>
              <a:t>). </a:t>
            </a:r>
            <a:r>
              <a:rPr lang="en-US" dirty="0" err="1"/>
              <a:t>common_official_ratio</a:t>
            </a:r>
            <a:r>
              <a:rPr lang="en-US" dirty="0"/>
              <a:t> Share of official network that overlaps with the OSM network, expressed as a percentage. Computed as </a:t>
            </a:r>
            <a:r>
              <a:rPr lang="en-US" dirty="0" err="1"/>
              <a:t>common_length</a:t>
            </a:r>
            <a:r>
              <a:rPr lang="en-US" dirty="0"/>
              <a:t> / (</a:t>
            </a:r>
            <a:r>
              <a:rPr lang="en-US" dirty="0" err="1"/>
              <a:t>common_length</a:t>
            </a:r>
            <a:r>
              <a:rPr lang="en-US" dirty="0"/>
              <a:t> + </a:t>
            </a:r>
            <a:r>
              <a:rPr lang="en-US" dirty="0" err="1"/>
              <a:t>official_only_length</a:t>
            </a:r>
            <a:r>
              <a:rPr lang="en-US" dirty="0"/>
              <a:t>).</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23</a:t>
            </a:fld>
            <a:endParaRPr lang="en-GB"/>
          </a:p>
        </p:txBody>
      </p:sp>
    </p:spTree>
    <p:extLst>
      <p:ext uri="{BB962C8B-B14F-4D97-AF65-F5344CB8AC3E}">
        <p14:creationId xmlns:p14="http://schemas.microsoft.com/office/powerpoint/2010/main" val="3234460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respective official datasets from NECCs. Some are very active some , so we did the same analysis. </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26</a:t>
            </a:fld>
            <a:endParaRPr lang="en-GB"/>
          </a:p>
        </p:txBody>
      </p:sp>
    </p:spTree>
    <p:extLst>
      <p:ext uri="{BB962C8B-B14F-4D97-AF65-F5344CB8AC3E}">
        <p14:creationId xmlns:p14="http://schemas.microsoft.com/office/powerpoint/2010/main" val="1988229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Austria is one of the best but again we can see missing parts from OSM. </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27</a:t>
            </a:fld>
            <a:endParaRPr lang="en-GB"/>
          </a:p>
        </p:txBody>
      </p:sp>
    </p:spTree>
    <p:extLst>
      <p:ext uri="{BB962C8B-B14F-4D97-AF65-F5344CB8AC3E}">
        <p14:creationId xmlns:p14="http://schemas.microsoft.com/office/powerpoint/2010/main" val="1841502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proper way to share the results?</a:t>
            </a:r>
          </a:p>
          <a:p>
            <a:r>
              <a:rPr lang="en-US" dirty="0"/>
              <a:t>Can you think of any other network that can apply similar methodology?</a:t>
            </a:r>
            <a:endParaRPr lang="en-GB" dirty="0"/>
          </a:p>
        </p:txBody>
      </p:sp>
      <p:sp>
        <p:nvSpPr>
          <p:cNvPr id="4" name="Slide Number Placeholder 3"/>
          <p:cNvSpPr>
            <a:spLocks noGrp="1"/>
          </p:cNvSpPr>
          <p:nvPr>
            <p:ph type="sldNum" sz="quarter" idx="5"/>
          </p:nvPr>
        </p:nvSpPr>
        <p:spPr/>
        <p:txBody>
          <a:bodyPr/>
          <a:lstStyle/>
          <a:p>
            <a:fld id="{F8129D51-5579-4921-9E29-D3D9CF74A89B}" type="slidenum">
              <a:rPr lang="en-GB" smtClean="0"/>
              <a:t>29</a:t>
            </a:fld>
            <a:endParaRPr lang="en-GB"/>
          </a:p>
        </p:txBody>
      </p:sp>
    </p:spTree>
    <p:extLst>
      <p:ext uri="{BB962C8B-B14F-4D97-AF65-F5344CB8AC3E}">
        <p14:creationId xmlns:p14="http://schemas.microsoft.com/office/powerpoint/2010/main" val="1399169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7" name="PlaceHolder 2"/>
          <p:cNvSpPr>
            <a:spLocks noGrp="1"/>
          </p:cNvSpPr>
          <p:nvPr>
            <p:ph type="subTitle"/>
          </p:nvPr>
        </p:nvSpPr>
        <p:spPr>
          <a:xfrm>
            <a:off x="504000" y="1326600"/>
            <a:ext cx="9071640" cy="328824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9" name="PlaceHolder 2"/>
          <p:cNvSpPr>
            <a:spLocks noGrp="1"/>
          </p:cNvSpPr>
          <p:nvPr>
            <p:ph type="body"/>
          </p:nvPr>
        </p:nvSpPr>
        <p:spPr>
          <a:xfrm>
            <a:off x="504000" y="1326600"/>
            <a:ext cx="9071640" cy="328824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11" name="PlaceHolder 2"/>
          <p:cNvSpPr>
            <a:spLocks noGrp="1"/>
          </p:cNvSpPr>
          <p:nvPr>
            <p:ph type="body"/>
          </p:nvPr>
        </p:nvSpPr>
        <p:spPr>
          <a:xfrm>
            <a:off x="504000" y="1326600"/>
            <a:ext cx="4426920" cy="328824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12" name="PlaceHolder 3"/>
          <p:cNvSpPr>
            <a:spLocks noGrp="1"/>
          </p:cNvSpPr>
          <p:nvPr>
            <p:ph type="body"/>
          </p:nvPr>
        </p:nvSpPr>
        <p:spPr>
          <a:xfrm>
            <a:off x="5152680" y="1326600"/>
            <a:ext cx="4426920" cy="328824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504000" y="226080"/>
            <a:ext cx="9071640" cy="438840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16" name="PlaceHolder 2"/>
          <p:cNvSpPr>
            <a:spLocks noGrp="1"/>
          </p:cNvSpPr>
          <p:nvPr>
            <p:ph type="body"/>
          </p:nvPr>
        </p:nvSpPr>
        <p:spPr>
          <a:xfrm>
            <a:off x="504000" y="132660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17" name="PlaceHolder 3"/>
          <p:cNvSpPr>
            <a:spLocks noGrp="1"/>
          </p:cNvSpPr>
          <p:nvPr>
            <p:ph type="body"/>
          </p:nvPr>
        </p:nvSpPr>
        <p:spPr>
          <a:xfrm>
            <a:off x="5152680" y="1326600"/>
            <a:ext cx="4426920" cy="328824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18" name="PlaceHolder 4"/>
          <p:cNvSpPr>
            <a:spLocks noGrp="1"/>
          </p:cNvSpPr>
          <p:nvPr>
            <p:ph type="body"/>
          </p:nvPr>
        </p:nvSpPr>
        <p:spPr>
          <a:xfrm>
            <a:off x="504000" y="304416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20" name="PlaceHolder 2"/>
          <p:cNvSpPr>
            <a:spLocks noGrp="1"/>
          </p:cNvSpPr>
          <p:nvPr>
            <p:ph type="body"/>
          </p:nvPr>
        </p:nvSpPr>
        <p:spPr>
          <a:xfrm>
            <a:off x="504000" y="1326600"/>
            <a:ext cx="4426920" cy="328824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21" name="PlaceHolder 3"/>
          <p:cNvSpPr>
            <a:spLocks noGrp="1"/>
          </p:cNvSpPr>
          <p:nvPr>
            <p:ph type="body"/>
          </p:nvPr>
        </p:nvSpPr>
        <p:spPr>
          <a:xfrm>
            <a:off x="5152680" y="132660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22" name="PlaceHolder 4"/>
          <p:cNvSpPr>
            <a:spLocks noGrp="1"/>
          </p:cNvSpPr>
          <p:nvPr>
            <p:ph type="body"/>
          </p:nvPr>
        </p:nvSpPr>
        <p:spPr>
          <a:xfrm>
            <a:off x="5152680" y="304416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24" name="PlaceHolder 2"/>
          <p:cNvSpPr>
            <a:spLocks noGrp="1"/>
          </p:cNvSpPr>
          <p:nvPr>
            <p:ph type="body"/>
          </p:nvPr>
        </p:nvSpPr>
        <p:spPr>
          <a:xfrm>
            <a:off x="504000" y="132660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25" name="PlaceHolder 3"/>
          <p:cNvSpPr>
            <a:spLocks noGrp="1"/>
          </p:cNvSpPr>
          <p:nvPr>
            <p:ph type="body"/>
          </p:nvPr>
        </p:nvSpPr>
        <p:spPr>
          <a:xfrm>
            <a:off x="5152680" y="132660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26" name="PlaceHolder 4"/>
          <p:cNvSpPr>
            <a:spLocks noGrp="1"/>
          </p:cNvSpPr>
          <p:nvPr>
            <p:ph type="body"/>
          </p:nvPr>
        </p:nvSpPr>
        <p:spPr>
          <a:xfrm>
            <a:off x="504000" y="3044160"/>
            <a:ext cx="9071640" cy="156816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28" name="PlaceHolder 2"/>
          <p:cNvSpPr>
            <a:spLocks noGrp="1"/>
          </p:cNvSpPr>
          <p:nvPr>
            <p:ph type="body"/>
          </p:nvPr>
        </p:nvSpPr>
        <p:spPr>
          <a:xfrm>
            <a:off x="504000" y="1326600"/>
            <a:ext cx="907164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29" name="PlaceHolder 3"/>
          <p:cNvSpPr>
            <a:spLocks noGrp="1"/>
          </p:cNvSpPr>
          <p:nvPr>
            <p:ph type="body"/>
          </p:nvPr>
        </p:nvSpPr>
        <p:spPr>
          <a:xfrm>
            <a:off x="504000" y="3044160"/>
            <a:ext cx="9071640" cy="156816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31" name="PlaceHolder 2"/>
          <p:cNvSpPr>
            <a:spLocks noGrp="1"/>
          </p:cNvSpPr>
          <p:nvPr>
            <p:ph type="body"/>
          </p:nvPr>
        </p:nvSpPr>
        <p:spPr>
          <a:xfrm>
            <a:off x="504000" y="132660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32" name="PlaceHolder 3"/>
          <p:cNvSpPr>
            <a:spLocks noGrp="1"/>
          </p:cNvSpPr>
          <p:nvPr>
            <p:ph type="body"/>
          </p:nvPr>
        </p:nvSpPr>
        <p:spPr>
          <a:xfrm>
            <a:off x="5152680" y="132660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33" name="PlaceHolder 4"/>
          <p:cNvSpPr>
            <a:spLocks noGrp="1"/>
          </p:cNvSpPr>
          <p:nvPr>
            <p:ph type="body"/>
          </p:nvPr>
        </p:nvSpPr>
        <p:spPr>
          <a:xfrm>
            <a:off x="504000" y="304416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34" name="PlaceHolder 5"/>
          <p:cNvSpPr>
            <a:spLocks noGrp="1"/>
          </p:cNvSpPr>
          <p:nvPr>
            <p:ph type="body"/>
          </p:nvPr>
        </p:nvSpPr>
        <p:spPr>
          <a:xfrm>
            <a:off x="5152680" y="3044160"/>
            <a:ext cx="4426920" cy="156816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endParaRPr lang="en-GB" sz="4400" b="0" strike="noStrike" spc="-1">
              <a:solidFill>
                <a:srgbClr val="001553"/>
              </a:solidFill>
              <a:latin typeface="Raleway Black"/>
            </a:endParaRPr>
          </a:p>
        </p:txBody>
      </p:sp>
      <p:sp>
        <p:nvSpPr>
          <p:cNvPr id="36" name="PlaceHolder 2"/>
          <p:cNvSpPr>
            <a:spLocks noGrp="1"/>
          </p:cNvSpPr>
          <p:nvPr>
            <p:ph type="body"/>
          </p:nvPr>
        </p:nvSpPr>
        <p:spPr>
          <a:xfrm>
            <a:off x="504000" y="1326600"/>
            <a:ext cx="292068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37" name="PlaceHolder 3"/>
          <p:cNvSpPr>
            <a:spLocks noGrp="1"/>
          </p:cNvSpPr>
          <p:nvPr>
            <p:ph type="body"/>
          </p:nvPr>
        </p:nvSpPr>
        <p:spPr>
          <a:xfrm>
            <a:off x="3571200" y="1326600"/>
            <a:ext cx="292068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38" name="PlaceHolder 4"/>
          <p:cNvSpPr>
            <a:spLocks noGrp="1"/>
          </p:cNvSpPr>
          <p:nvPr>
            <p:ph type="body"/>
          </p:nvPr>
        </p:nvSpPr>
        <p:spPr>
          <a:xfrm>
            <a:off x="6638040" y="1326600"/>
            <a:ext cx="292068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39" name="PlaceHolder 5"/>
          <p:cNvSpPr>
            <a:spLocks noGrp="1"/>
          </p:cNvSpPr>
          <p:nvPr>
            <p:ph type="body"/>
          </p:nvPr>
        </p:nvSpPr>
        <p:spPr>
          <a:xfrm>
            <a:off x="504000" y="3044160"/>
            <a:ext cx="292068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40" name="PlaceHolder 6"/>
          <p:cNvSpPr>
            <a:spLocks noGrp="1"/>
          </p:cNvSpPr>
          <p:nvPr>
            <p:ph type="body"/>
          </p:nvPr>
        </p:nvSpPr>
        <p:spPr>
          <a:xfrm>
            <a:off x="3571200" y="3044160"/>
            <a:ext cx="2920680" cy="1568160"/>
          </a:xfrm>
          <a:prstGeom prst="rect">
            <a:avLst/>
          </a:prstGeom>
        </p:spPr>
        <p:txBody>
          <a:bodyPr lIns="0" tIns="0" rIns="0" bIns="0">
            <a:normAutofit/>
          </a:bodyPr>
          <a:lstStyle/>
          <a:p>
            <a:endParaRPr lang="en-GB" sz="3200" b="0" strike="noStrike" spc="-1">
              <a:solidFill>
                <a:srgbClr val="001553"/>
              </a:solidFill>
              <a:latin typeface="Raleway"/>
            </a:endParaRPr>
          </a:p>
        </p:txBody>
      </p:sp>
      <p:sp>
        <p:nvSpPr>
          <p:cNvPr id="41" name="PlaceHolder 7"/>
          <p:cNvSpPr>
            <a:spLocks noGrp="1"/>
          </p:cNvSpPr>
          <p:nvPr>
            <p:ph type="body"/>
          </p:nvPr>
        </p:nvSpPr>
        <p:spPr>
          <a:xfrm>
            <a:off x="6638040" y="3044160"/>
            <a:ext cx="2920680" cy="1568160"/>
          </a:xfrm>
          <a:prstGeom prst="rect">
            <a:avLst/>
          </a:prstGeom>
        </p:spPr>
        <p:txBody>
          <a:bodyPr lIns="0" tIns="0" rIns="0" bIns="0">
            <a:normAutofit/>
          </a:bodyPr>
          <a:lstStyle/>
          <a:p>
            <a:endParaRPr lang="en-GB" sz="3200" b="0" strike="noStrike" spc="-1">
              <a:solidFill>
                <a:srgbClr val="001553"/>
              </a:solidFill>
              <a:latin typeface="Raleway"/>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1640" cy="946440"/>
          </a:xfrm>
          <a:prstGeom prst="rect">
            <a:avLst/>
          </a:prstGeom>
        </p:spPr>
        <p:txBody>
          <a:bodyPr lIns="0" tIns="0" rIns="0" bIns="0" anchor="ctr">
            <a:noAutofit/>
          </a:bodyPr>
          <a:lstStyle/>
          <a:p>
            <a:pPr algn="ctr"/>
            <a:r>
              <a:rPr lang="en-GB" sz="4400" b="0" strike="noStrike" spc="-1">
                <a:solidFill>
                  <a:srgbClr val="001553"/>
                </a:solidFill>
                <a:latin typeface="Raleway Black"/>
              </a:rPr>
              <a:t>Click to edit the title text format</a:t>
            </a:r>
          </a:p>
        </p:txBody>
      </p:sp>
      <p:sp>
        <p:nvSpPr>
          <p:cNvPr id="7" name="PlaceHolder 2"/>
          <p:cNvSpPr>
            <a:spLocks noGrp="1"/>
          </p:cNvSpPr>
          <p:nvPr>
            <p:ph type="body"/>
          </p:nvPr>
        </p:nvSpPr>
        <p:spPr>
          <a:xfrm>
            <a:off x="504000" y="1326600"/>
            <a:ext cx="9071640" cy="3288240"/>
          </a:xfrm>
          <a:prstGeom prst="rect">
            <a:avLst/>
          </a:prstGeom>
        </p:spPr>
        <p:txBody>
          <a:bodyPr lIns="0" tIns="0" rIns="0" bIns="0">
            <a:normAutofit/>
          </a:bodyPr>
          <a:lstStyle/>
          <a:p>
            <a:pPr marL="432000" indent="-324000">
              <a:spcBef>
                <a:spcPts val="1417"/>
              </a:spcBef>
              <a:buClr>
                <a:srgbClr val="001553"/>
              </a:buClr>
              <a:buSzPct val="45000"/>
              <a:buFont typeface="Wingdings" charset="2"/>
              <a:buChar char=""/>
            </a:pPr>
            <a:r>
              <a:rPr lang="en-GB" sz="3200" b="0" strike="noStrike" spc="-1">
                <a:solidFill>
                  <a:srgbClr val="001553"/>
                </a:solidFill>
                <a:latin typeface="Raleway"/>
              </a:rPr>
              <a:t>Click to edit the outline text format</a:t>
            </a:r>
          </a:p>
          <a:p>
            <a:pPr marL="864000" lvl="1" indent="-324000">
              <a:spcBef>
                <a:spcPts val="1134"/>
              </a:spcBef>
              <a:buClr>
                <a:srgbClr val="001553"/>
              </a:buClr>
              <a:buSzPct val="75000"/>
              <a:buFont typeface="Symbol" charset="2"/>
              <a:buChar char=""/>
            </a:pPr>
            <a:r>
              <a:rPr lang="en-GB" sz="2800" b="0" strike="noStrike" spc="-1">
                <a:solidFill>
                  <a:srgbClr val="001553"/>
                </a:solidFill>
                <a:latin typeface="Raleway"/>
              </a:rPr>
              <a:t>Second Outline Level</a:t>
            </a:r>
          </a:p>
          <a:p>
            <a:pPr marL="1296000" lvl="2" indent="-288000">
              <a:spcBef>
                <a:spcPts val="850"/>
              </a:spcBef>
              <a:buClr>
                <a:srgbClr val="001553"/>
              </a:buClr>
              <a:buSzPct val="45000"/>
              <a:buFont typeface="Wingdings" charset="2"/>
              <a:buChar char=""/>
            </a:pPr>
            <a:r>
              <a:rPr lang="en-GB" sz="2400" b="0" strike="noStrike" spc="-1">
                <a:solidFill>
                  <a:srgbClr val="001553"/>
                </a:solidFill>
                <a:latin typeface="Raleway"/>
              </a:rPr>
              <a:t>Third Outline Level</a:t>
            </a:r>
          </a:p>
          <a:p>
            <a:pPr marL="1728000" lvl="3" indent="-216000">
              <a:spcBef>
                <a:spcPts val="567"/>
              </a:spcBef>
              <a:buClr>
                <a:srgbClr val="001553"/>
              </a:buClr>
              <a:buSzPct val="75000"/>
              <a:buFont typeface="Symbol" charset="2"/>
              <a:buChar char=""/>
            </a:pPr>
            <a:r>
              <a:rPr lang="en-GB" sz="2000" b="0" strike="noStrike" spc="-1">
                <a:solidFill>
                  <a:srgbClr val="001553"/>
                </a:solidFill>
                <a:latin typeface="Raleway"/>
              </a:rPr>
              <a:t>Fourth Outline Level</a:t>
            </a:r>
          </a:p>
          <a:p>
            <a:pPr marL="2160000" lvl="4" indent="-216000">
              <a:spcBef>
                <a:spcPts val="283"/>
              </a:spcBef>
              <a:buClr>
                <a:srgbClr val="001553"/>
              </a:buClr>
              <a:buSzPct val="45000"/>
              <a:buFont typeface="Wingdings" charset="2"/>
              <a:buChar char=""/>
            </a:pPr>
            <a:r>
              <a:rPr lang="en-GB" sz="2000" b="0" strike="noStrike" spc="-1">
                <a:solidFill>
                  <a:srgbClr val="001553"/>
                </a:solidFill>
                <a:latin typeface="Raleway"/>
              </a:rPr>
              <a:t>Fifth Outline Level</a:t>
            </a:r>
          </a:p>
          <a:p>
            <a:pPr marL="2592000" lvl="5" indent="-216000">
              <a:spcBef>
                <a:spcPts val="283"/>
              </a:spcBef>
              <a:buClr>
                <a:srgbClr val="000000"/>
              </a:buClr>
              <a:buSzPct val="45000"/>
              <a:buFont typeface="Wingdings" charset="2"/>
              <a:buChar char=""/>
            </a:pPr>
            <a:r>
              <a:rPr lang="en-GB" sz="2000" b="0" strike="noStrike" spc="-1">
                <a:solidFill>
                  <a:srgbClr val="001553"/>
                </a:solidFill>
                <a:latin typeface="Raleway"/>
              </a:rPr>
              <a:t>Sixth Outline Level</a:t>
            </a:r>
          </a:p>
          <a:p>
            <a:pPr marL="3024000" lvl="6" indent="-216000">
              <a:spcBef>
                <a:spcPts val="283"/>
              </a:spcBef>
              <a:buClr>
                <a:srgbClr val="000000"/>
              </a:buClr>
              <a:buSzPct val="45000"/>
              <a:buFont typeface="Wingdings" charset="2"/>
              <a:buChar char=""/>
            </a:pPr>
            <a:r>
              <a:rPr lang="en-GB" sz="2000" b="0" strike="noStrike" spc="-1">
                <a:solidFill>
                  <a:srgbClr val="001553"/>
                </a:solidFill>
                <a:latin typeface="Raleway"/>
              </a:rPr>
              <a:t>Seventh Outline Level</a:t>
            </a:r>
          </a:p>
        </p:txBody>
      </p:sp>
      <p:sp>
        <p:nvSpPr>
          <p:cNvPr id="2" name="PlaceHolder 3"/>
          <p:cNvSpPr>
            <a:spLocks noGrp="1"/>
          </p:cNvSpPr>
          <p:nvPr>
            <p:ph type="dt"/>
          </p:nvPr>
        </p:nvSpPr>
        <p:spPr>
          <a:xfrm>
            <a:off x="504000" y="5165280"/>
            <a:ext cx="2348280" cy="390600"/>
          </a:xfrm>
          <a:prstGeom prst="rect">
            <a:avLst/>
          </a:prstGeom>
        </p:spPr>
        <p:txBody>
          <a:bodyPr lIns="0" tIns="0" rIns="0" bIns="0">
            <a:noAutofit/>
          </a:bodyPr>
          <a:lstStyle/>
          <a:p>
            <a:r>
              <a:rPr lang="en-GB" sz="1400" b="0" strike="noStrike" spc="-1">
                <a:latin typeface="Times New Roman"/>
              </a:rPr>
              <a:t>&lt;date/time&gt;</a:t>
            </a:r>
          </a:p>
        </p:txBody>
      </p:sp>
      <p:sp>
        <p:nvSpPr>
          <p:cNvPr id="3" name="PlaceHolder 4"/>
          <p:cNvSpPr>
            <a:spLocks noGrp="1"/>
          </p:cNvSpPr>
          <p:nvPr>
            <p:ph type="ftr"/>
          </p:nvPr>
        </p:nvSpPr>
        <p:spPr>
          <a:xfrm>
            <a:off x="3447360" y="5165280"/>
            <a:ext cx="3195000" cy="390600"/>
          </a:xfrm>
          <a:prstGeom prst="rect">
            <a:avLst/>
          </a:prstGeom>
        </p:spPr>
        <p:txBody>
          <a:bodyPr lIns="0" tIns="0" rIns="0" bIns="0">
            <a:noAutofit/>
          </a:bodyPr>
          <a:lstStyle/>
          <a:p>
            <a:pPr algn="ctr"/>
            <a:r>
              <a:rPr lang="en-GB" sz="1400" b="0" strike="noStrike" spc="-1">
                <a:solidFill>
                  <a:srgbClr val="001553"/>
                </a:solidFill>
                <a:latin typeface="Raleway"/>
              </a:rPr>
              <a:t>&lt;footer&gt;</a:t>
            </a:r>
            <a:endParaRPr lang="en-GB" sz="1400" b="0" strike="noStrike" spc="-1">
              <a:latin typeface="Times New Roman"/>
            </a:endParaRPr>
          </a:p>
        </p:txBody>
      </p:sp>
      <p:sp>
        <p:nvSpPr>
          <p:cNvPr id="4" name="PlaceHolder 5"/>
          <p:cNvSpPr>
            <a:spLocks noGrp="1"/>
          </p:cNvSpPr>
          <p:nvPr>
            <p:ph type="sldNum"/>
          </p:nvPr>
        </p:nvSpPr>
        <p:spPr>
          <a:xfrm>
            <a:off x="7227360" y="5165280"/>
            <a:ext cx="2348280" cy="390600"/>
          </a:xfrm>
          <a:prstGeom prst="rect">
            <a:avLst/>
          </a:prstGeom>
        </p:spPr>
        <p:txBody>
          <a:bodyPr lIns="0" tIns="0" rIns="0" bIns="0">
            <a:noAutofit/>
          </a:bodyPr>
          <a:lstStyle/>
          <a:p>
            <a:pPr algn="r"/>
            <a:fld id="{07DC73AD-E874-464F-947F-44749C297346}" type="slidenum">
              <a:rPr lang="en-GB" sz="1400" b="0" strike="noStrike" spc="-1">
                <a:solidFill>
                  <a:srgbClr val="001553"/>
                </a:solidFill>
                <a:latin typeface="Raleway"/>
              </a:rPr>
              <a:t>‹#›</a:t>
            </a:fld>
            <a:r>
              <a:rPr lang="en-GB" sz="1400" b="0" strike="noStrike" spc="-1">
                <a:solidFill>
                  <a:srgbClr val="001553"/>
                </a:solidFill>
                <a:latin typeface="Raleway"/>
              </a:rPr>
              <a:t> (</a:t>
            </a:r>
            <a:fld id="{3D7E333F-1920-4908-9FA5-0E998A7BEBC8}" type="slidecount">
              <a:rPr lang="en-GB" sz="1400" b="0" strike="noStrike" spc="-1">
                <a:solidFill>
                  <a:srgbClr val="001553"/>
                </a:solidFill>
                <a:latin typeface="Raleway"/>
              </a:rPr>
              <a:t>&lt;count&gt;</a:t>
            </a:fld>
            <a:r>
              <a:rPr lang="en-GB" sz="1400" b="0" strike="noStrike" spc="-1">
                <a:solidFill>
                  <a:srgbClr val="001553"/>
                </a:solidFill>
                <a:latin typeface="Raleway"/>
              </a:rPr>
              <a:t>)</a:t>
            </a:r>
            <a:endParaRPr lang="en-GB" sz="1400" b="0" strike="noStrike" spc="-1">
              <a:latin typeface="Times New Roman"/>
            </a:endParaRPr>
          </a:p>
        </p:txBody>
      </p:sp>
      <p:pic>
        <p:nvPicPr>
          <p:cNvPr id="5" name="Picture 4"/>
          <p:cNvPicPr/>
          <p:nvPr/>
        </p:nvPicPr>
        <p:blipFill>
          <a:blip r:embed="rId14"/>
          <a:stretch/>
        </p:blipFill>
        <p:spPr>
          <a:xfrm>
            <a:off x="504000" y="5095800"/>
            <a:ext cx="2520000" cy="46008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github.com/European-Cyclists-Federation/European-Cyclists-Federation.github.io/blob/main/Documents/img/cycle_track.jpg"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github.com/European-Cyclists-Federation/European-Cyclists-Federation.github.io/blob/main/Documents/img/cycle_and_pedestrian_track.jpg"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github.com/European-Cyclists-Federation/European-Cyclists-Federation.github.io/blob/main/Documents/img/cycle_lane.jpg"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github.com/European-Cyclists-Federation/European-Cyclists-Federation.github.io/blob/main/Documents/img/bus_and_cycle_lane.jpg"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github.com/European-Cyclists-Federation/European-Cyclists-Federation.github.io/blob/main/Documents/img/cycle_street.jpg"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github.com/European-Cyclists-Federation/European-Cyclists-Federation.github.io/blob/main/Documents/img/pedestrian_track.jpg"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github.com/European-Cyclists-Federation/European-Cyclists-Federation.github.io/blob/main/Documents/img/limited_access_road.jpg"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CustomShape 1"/>
          <p:cNvSpPr/>
          <p:nvPr/>
        </p:nvSpPr>
        <p:spPr>
          <a:xfrm>
            <a:off x="0" y="0"/>
            <a:ext cx="10080000" cy="5670000"/>
          </a:xfrm>
          <a:prstGeom prst="rect">
            <a:avLst/>
          </a:prstGeom>
          <a:solidFill>
            <a:srgbClr val="001553"/>
          </a:solidFill>
          <a:ln>
            <a:noFill/>
          </a:ln>
        </p:spPr>
        <p:style>
          <a:lnRef idx="0">
            <a:scrgbClr r="0" g="0" b="0"/>
          </a:lnRef>
          <a:fillRef idx="0">
            <a:scrgbClr r="0" g="0" b="0"/>
          </a:fillRef>
          <a:effectRef idx="0">
            <a:scrgbClr r="0" g="0" b="0"/>
          </a:effectRef>
          <a:fontRef idx="minor"/>
        </p:style>
        <p:txBody>
          <a:bodyPr/>
          <a:lstStyle/>
          <a:p>
            <a:endParaRPr lang="en-GB"/>
          </a:p>
        </p:txBody>
      </p:sp>
      <p:pic>
        <p:nvPicPr>
          <p:cNvPr id="43" name="Picture 42"/>
          <p:cNvPicPr/>
          <p:nvPr/>
        </p:nvPicPr>
        <p:blipFill>
          <a:blip r:embed="rId2"/>
          <a:srcRect r="38615" b="43168"/>
          <a:stretch/>
        </p:blipFill>
        <p:spPr>
          <a:xfrm>
            <a:off x="5158440" y="2448000"/>
            <a:ext cx="4921200" cy="3221640"/>
          </a:xfrm>
          <a:prstGeom prst="rect">
            <a:avLst/>
          </a:prstGeom>
          <a:ln>
            <a:noFill/>
          </a:ln>
        </p:spPr>
      </p:pic>
      <p:sp>
        <p:nvSpPr>
          <p:cNvPr id="44" name="CustomShape 2"/>
          <p:cNvSpPr/>
          <p:nvPr/>
        </p:nvSpPr>
        <p:spPr>
          <a:xfrm>
            <a:off x="3672000" y="1172520"/>
            <a:ext cx="5903640" cy="1707480"/>
          </a:xfrm>
          <a:prstGeom prst="rect">
            <a:avLst/>
          </a:prstGeom>
          <a:solidFill>
            <a:srgbClr val="FFFFFF">
              <a:alpha val="80000"/>
            </a:srgbClr>
          </a:solidFill>
          <a:ln>
            <a:noFill/>
          </a:ln>
        </p:spPr>
        <p:style>
          <a:lnRef idx="0">
            <a:scrgbClr r="0" g="0" b="0"/>
          </a:lnRef>
          <a:fillRef idx="0">
            <a:scrgbClr r="0" g="0" b="0"/>
          </a:fillRef>
          <a:effectRef idx="0">
            <a:scrgbClr r="0" g="0" b="0"/>
          </a:effectRef>
          <a:fontRef idx="minor"/>
        </p:style>
        <p:txBody>
          <a:bodyPr/>
          <a:lstStyle/>
          <a:p>
            <a:endParaRPr lang="en-GB"/>
          </a:p>
        </p:txBody>
      </p:sp>
      <p:sp>
        <p:nvSpPr>
          <p:cNvPr id="45" name="TextShape 3"/>
          <p:cNvSpPr txBox="1"/>
          <p:nvPr/>
        </p:nvSpPr>
        <p:spPr>
          <a:xfrm>
            <a:off x="3724006" y="1433160"/>
            <a:ext cx="5727988" cy="1014120"/>
          </a:xfrm>
          <a:prstGeom prst="rect">
            <a:avLst/>
          </a:prstGeom>
          <a:noFill/>
          <a:ln>
            <a:noFill/>
          </a:ln>
        </p:spPr>
        <p:txBody>
          <a:bodyPr lIns="0" tIns="0" rIns="0" bIns="0" anchor="ctr">
            <a:noAutofit/>
          </a:bodyPr>
          <a:lstStyle/>
          <a:p>
            <a:pPr algn="ctr"/>
            <a:r>
              <a:rPr lang="en-US" sz="2800" b="0" strike="noStrike" spc="-1">
                <a:latin typeface="Arial"/>
              </a:rPr>
              <a:t>Complementing</a:t>
            </a:r>
            <a:r>
              <a:rPr lang="en-US" sz="2800" spc="-1">
                <a:latin typeface="Arial"/>
              </a:rPr>
              <a:t> </a:t>
            </a:r>
            <a:r>
              <a:rPr lang="en-US" sz="2800" b="0" strike="noStrike" spc="-1">
                <a:latin typeface="Arial"/>
              </a:rPr>
              <a:t>OSM Cycling Data through Official Datasets</a:t>
            </a:r>
            <a:endParaRPr lang="en-GB" sz="5400" b="0" strike="noStrike" spc="-1">
              <a:latin typeface="Arial"/>
            </a:endParaRPr>
          </a:p>
        </p:txBody>
      </p:sp>
      <p:pic>
        <p:nvPicPr>
          <p:cNvPr id="46" name="Picture 45"/>
          <p:cNvPicPr/>
          <p:nvPr/>
        </p:nvPicPr>
        <p:blipFill>
          <a:blip r:embed="rId3"/>
          <a:stretch/>
        </p:blipFill>
        <p:spPr>
          <a:xfrm>
            <a:off x="504000" y="1172520"/>
            <a:ext cx="3579480" cy="3579480"/>
          </a:xfrm>
          <a:prstGeom prst="rect">
            <a:avLst/>
          </a:prstGeom>
          <a:ln>
            <a:noFill/>
          </a:ln>
        </p:spPr>
      </p:pic>
      <p:sp>
        <p:nvSpPr>
          <p:cNvPr id="47" name="TextShape 4"/>
          <p:cNvSpPr txBox="1"/>
          <p:nvPr/>
        </p:nvSpPr>
        <p:spPr>
          <a:xfrm>
            <a:off x="3600000" y="720000"/>
            <a:ext cx="5976000" cy="358560"/>
          </a:xfrm>
          <a:prstGeom prst="rect">
            <a:avLst/>
          </a:prstGeom>
          <a:noFill/>
          <a:ln>
            <a:noFill/>
          </a:ln>
        </p:spPr>
        <p:txBody>
          <a:bodyPr lIns="90000" tIns="45000" rIns="90000" bIns="45000">
            <a:noAutofit/>
          </a:bodyPr>
          <a:lstStyle/>
          <a:p>
            <a:pPr algn="ctr"/>
            <a:r>
              <a:rPr lang="en-GB" sz="1800" b="0" strike="noStrike" spc="-1">
                <a:solidFill>
                  <a:srgbClr val="F82249"/>
                </a:solidFill>
                <a:latin typeface="Raleway Black"/>
              </a:rPr>
              <a:t>State of the Map Europe 2025</a:t>
            </a:r>
            <a:endParaRPr lang="en-GB" sz="1800" b="0" strike="noStrike" spc="-1">
              <a:latin typeface="Arial"/>
            </a:endParaRPr>
          </a:p>
        </p:txBody>
      </p:sp>
      <p:sp>
        <p:nvSpPr>
          <p:cNvPr id="48" name="TextShape 5"/>
          <p:cNvSpPr txBox="1"/>
          <p:nvPr/>
        </p:nvSpPr>
        <p:spPr>
          <a:xfrm>
            <a:off x="3671640" y="3312000"/>
            <a:ext cx="5904000" cy="1044360"/>
          </a:xfrm>
          <a:prstGeom prst="rect">
            <a:avLst/>
          </a:prstGeom>
          <a:noFill/>
          <a:ln>
            <a:noFill/>
          </a:ln>
        </p:spPr>
        <p:txBody>
          <a:bodyPr lIns="90000" tIns="45000" rIns="90000" bIns="45000">
            <a:noAutofit/>
          </a:bodyPr>
          <a:lstStyle/>
          <a:p>
            <a:pPr>
              <a:lnSpc>
                <a:spcPct val="100000"/>
              </a:lnSpc>
            </a:pPr>
            <a:r>
              <a:rPr lang="en-GB" sz="2400" b="0" strike="noStrike" spc="-1">
                <a:solidFill>
                  <a:srgbClr val="FFFFFF"/>
                </a:solidFill>
                <a:latin typeface="Raleway"/>
              </a:rPr>
              <a:t>Christos Konstantinou</a:t>
            </a:r>
            <a:endParaRPr lang="en-GB" sz="2400" b="0" strike="noStrike" spc="-1">
              <a:latin typeface="Arial"/>
            </a:endParaRPr>
          </a:p>
          <a:p>
            <a:pPr>
              <a:lnSpc>
                <a:spcPct val="100000"/>
              </a:lnSpc>
            </a:pPr>
            <a:r>
              <a:rPr lang="en-GB" sz="2400" b="0" strike="noStrike" spc="-1">
                <a:solidFill>
                  <a:srgbClr val="FFFFFF"/>
                </a:solidFill>
                <a:latin typeface="Raleway"/>
              </a:rPr>
              <a:t>European Cyclists’ Federation</a:t>
            </a:r>
            <a:endParaRPr lang="en-GB" sz="2400" b="0" strike="noStrike" spc="-1">
              <a:latin typeface="Arial"/>
            </a:endParaRPr>
          </a:p>
        </p:txBody>
      </p:sp>
      <p:sp>
        <p:nvSpPr>
          <p:cNvPr id="2" name="Rectangle 1">
            <a:extLst>
              <a:ext uri="{FF2B5EF4-FFF2-40B4-BE49-F238E27FC236}">
                <a16:creationId xmlns:a16="http://schemas.microsoft.com/office/drawing/2014/main" id="{C31E40D0-C620-1792-036A-70575CDD25CC}"/>
              </a:ext>
            </a:extLst>
          </p:cNvPr>
          <p:cNvSpPr>
            <a:spLocks noChangeArrowheads="1"/>
          </p:cNvSpPr>
          <p:nvPr/>
        </p:nvSpPr>
        <p:spPr bwMode="auto">
          <a:xfrm>
            <a:off x="0" y="0"/>
            <a:ext cx="10080625"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 b="1" i="0" u="none" strike="noStrike" cap="none" normalizeH="0" baseline="0">
              <a:ln>
                <a:noFill/>
              </a:ln>
              <a:solidFill>
                <a:srgbClr val="0D0F10"/>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3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Shape 1"/>
          <p:cNvSpPr txBox="1"/>
          <p:nvPr/>
        </p:nvSpPr>
        <p:spPr>
          <a:xfrm>
            <a:off x="504000" y="226080"/>
            <a:ext cx="9071640" cy="946440"/>
          </a:xfrm>
          <a:prstGeom prst="rect">
            <a:avLst/>
          </a:prstGeom>
          <a:noFill/>
          <a:ln>
            <a:noFill/>
          </a:ln>
        </p:spPr>
        <p:txBody>
          <a:bodyPr lIns="0" tIns="0" rIns="0" bIns="0" anchor="ctr">
            <a:noAutofit/>
          </a:bodyPr>
          <a:lstStyle/>
          <a:p>
            <a:pPr algn="ctr"/>
            <a:r>
              <a:rPr lang="en-US" sz="4400" b="0" strike="noStrike" spc="-1">
                <a:solidFill>
                  <a:srgbClr val="001553"/>
                </a:solidFill>
                <a:latin typeface="Raleway Black"/>
              </a:rPr>
              <a:t>General Structure</a:t>
            </a:r>
            <a:endParaRPr lang="en-GB" sz="4400" b="0" strike="noStrike" spc="-1">
              <a:solidFill>
                <a:srgbClr val="001553"/>
              </a:solidFill>
              <a:latin typeface="Raleway Black"/>
            </a:endParaRPr>
          </a:p>
        </p:txBody>
      </p:sp>
      <p:sp>
        <p:nvSpPr>
          <p:cNvPr id="50" name="TextShape 2"/>
          <p:cNvSpPr txBox="1"/>
          <p:nvPr/>
        </p:nvSpPr>
        <p:spPr>
          <a:xfrm>
            <a:off x="504000" y="1326600"/>
            <a:ext cx="9071640" cy="3288240"/>
          </a:xfrm>
          <a:prstGeom prst="rect">
            <a:avLst/>
          </a:prstGeom>
          <a:noFill/>
          <a:ln>
            <a:noFill/>
          </a:ln>
        </p:spPr>
        <p:txBody>
          <a:bodyPr lIns="0" tIns="0" rIns="0" bIns="0" anchor="ctr">
            <a:noAutofit/>
          </a:bodyPr>
          <a:lstStyle/>
          <a:p>
            <a:pPr algn="ctr"/>
            <a:endParaRPr lang="en-GB" sz="3200" b="0" strike="noStrike" spc="-1">
              <a:latin typeface="Arial"/>
            </a:endParaRPr>
          </a:p>
        </p:txBody>
      </p:sp>
      <p:sp>
        <p:nvSpPr>
          <p:cNvPr id="2" name="TextShape 2">
            <a:extLst>
              <a:ext uri="{FF2B5EF4-FFF2-40B4-BE49-F238E27FC236}">
                <a16:creationId xmlns:a16="http://schemas.microsoft.com/office/drawing/2014/main" id="{A8169C99-5CD1-0418-1411-C5221F0079D9}"/>
              </a:ext>
            </a:extLst>
          </p:cNvPr>
          <p:cNvSpPr txBox="1"/>
          <p:nvPr/>
        </p:nvSpPr>
        <p:spPr>
          <a:xfrm>
            <a:off x="656400" y="1405666"/>
            <a:ext cx="9071640" cy="3361574"/>
          </a:xfrm>
          <a:prstGeom prst="rect">
            <a:avLst/>
          </a:prstGeom>
          <a:noFill/>
          <a:ln>
            <a:noFill/>
          </a:ln>
        </p:spPr>
        <p:txBody>
          <a:bodyPr lIns="0" tIns="0" rIns="0" bIns="0">
            <a:normAutofit fontScale="85000" lnSpcReduction="10000"/>
          </a:bodyPr>
          <a:lstStyle/>
          <a:p>
            <a:pPr marL="432000" indent="-324000">
              <a:spcBef>
                <a:spcPts val="1417"/>
              </a:spcBef>
              <a:buClr>
                <a:srgbClr val="001553"/>
              </a:buClr>
              <a:buSzPct val="45000"/>
              <a:buFont typeface="Wingdings" charset="2"/>
              <a:buChar char=""/>
            </a:pPr>
            <a:r>
              <a:rPr lang="en-GB" sz="2400" b="0" strike="noStrike" spc="-1" dirty="0">
                <a:latin typeface="Raleway"/>
              </a:rPr>
              <a:t>Extraction of cycling infrastructure data in a standardized format</a:t>
            </a:r>
          </a:p>
          <a:p>
            <a:pPr marL="864000" lvl="1" indent="-324000">
              <a:spcBef>
                <a:spcPts val="1134"/>
              </a:spcBef>
              <a:buClr>
                <a:srgbClr val="001553"/>
              </a:buClr>
              <a:buSzPct val="75000"/>
              <a:buFont typeface="Symbol" charset="2"/>
              <a:buChar char=""/>
            </a:pPr>
            <a:r>
              <a:rPr lang="en-GB" sz="2400" b="0" strike="noStrike" spc="-1" dirty="0">
                <a:latin typeface="Raleway"/>
              </a:rPr>
              <a:t>From OSM</a:t>
            </a:r>
          </a:p>
          <a:p>
            <a:pPr marL="864000" lvl="1" indent="-324000">
              <a:spcBef>
                <a:spcPts val="1134"/>
              </a:spcBef>
              <a:buClr>
                <a:srgbClr val="001553"/>
              </a:buClr>
              <a:buSzPct val="75000"/>
              <a:buFont typeface="Symbol" charset="2"/>
              <a:buChar char=""/>
            </a:pPr>
            <a:r>
              <a:rPr lang="en-GB" sz="2400" b="0" strike="noStrike" spc="-1" dirty="0">
                <a:latin typeface="Raleway"/>
              </a:rPr>
              <a:t>From official </a:t>
            </a:r>
            <a:r>
              <a:rPr lang="en-GB" sz="2400" spc="-1" dirty="0">
                <a:latin typeface="Raleway"/>
              </a:rPr>
              <a:t>d</a:t>
            </a:r>
            <a:r>
              <a:rPr lang="en-GB" sz="2400" b="0" strike="noStrike" spc="-1" dirty="0">
                <a:latin typeface="Raleway"/>
              </a:rPr>
              <a:t>atasets (</a:t>
            </a:r>
            <a:r>
              <a:rPr lang="en-GB" sz="2400" spc="-1" dirty="0">
                <a:latin typeface="Raleway"/>
              </a:rPr>
              <a:t>Extensive research of official national, regional and local cycling infrastructure datasets in EU Member States)</a:t>
            </a:r>
            <a:endParaRPr lang="en-GB" sz="2400" b="0" strike="noStrike" spc="-1" dirty="0">
              <a:latin typeface="Raleway"/>
            </a:endParaRPr>
          </a:p>
          <a:p>
            <a:pPr marL="432000" indent="-324000">
              <a:spcBef>
                <a:spcPts val="1417"/>
              </a:spcBef>
              <a:buClr>
                <a:srgbClr val="001553"/>
              </a:buClr>
              <a:buSzPct val="45000"/>
              <a:buFont typeface="Wingdings" charset="2"/>
              <a:buChar char=""/>
            </a:pPr>
            <a:r>
              <a:rPr lang="en-GB" sz="2400" b="0" strike="noStrike" spc="-1" dirty="0">
                <a:latin typeface="Raleway"/>
              </a:rPr>
              <a:t>Developing a methodology for comparing datasets</a:t>
            </a:r>
          </a:p>
          <a:p>
            <a:pPr marL="432000" indent="-324000">
              <a:spcBef>
                <a:spcPts val="1417"/>
              </a:spcBef>
              <a:buClr>
                <a:srgbClr val="001553"/>
              </a:buClr>
              <a:buSzPct val="45000"/>
              <a:buFont typeface="Wingdings" charset="2"/>
              <a:buChar char=""/>
            </a:pPr>
            <a:r>
              <a:rPr lang="en-GB" sz="2400" b="0" strike="noStrike" spc="-1" dirty="0">
                <a:latin typeface="Raleway"/>
              </a:rPr>
              <a:t>Results of dataset analysis and comparison</a:t>
            </a:r>
          </a:p>
          <a:p>
            <a:pPr marL="432000" indent="-324000">
              <a:spcBef>
                <a:spcPts val="1417"/>
              </a:spcBef>
              <a:buClr>
                <a:srgbClr val="001553"/>
              </a:buClr>
              <a:buSzPct val="45000"/>
              <a:buFont typeface="Wingdings" charset="2"/>
              <a:buChar char=""/>
            </a:pPr>
            <a:r>
              <a:rPr lang="en-GB" sz="2400" b="0" strike="noStrike" spc="-1" dirty="0">
                <a:latin typeface="Raleway"/>
              </a:rPr>
              <a:t>Use case: </a:t>
            </a:r>
            <a:r>
              <a:rPr lang="en-GB" sz="2400" b="0" strike="noStrike" spc="-1" dirty="0" err="1">
                <a:latin typeface="Raleway"/>
              </a:rPr>
              <a:t>EuroVelo</a:t>
            </a:r>
            <a:endParaRPr lang="en-GB" sz="2400" b="0" strike="noStrike" spc="-1" dirty="0">
              <a:latin typeface="Raleway"/>
            </a:endParaRPr>
          </a:p>
          <a:p>
            <a:pPr marL="432000" indent="-324000">
              <a:spcBef>
                <a:spcPts val="1417"/>
              </a:spcBef>
              <a:buClr>
                <a:srgbClr val="001553"/>
              </a:buClr>
              <a:buSzPct val="45000"/>
              <a:buFont typeface="Wingdings" charset="2"/>
              <a:buChar char=""/>
            </a:pPr>
            <a:r>
              <a:rPr lang="en-GB" sz="2400" spc="-1" dirty="0">
                <a:latin typeface="Raleway"/>
              </a:rPr>
              <a:t>Next steps</a:t>
            </a:r>
            <a:endParaRPr lang="en-GB" sz="2400" b="0" strike="noStrike" spc="-1" dirty="0">
              <a:latin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Shape 1"/>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54" name="TextShape 2"/>
          <p:cNvSpPr txBox="1"/>
          <p:nvPr/>
        </p:nvSpPr>
        <p:spPr>
          <a:xfrm>
            <a:off x="504000" y="1182600"/>
            <a:ext cx="9071640" cy="3569400"/>
          </a:xfrm>
          <a:prstGeom prst="rect">
            <a:avLst/>
          </a:prstGeom>
          <a:noFill/>
          <a:ln>
            <a:noFill/>
          </a:ln>
        </p:spPr>
        <p:txBody>
          <a:bodyPr lIns="0" tIns="0" rIns="0" bIns="0" anchor="t">
            <a:normAutofit fontScale="69500" lnSpcReduction="20000"/>
          </a:bodyPr>
          <a:lstStyle/>
          <a:p>
            <a:pPr marL="107950" algn="ctr">
              <a:spcBef>
                <a:spcPts val="1417"/>
              </a:spcBef>
              <a:buClr>
                <a:srgbClr val="001553"/>
              </a:buClr>
              <a:buSzPct val="45000"/>
            </a:pPr>
            <a:r>
              <a:rPr lang="en-US" sz="2800" b="0" strike="noStrike" spc="-1">
                <a:latin typeface="Raleway"/>
              </a:rPr>
              <a:t>Extraction of cycling infrastructure types</a:t>
            </a:r>
            <a:endParaRPr lang="en-US"/>
          </a:p>
          <a:p>
            <a:pPr marL="565150" indent="-457200">
              <a:spcBef>
                <a:spcPts val="1417"/>
              </a:spcBef>
              <a:buClr>
                <a:srgbClr val="001553"/>
              </a:buClr>
              <a:buSzPct val="45000"/>
              <a:buFont typeface="Arial" panose="020B0604020202020204" pitchFamily="34" charset="0"/>
              <a:buChar char="•"/>
            </a:pPr>
            <a:r>
              <a:rPr lang="en-US" sz="2800" spc="-1">
                <a:latin typeface="Raleway"/>
              </a:rPr>
              <a:t>Cycle tracks</a:t>
            </a:r>
          </a:p>
          <a:p>
            <a:pPr marL="565150" indent="-457200">
              <a:spcBef>
                <a:spcPts val="1417"/>
              </a:spcBef>
              <a:buClr>
                <a:srgbClr val="001553"/>
              </a:buClr>
              <a:buSzPct val="45000"/>
              <a:buFont typeface="Arial" panose="020B0604020202020204" pitchFamily="34" charset="0"/>
              <a:buChar char="•"/>
            </a:pPr>
            <a:r>
              <a:rPr lang="en-US" sz="2800" spc="-1">
                <a:latin typeface="Raleway"/>
              </a:rPr>
              <a:t>Cycle and pedestrian tracks</a:t>
            </a:r>
          </a:p>
          <a:p>
            <a:pPr marL="565150" indent="-457200">
              <a:spcBef>
                <a:spcPts val="1417"/>
              </a:spcBef>
              <a:buClr>
                <a:srgbClr val="001553"/>
              </a:buClr>
              <a:buSzPct val="45000"/>
              <a:buFont typeface="Arial" panose="020B0604020202020204" pitchFamily="34" charset="0"/>
              <a:buChar char="•"/>
            </a:pPr>
            <a:r>
              <a:rPr lang="en-US" sz="2800" strike="noStrike" spc="-1">
                <a:latin typeface="Raleway"/>
              </a:rPr>
              <a:t>Cycle lanes</a:t>
            </a:r>
          </a:p>
          <a:p>
            <a:pPr marL="565150" indent="-457200">
              <a:spcBef>
                <a:spcPts val="1417"/>
              </a:spcBef>
              <a:buClr>
                <a:srgbClr val="001553"/>
              </a:buClr>
              <a:buSzPct val="45000"/>
              <a:buFont typeface="Arial" panose="020B0604020202020204" pitchFamily="34" charset="0"/>
              <a:buChar char="•"/>
            </a:pPr>
            <a:r>
              <a:rPr lang="en-US" sz="2800" spc="-1">
                <a:latin typeface="Raleway"/>
              </a:rPr>
              <a:t>Bus and cycle lanes</a:t>
            </a:r>
          </a:p>
          <a:p>
            <a:pPr marL="565150" indent="-457200">
              <a:spcBef>
                <a:spcPts val="1417"/>
              </a:spcBef>
              <a:buClr>
                <a:srgbClr val="001553"/>
              </a:buClr>
              <a:buSzPct val="45000"/>
              <a:buFont typeface="Arial" panose="020B0604020202020204" pitchFamily="34" charset="0"/>
              <a:buChar char="•"/>
            </a:pPr>
            <a:r>
              <a:rPr lang="en-US" sz="2800" strike="noStrike" spc="-1">
                <a:latin typeface="Raleway"/>
              </a:rPr>
              <a:t>Cycle street</a:t>
            </a:r>
          </a:p>
          <a:p>
            <a:pPr marL="565150" indent="-457200">
              <a:spcBef>
                <a:spcPts val="1417"/>
              </a:spcBef>
              <a:buClr>
                <a:srgbClr val="001553"/>
              </a:buClr>
              <a:buSzPct val="45000"/>
              <a:buFont typeface="Arial" panose="020B0604020202020204" pitchFamily="34" charset="0"/>
              <a:buChar char="•"/>
            </a:pPr>
            <a:r>
              <a:rPr lang="en-US" sz="2800" strike="noStrike" spc="-1">
                <a:latin typeface="Raleway"/>
              </a:rPr>
              <a:t>30 km/h roads</a:t>
            </a:r>
            <a:endParaRPr lang="en-US" sz="2800" spc="-1">
              <a:latin typeface="Raleway"/>
            </a:endParaRPr>
          </a:p>
          <a:p>
            <a:pPr marL="565150" indent="-457200">
              <a:spcBef>
                <a:spcPts val="1417"/>
              </a:spcBef>
              <a:buClr>
                <a:srgbClr val="001553"/>
              </a:buClr>
              <a:buSzPct val="45000"/>
              <a:buFont typeface="Arial" panose="020B0604020202020204" pitchFamily="34" charset="0"/>
              <a:buChar char="•"/>
            </a:pPr>
            <a:r>
              <a:rPr lang="en-US" sz="2800" strike="noStrike" spc="-1">
                <a:latin typeface="Raleway"/>
              </a:rPr>
              <a:t>Specific service roads</a:t>
            </a:r>
          </a:p>
          <a:p>
            <a:pPr marL="565150" indent="-457200">
              <a:spcBef>
                <a:spcPts val="1417"/>
              </a:spcBef>
              <a:buClr>
                <a:srgbClr val="001553"/>
              </a:buClr>
              <a:buSzPct val="45000"/>
              <a:buFont typeface="Arial" panose="020B0604020202020204" pitchFamily="34" charset="0"/>
              <a:buChar char="•"/>
            </a:pPr>
            <a:r>
              <a:rPr lang="en-US" sz="2800" spc="-1">
                <a:latin typeface="Raleway"/>
              </a:rPr>
              <a:t>Contraflow cycling</a:t>
            </a:r>
            <a:endParaRPr lang="en-US" sz="2800" strike="noStrike" spc="-1">
              <a:latin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C3D82-162F-4E8D-6CA3-24DCF3E75F1B}"/>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99CDA84E-8900-1682-6202-93DB0943E938}"/>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54" name="TextShape 2">
            <a:extLst>
              <a:ext uri="{FF2B5EF4-FFF2-40B4-BE49-F238E27FC236}">
                <a16:creationId xmlns:a16="http://schemas.microsoft.com/office/drawing/2014/main" id="{6CEC5705-13BE-24C5-F78D-4CFE05C4A19F}"/>
              </a:ext>
            </a:extLst>
          </p:cNvPr>
          <p:cNvSpPr txBox="1"/>
          <p:nvPr/>
        </p:nvSpPr>
        <p:spPr>
          <a:xfrm>
            <a:off x="504000" y="1182600"/>
            <a:ext cx="9071640" cy="1287135"/>
          </a:xfrm>
          <a:prstGeom prst="rect">
            <a:avLst/>
          </a:prstGeom>
          <a:noFill/>
          <a:ln>
            <a:noFill/>
          </a:ln>
        </p:spPr>
        <p:txBody>
          <a:bodyPr lIns="0" tIns="0" rIns="0" bIns="0">
            <a:normAutofit fontScale="92000" lnSpcReduction="10000"/>
          </a:bodyPr>
          <a:lstStyle/>
          <a:p>
            <a:pPr marL="108000" algn="ctr">
              <a:spcBef>
                <a:spcPts val="1417"/>
              </a:spcBef>
              <a:buClr>
                <a:srgbClr val="001553"/>
              </a:buClr>
              <a:buSzPct val="45000"/>
            </a:pPr>
            <a:r>
              <a:rPr lang="en-US" sz="2800" spc="-1">
                <a:latin typeface="Raleway"/>
              </a:rPr>
              <a:t>Cycle track</a:t>
            </a:r>
          </a:p>
          <a:p>
            <a:pPr marL="108000">
              <a:spcBef>
                <a:spcPts val="1417"/>
              </a:spcBef>
              <a:buClr>
                <a:srgbClr val="001553"/>
              </a:buClr>
              <a:buSzPct val="45000"/>
            </a:pPr>
            <a:r>
              <a:rPr lang="en-US" sz="2000" b="0" i="1" strike="noStrike" spc="-1">
                <a:latin typeface="Raleway"/>
              </a:rPr>
              <a:t>A cycle track is an independent road or part of a road designated for cycles, signposted as such. A cycle track is separated from other roads or other parts of the same road by structural means.</a:t>
            </a:r>
          </a:p>
        </p:txBody>
      </p:sp>
      <p:pic>
        <p:nvPicPr>
          <p:cNvPr id="2" name="Picture 1" descr="A road sign with a bike sign on it&#10;&#10;Description automatically generated">
            <a:hlinkClick r:id="rId2" tgtFrame="&quot;_blank&quot;"/>
            <a:extLst>
              <a:ext uri="{FF2B5EF4-FFF2-40B4-BE49-F238E27FC236}">
                <a16:creationId xmlns:a16="http://schemas.microsoft.com/office/drawing/2014/main" id="{328EA418-54BC-6B4C-D083-9AB6CCFE89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5074" y="2479815"/>
            <a:ext cx="4469492" cy="2513111"/>
          </a:xfrm>
          <a:prstGeom prst="rect">
            <a:avLst/>
          </a:prstGeom>
          <a:noFill/>
          <a:ln>
            <a:noFill/>
          </a:ln>
        </p:spPr>
      </p:pic>
    </p:spTree>
    <p:extLst>
      <p:ext uri="{BB962C8B-B14F-4D97-AF65-F5344CB8AC3E}">
        <p14:creationId xmlns:p14="http://schemas.microsoft.com/office/powerpoint/2010/main" val="445337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073CD-7418-EE3D-B653-BD5B26CEAA80}"/>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079EBD31-1B80-7AB2-86BE-6610AA4D540C}"/>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54" name="TextShape 2">
            <a:extLst>
              <a:ext uri="{FF2B5EF4-FFF2-40B4-BE49-F238E27FC236}">
                <a16:creationId xmlns:a16="http://schemas.microsoft.com/office/drawing/2014/main" id="{BB47D8FD-9846-4845-C83E-24E6EB9F6FFF}"/>
              </a:ext>
            </a:extLst>
          </p:cNvPr>
          <p:cNvSpPr txBox="1"/>
          <p:nvPr/>
        </p:nvSpPr>
        <p:spPr>
          <a:xfrm>
            <a:off x="504000" y="1182601"/>
            <a:ext cx="9071640" cy="1124764"/>
          </a:xfrm>
          <a:prstGeom prst="rect">
            <a:avLst/>
          </a:prstGeom>
          <a:noFill/>
          <a:ln>
            <a:noFill/>
          </a:ln>
        </p:spPr>
        <p:txBody>
          <a:bodyPr lIns="0" tIns="0" rIns="0" bIns="0">
            <a:normAutofit fontScale="84500" lnSpcReduction="20000"/>
          </a:bodyPr>
          <a:lstStyle/>
          <a:p>
            <a:pPr marL="108000" algn="ctr">
              <a:spcBef>
                <a:spcPts val="1417"/>
              </a:spcBef>
              <a:buClr>
                <a:srgbClr val="001553"/>
              </a:buClr>
              <a:buSzPct val="45000"/>
            </a:pPr>
            <a:r>
              <a:rPr lang="en-US" sz="2800" spc="-1">
                <a:latin typeface="Raleway"/>
              </a:rPr>
              <a:t>Cycle and pedestrian track</a:t>
            </a:r>
          </a:p>
          <a:p>
            <a:pPr marL="108000">
              <a:spcBef>
                <a:spcPts val="1417"/>
              </a:spcBef>
              <a:buClr>
                <a:srgbClr val="001553"/>
              </a:buClr>
              <a:buSzPct val="45000"/>
            </a:pPr>
            <a:r>
              <a:rPr lang="en-US" sz="2000" b="0" i="1" strike="noStrike" spc="-1">
                <a:latin typeface="Raleway"/>
              </a:rPr>
              <a:t>A cycle and pedestrian track is an independent road or part of a road designated for cycles and pedestrians sharing the same surface, signposted as such. A cycle and pedestrian track is separated from other roads or other parts of the same road by structural means.</a:t>
            </a:r>
          </a:p>
        </p:txBody>
      </p:sp>
      <p:pic>
        <p:nvPicPr>
          <p:cNvPr id="4" name="Picture 3" descr="A road with a sign on it&#10;&#10;Description automatically generated">
            <a:hlinkClick r:id="rId2" tgtFrame="&quot;_blank&quot;"/>
            <a:extLst>
              <a:ext uri="{FF2B5EF4-FFF2-40B4-BE49-F238E27FC236}">
                <a16:creationId xmlns:a16="http://schemas.microsoft.com/office/drawing/2014/main" id="{6FA5F1CA-BCD8-3632-D468-E5E4795F727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36953" y="2420408"/>
            <a:ext cx="4606718" cy="2590270"/>
          </a:xfrm>
          <a:prstGeom prst="rect">
            <a:avLst/>
          </a:prstGeom>
          <a:noFill/>
          <a:ln>
            <a:noFill/>
          </a:ln>
        </p:spPr>
      </p:pic>
    </p:spTree>
    <p:extLst>
      <p:ext uri="{BB962C8B-B14F-4D97-AF65-F5344CB8AC3E}">
        <p14:creationId xmlns:p14="http://schemas.microsoft.com/office/powerpoint/2010/main" val="2432683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8694B-BEF5-3CC6-0F0C-6D66C3328B0B}"/>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ADB525A8-6815-F82F-B579-C0399D4B8ADE}"/>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54" name="TextShape 2">
            <a:extLst>
              <a:ext uri="{FF2B5EF4-FFF2-40B4-BE49-F238E27FC236}">
                <a16:creationId xmlns:a16="http://schemas.microsoft.com/office/drawing/2014/main" id="{8D8CFFA7-5801-23D7-862F-64B77E4C1289}"/>
              </a:ext>
            </a:extLst>
          </p:cNvPr>
          <p:cNvSpPr txBox="1"/>
          <p:nvPr/>
        </p:nvSpPr>
        <p:spPr>
          <a:xfrm>
            <a:off x="504000" y="1182601"/>
            <a:ext cx="9071640" cy="1124764"/>
          </a:xfrm>
          <a:prstGeom prst="rect">
            <a:avLst/>
          </a:prstGeom>
          <a:noFill/>
          <a:ln>
            <a:noFill/>
          </a:ln>
        </p:spPr>
        <p:txBody>
          <a:bodyPr lIns="0" tIns="0" rIns="0" bIns="0">
            <a:normAutofit fontScale="99500" lnSpcReduction="10000"/>
          </a:bodyPr>
          <a:lstStyle/>
          <a:p>
            <a:pPr marL="108000" algn="ctr">
              <a:spcBef>
                <a:spcPts val="1417"/>
              </a:spcBef>
              <a:buClr>
                <a:srgbClr val="001553"/>
              </a:buClr>
              <a:buSzPct val="45000"/>
            </a:pPr>
            <a:r>
              <a:rPr lang="en-US" sz="2800" spc="-1">
                <a:latin typeface="Raleway"/>
              </a:rPr>
              <a:t>Cycle lane</a:t>
            </a:r>
          </a:p>
          <a:p>
            <a:pPr marL="108000">
              <a:spcBef>
                <a:spcPts val="1417"/>
              </a:spcBef>
              <a:buClr>
                <a:srgbClr val="001553"/>
              </a:buClr>
              <a:buSzPct val="45000"/>
            </a:pPr>
            <a:r>
              <a:rPr lang="en-US" sz="2000" b="0" i="1" strike="noStrike" spc="-1">
                <a:latin typeface="Raleway"/>
              </a:rPr>
              <a:t>A cycle lane is a part of a carriageway designated for cycles. A cycle lane is distinguished from the rest of the carriageway by longitudinal road markings.</a:t>
            </a:r>
          </a:p>
        </p:txBody>
      </p:sp>
      <p:pic>
        <p:nvPicPr>
          <p:cNvPr id="2" name="Picture 1" descr="A road with a bicycle painted on it&#10;&#10;Description automatically generated">
            <a:hlinkClick r:id="rId2" tgtFrame="&quot;_blank&quot;"/>
            <a:extLst>
              <a:ext uri="{FF2B5EF4-FFF2-40B4-BE49-F238E27FC236}">
                <a16:creationId xmlns:a16="http://schemas.microsoft.com/office/drawing/2014/main" id="{45596066-7A26-AE14-F1CF-4D00539C26F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54044" y="2396899"/>
            <a:ext cx="4572535" cy="2571050"/>
          </a:xfrm>
          <a:prstGeom prst="rect">
            <a:avLst/>
          </a:prstGeom>
          <a:noFill/>
          <a:ln>
            <a:noFill/>
          </a:ln>
        </p:spPr>
      </p:pic>
    </p:spTree>
    <p:extLst>
      <p:ext uri="{BB962C8B-B14F-4D97-AF65-F5344CB8AC3E}">
        <p14:creationId xmlns:p14="http://schemas.microsoft.com/office/powerpoint/2010/main" val="3204402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E8514-8D61-3E87-8980-E49876A2C5F2}"/>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C6D203DD-A218-76D3-0F18-B47B65B3A9C8}"/>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54" name="TextShape 2">
            <a:extLst>
              <a:ext uri="{FF2B5EF4-FFF2-40B4-BE49-F238E27FC236}">
                <a16:creationId xmlns:a16="http://schemas.microsoft.com/office/drawing/2014/main" id="{3E86BEBA-E650-D674-CBFA-0F46B36392F9}"/>
              </a:ext>
            </a:extLst>
          </p:cNvPr>
          <p:cNvSpPr txBox="1"/>
          <p:nvPr/>
        </p:nvSpPr>
        <p:spPr>
          <a:xfrm>
            <a:off x="540715" y="1285151"/>
            <a:ext cx="9071640" cy="748749"/>
          </a:xfrm>
          <a:prstGeom prst="rect">
            <a:avLst/>
          </a:prstGeom>
          <a:noFill/>
          <a:ln>
            <a:noFill/>
          </a:ln>
        </p:spPr>
        <p:txBody>
          <a:bodyPr lIns="0" tIns="0" rIns="0" bIns="0">
            <a:normAutofit fontScale="92000" lnSpcReduction="20000"/>
          </a:bodyPr>
          <a:lstStyle/>
          <a:p>
            <a:pPr marL="108000" algn="ctr">
              <a:spcBef>
                <a:spcPts val="1417"/>
              </a:spcBef>
              <a:buClr>
                <a:srgbClr val="001553"/>
              </a:buClr>
              <a:buSzPct val="45000"/>
            </a:pPr>
            <a:r>
              <a:rPr lang="en-US" sz="2800" spc="-1">
                <a:latin typeface="Raleway"/>
              </a:rPr>
              <a:t>Bus and cycle lane</a:t>
            </a:r>
          </a:p>
          <a:p>
            <a:pPr marL="108000">
              <a:spcBef>
                <a:spcPts val="1417"/>
              </a:spcBef>
              <a:buClr>
                <a:srgbClr val="001553"/>
              </a:buClr>
              <a:buSzPct val="45000"/>
            </a:pPr>
            <a:r>
              <a:rPr lang="en-US" sz="2000" b="0" i="1" strike="noStrike" spc="-1">
                <a:latin typeface="Raleway"/>
              </a:rPr>
              <a:t>A bus-and-cycle lane is a lane reserved for (public transport) buses and cycles.</a:t>
            </a:r>
          </a:p>
        </p:txBody>
      </p:sp>
      <p:pic>
        <p:nvPicPr>
          <p:cNvPr id="4" name="Picture 3" descr="A person riding a bicycle on a street&#10;&#10;Description automatically generated">
            <a:hlinkClick r:id="rId2" tgtFrame="&quot;_blank&quot;"/>
            <a:extLst>
              <a:ext uri="{FF2B5EF4-FFF2-40B4-BE49-F238E27FC236}">
                <a16:creationId xmlns:a16="http://schemas.microsoft.com/office/drawing/2014/main" id="{46DAAEED-3CA9-C3B1-3BD9-08EA892267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07043" y="2146531"/>
            <a:ext cx="4666538" cy="2623906"/>
          </a:xfrm>
          <a:prstGeom prst="rect">
            <a:avLst/>
          </a:prstGeom>
          <a:noFill/>
          <a:ln>
            <a:noFill/>
          </a:ln>
        </p:spPr>
      </p:pic>
    </p:spTree>
    <p:extLst>
      <p:ext uri="{BB962C8B-B14F-4D97-AF65-F5344CB8AC3E}">
        <p14:creationId xmlns:p14="http://schemas.microsoft.com/office/powerpoint/2010/main" val="1020903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471B9-CD83-2671-528D-AE38948DE963}"/>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3C875620-34CD-BFCC-B4D9-C64B0D5C64C6}"/>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3" name="TextShape 2">
            <a:extLst>
              <a:ext uri="{FF2B5EF4-FFF2-40B4-BE49-F238E27FC236}">
                <a16:creationId xmlns:a16="http://schemas.microsoft.com/office/drawing/2014/main" id="{A0BC9A5E-7360-6665-65C5-90F6E2A0147B}"/>
              </a:ext>
            </a:extLst>
          </p:cNvPr>
          <p:cNvSpPr txBox="1"/>
          <p:nvPr/>
        </p:nvSpPr>
        <p:spPr>
          <a:xfrm>
            <a:off x="540715" y="1285151"/>
            <a:ext cx="9071640" cy="946440"/>
          </a:xfrm>
          <a:prstGeom prst="rect">
            <a:avLst/>
          </a:prstGeom>
          <a:noFill/>
          <a:ln>
            <a:noFill/>
          </a:ln>
        </p:spPr>
        <p:txBody>
          <a:bodyPr lIns="0" tIns="0" rIns="0" bIns="0">
            <a:normAutofit fontScale="84500" lnSpcReduction="20000"/>
          </a:bodyPr>
          <a:lstStyle/>
          <a:p>
            <a:pPr marL="108000" algn="ctr">
              <a:spcBef>
                <a:spcPts val="1417"/>
              </a:spcBef>
              <a:buClr>
                <a:srgbClr val="001553"/>
              </a:buClr>
              <a:buSzPct val="45000"/>
            </a:pPr>
            <a:r>
              <a:rPr lang="en-US" sz="2800" spc="-1">
                <a:latin typeface="Raleway"/>
              </a:rPr>
              <a:t>Cycle street</a:t>
            </a:r>
          </a:p>
          <a:p>
            <a:pPr marL="108000">
              <a:spcBef>
                <a:spcPts val="1417"/>
              </a:spcBef>
              <a:buClr>
                <a:srgbClr val="001553"/>
              </a:buClr>
              <a:buSzPct val="45000"/>
            </a:pPr>
            <a:r>
              <a:rPr lang="en-US" sz="2000" b="0" i="1" strike="noStrike" spc="-1">
                <a:latin typeface="Raleway"/>
              </a:rPr>
              <a:t>A cycle street is a specially designed section of road or an area where special traffic rules apply, and It is signposted as such at its entries and exits.</a:t>
            </a:r>
          </a:p>
        </p:txBody>
      </p:sp>
      <p:pic>
        <p:nvPicPr>
          <p:cNvPr id="5" name="Picture 4" descr="A person walking on a sidewalk&#10;&#10;Description automatically generated">
            <a:hlinkClick r:id="rId2" tgtFrame="&quot;_blank&quot;"/>
            <a:extLst>
              <a:ext uri="{FF2B5EF4-FFF2-40B4-BE49-F238E27FC236}">
                <a16:creationId xmlns:a16="http://schemas.microsoft.com/office/drawing/2014/main" id="{3337FD00-CC9D-20A2-7AB6-9582CBC441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5954" y="2231591"/>
            <a:ext cx="4588715" cy="2580148"/>
          </a:xfrm>
          <a:prstGeom prst="rect">
            <a:avLst/>
          </a:prstGeom>
          <a:noFill/>
          <a:ln>
            <a:noFill/>
          </a:ln>
        </p:spPr>
      </p:pic>
    </p:spTree>
    <p:extLst>
      <p:ext uri="{BB962C8B-B14F-4D97-AF65-F5344CB8AC3E}">
        <p14:creationId xmlns:p14="http://schemas.microsoft.com/office/powerpoint/2010/main" val="3090112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3C079-D5A9-E190-8A96-89C6C0439C34}"/>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6C133671-3F28-0195-161D-14452844F56B}"/>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3" name="TextShape 2">
            <a:extLst>
              <a:ext uri="{FF2B5EF4-FFF2-40B4-BE49-F238E27FC236}">
                <a16:creationId xmlns:a16="http://schemas.microsoft.com/office/drawing/2014/main" id="{DFE8735E-F03E-6E1A-D6C8-D6533D41B283}"/>
              </a:ext>
            </a:extLst>
          </p:cNvPr>
          <p:cNvSpPr txBox="1"/>
          <p:nvPr/>
        </p:nvSpPr>
        <p:spPr>
          <a:xfrm>
            <a:off x="540715" y="1285151"/>
            <a:ext cx="9071640" cy="946440"/>
          </a:xfrm>
          <a:prstGeom prst="rect">
            <a:avLst/>
          </a:prstGeom>
          <a:noFill/>
          <a:ln>
            <a:noFill/>
          </a:ln>
        </p:spPr>
        <p:txBody>
          <a:bodyPr lIns="0" tIns="0" rIns="0" bIns="0">
            <a:normAutofit fontScale="84500" lnSpcReduction="20000"/>
          </a:bodyPr>
          <a:lstStyle/>
          <a:p>
            <a:pPr marL="108000" algn="ctr">
              <a:spcBef>
                <a:spcPts val="1417"/>
              </a:spcBef>
              <a:buClr>
                <a:srgbClr val="001553"/>
              </a:buClr>
              <a:buSzPct val="45000"/>
            </a:pPr>
            <a:r>
              <a:rPr lang="en-US" sz="2800" spc="-1">
                <a:latin typeface="Raleway"/>
              </a:rPr>
              <a:t>30 km/h roads</a:t>
            </a:r>
          </a:p>
          <a:p>
            <a:pPr marL="108000">
              <a:spcBef>
                <a:spcPts val="1417"/>
              </a:spcBef>
              <a:buClr>
                <a:srgbClr val="001553"/>
              </a:buClr>
              <a:buSzPct val="45000"/>
            </a:pPr>
            <a:r>
              <a:rPr lang="en-US" sz="2000" b="0" i="1" strike="noStrike" spc="-1">
                <a:latin typeface="Raleway"/>
              </a:rPr>
              <a:t>Designated urban roads with a maximum speed limit of 30 km/h; only main and local road network segments considered. Only public and main roads taken into account in the analysis</a:t>
            </a:r>
          </a:p>
        </p:txBody>
      </p:sp>
      <p:pic>
        <p:nvPicPr>
          <p:cNvPr id="2" name="Picture 1">
            <a:hlinkClick r:id="rId2" tgtFrame="&quot;_blank&quot;"/>
            <a:extLst>
              <a:ext uri="{FF2B5EF4-FFF2-40B4-BE49-F238E27FC236}">
                <a16:creationId xmlns:a16="http://schemas.microsoft.com/office/drawing/2014/main" id="{6FA85B10-10FD-15B7-F727-BF69A1887A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3604720" y="2344222"/>
            <a:ext cx="2870200" cy="2870200"/>
          </a:xfrm>
          <a:prstGeom prst="rect">
            <a:avLst/>
          </a:prstGeom>
          <a:noFill/>
          <a:ln>
            <a:noFill/>
          </a:ln>
        </p:spPr>
      </p:pic>
    </p:spTree>
    <p:extLst>
      <p:ext uri="{BB962C8B-B14F-4D97-AF65-F5344CB8AC3E}">
        <p14:creationId xmlns:p14="http://schemas.microsoft.com/office/powerpoint/2010/main" val="4256859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F1C0-BE84-4250-9B8E-9D1F949BDAB3}"/>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074E66CB-9DAB-AAB3-0F88-6B162B582958}"/>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3" name="TextShape 2">
            <a:extLst>
              <a:ext uri="{FF2B5EF4-FFF2-40B4-BE49-F238E27FC236}">
                <a16:creationId xmlns:a16="http://schemas.microsoft.com/office/drawing/2014/main" id="{CDE4F05F-C30B-1887-79A2-4834BE34AB53}"/>
              </a:ext>
            </a:extLst>
          </p:cNvPr>
          <p:cNvSpPr txBox="1"/>
          <p:nvPr/>
        </p:nvSpPr>
        <p:spPr>
          <a:xfrm>
            <a:off x="540715" y="1285151"/>
            <a:ext cx="9071640" cy="946440"/>
          </a:xfrm>
          <a:prstGeom prst="rect">
            <a:avLst/>
          </a:prstGeom>
          <a:noFill/>
          <a:ln>
            <a:noFill/>
          </a:ln>
        </p:spPr>
        <p:txBody>
          <a:bodyPr lIns="0" tIns="0" rIns="0" bIns="0">
            <a:normAutofit fontScale="77000" lnSpcReduction="20000"/>
          </a:bodyPr>
          <a:lstStyle/>
          <a:p>
            <a:pPr marL="108000" algn="ctr">
              <a:spcBef>
                <a:spcPts val="1417"/>
              </a:spcBef>
              <a:buClr>
                <a:srgbClr val="001553"/>
              </a:buClr>
              <a:buSzPct val="45000"/>
            </a:pPr>
            <a:r>
              <a:rPr lang="en-US" sz="3600" spc="-1">
                <a:latin typeface="Raleway"/>
              </a:rPr>
              <a:t>Specific service roads</a:t>
            </a:r>
          </a:p>
          <a:p>
            <a:pPr marL="108000">
              <a:spcBef>
                <a:spcPts val="1417"/>
              </a:spcBef>
              <a:buClr>
                <a:srgbClr val="001553"/>
              </a:buClr>
              <a:buSzPct val="45000"/>
            </a:pPr>
            <a:r>
              <a:rPr lang="en-US" sz="2000" b="0" i="1" strike="noStrike" spc="-1">
                <a:latin typeface="Raleway"/>
              </a:rPr>
              <a:t>A specific service road is a non-public road closed to general traffic, but open to cycles and selected motor vehicles, for example agricultural, forestry, industry and/or water management vehicles.</a:t>
            </a:r>
          </a:p>
        </p:txBody>
      </p:sp>
      <p:pic>
        <p:nvPicPr>
          <p:cNvPr id="4" name="Picture 3" descr="A road sign next to a train track&#10;&#10;Description automatically generated">
            <a:hlinkClick r:id="rId2" tgtFrame="&quot;_blank&quot;"/>
            <a:extLst>
              <a:ext uri="{FF2B5EF4-FFF2-40B4-BE49-F238E27FC236}">
                <a16:creationId xmlns:a16="http://schemas.microsoft.com/office/drawing/2014/main" id="{A8C644E1-2AC1-C78E-FB6C-CF97F1C98B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0514" y="2344222"/>
            <a:ext cx="4479595" cy="2518792"/>
          </a:xfrm>
          <a:prstGeom prst="rect">
            <a:avLst/>
          </a:prstGeom>
          <a:noFill/>
          <a:ln>
            <a:noFill/>
          </a:ln>
        </p:spPr>
      </p:pic>
    </p:spTree>
    <p:extLst>
      <p:ext uri="{BB962C8B-B14F-4D97-AF65-F5344CB8AC3E}">
        <p14:creationId xmlns:p14="http://schemas.microsoft.com/office/powerpoint/2010/main" val="3552868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16FC1-31E6-00DB-07BC-F3336A5AD31B}"/>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0227063B-AB55-8730-722B-CD3B26AC9969}"/>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  OSM</a:t>
            </a:r>
          </a:p>
        </p:txBody>
      </p:sp>
      <p:sp>
        <p:nvSpPr>
          <p:cNvPr id="3" name="TextShape 2">
            <a:extLst>
              <a:ext uri="{FF2B5EF4-FFF2-40B4-BE49-F238E27FC236}">
                <a16:creationId xmlns:a16="http://schemas.microsoft.com/office/drawing/2014/main" id="{52F7F83A-0954-E643-4131-D6C0819ED3EE}"/>
              </a:ext>
            </a:extLst>
          </p:cNvPr>
          <p:cNvSpPr txBox="1"/>
          <p:nvPr/>
        </p:nvSpPr>
        <p:spPr>
          <a:xfrm>
            <a:off x="540715" y="1285151"/>
            <a:ext cx="9071640" cy="946440"/>
          </a:xfrm>
          <a:prstGeom prst="rect">
            <a:avLst/>
          </a:prstGeom>
          <a:noFill/>
          <a:ln>
            <a:noFill/>
          </a:ln>
        </p:spPr>
        <p:txBody>
          <a:bodyPr lIns="0" tIns="0" rIns="0" bIns="0">
            <a:normAutofit fontScale="99500"/>
          </a:bodyPr>
          <a:lstStyle/>
          <a:p>
            <a:pPr marL="108000" algn="ctr">
              <a:spcBef>
                <a:spcPts val="1417"/>
              </a:spcBef>
              <a:buClr>
                <a:srgbClr val="001553"/>
              </a:buClr>
              <a:buSzPct val="45000"/>
            </a:pPr>
            <a:r>
              <a:rPr lang="en-US" sz="2800" spc="-1">
                <a:latin typeface="Raleway"/>
              </a:rPr>
              <a:t>Contraflow cycling</a:t>
            </a:r>
          </a:p>
          <a:p>
            <a:pPr marL="108000" algn="ctr">
              <a:spcBef>
                <a:spcPts val="1417"/>
              </a:spcBef>
              <a:buClr>
                <a:srgbClr val="001553"/>
              </a:buClr>
              <a:buSzPct val="45000"/>
            </a:pPr>
            <a:r>
              <a:rPr lang="en-US" sz="2000" b="0" i="1" strike="noStrike" spc="-1">
                <a:latin typeface="Raleway"/>
              </a:rPr>
              <a:t>Street is unidirectional for cars and bidirectional for bicycles.</a:t>
            </a:r>
          </a:p>
        </p:txBody>
      </p:sp>
      <p:pic>
        <p:nvPicPr>
          <p:cNvPr id="4" name="Picture 3" descr="A street with cars parked on it&#10;&#10;AI-generated content may be incorrect.">
            <a:extLst>
              <a:ext uri="{FF2B5EF4-FFF2-40B4-BE49-F238E27FC236}">
                <a16:creationId xmlns:a16="http://schemas.microsoft.com/office/drawing/2014/main" id="{468B209A-69F7-9E52-5217-F16A9D22A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8306" y="2344222"/>
            <a:ext cx="3764012" cy="2710089"/>
          </a:xfrm>
          <a:prstGeom prst="rect">
            <a:avLst/>
          </a:prstGeom>
        </p:spPr>
      </p:pic>
    </p:spTree>
    <p:extLst>
      <p:ext uri="{BB962C8B-B14F-4D97-AF65-F5344CB8AC3E}">
        <p14:creationId xmlns:p14="http://schemas.microsoft.com/office/powerpoint/2010/main" val="2764414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A43CBDD-FF96-3404-7027-55E6F954BDEC}"/>
              </a:ext>
            </a:extLst>
          </p:cNvPr>
          <p:cNvGraphicFramePr>
            <a:graphicFrameLocks noGrp="1"/>
          </p:cNvGraphicFramePr>
          <p:nvPr>
            <p:extLst>
              <p:ext uri="{D42A27DB-BD31-4B8C-83A1-F6EECF244321}">
                <p14:modId xmlns:p14="http://schemas.microsoft.com/office/powerpoint/2010/main" val="280083945"/>
              </p:ext>
            </p:extLst>
          </p:nvPr>
        </p:nvGraphicFramePr>
        <p:xfrm>
          <a:off x="1367246" y="191589"/>
          <a:ext cx="8630193" cy="4511040"/>
        </p:xfrm>
        <a:graphic>
          <a:graphicData uri="http://schemas.openxmlformats.org/drawingml/2006/table">
            <a:tbl>
              <a:tblPr firstRow="1" bandRow="1">
                <a:tableStyleId>{5C22544A-7EE6-4342-B048-85BDC9FD1C3A}</a:tableStyleId>
              </a:tblPr>
              <a:tblGrid>
                <a:gridCol w="2538292">
                  <a:extLst>
                    <a:ext uri="{9D8B030D-6E8A-4147-A177-3AD203B41FA5}">
                      <a16:colId xmlns:a16="http://schemas.microsoft.com/office/drawing/2014/main" val="20000"/>
                    </a:ext>
                  </a:extLst>
                </a:gridCol>
                <a:gridCol w="6091901">
                  <a:extLst>
                    <a:ext uri="{9D8B030D-6E8A-4147-A177-3AD203B41FA5}">
                      <a16:colId xmlns:a16="http://schemas.microsoft.com/office/drawing/2014/main" val="20001"/>
                    </a:ext>
                  </a:extLst>
                </a:gridCol>
              </a:tblGrid>
              <a:tr h="352396">
                <a:tc>
                  <a:txBody>
                    <a:bodyPr/>
                    <a:lstStyle/>
                    <a:p>
                      <a:r>
                        <a:rPr sz="1400" dirty="0"/>
                        <a:t>Infrastructure type</a:t>
                      </a:r>
                    </a:p>
                  </a:txBody>
                  <a:tcPr/>
                </a:tc>
                <a:tc>
                  <a:txBody>
                    <a:bodyPr/>
                    <a:lstStyle/>
                    <a:p>
                      <a:r>
                        <a:rPr sz="1400" dirty="0"/>
                        <a:t>OSM tags</a:t>
                      </a:r>
                    </a:p>
                  </a:txBody>
                  <a:tcPr/>
                </a:tc>
                <a:extLst>
                  <a:ext uri="{0D108BD9-81ED-4DB2-BD59-A6C34878D82A}">
                    <a16:rowId xmlns:a16="http://schemas.microsoft.com/office/drawing/2014/main" val="10000"/>
                  </a:ext>
                </a:extLst>
              </a:tr>
              <a:tr h="1339104">
                <a:tc>
                  <a:txBody>
                    <a:bodyPr/>
                    <a:lstStyle/>
                    <a:p>
                      <a:r>
                        <a:rPr sz="1400" dirty="0"/>
                        <a:t>Cycle track</a:t>
                      </a:r>
                    </a:p>
                  </a:txBody>
                  <a:tcPr/>
                </a:tc>
                <a:tc>
                  <a:txBody>
                    <a:bodyPr/>
                    <a:lstStyle/>
                    <a:p>
                      <a:r>
                        <a:rPr sz="1400"/>
                        <a:t>1. (highway = cycleway) &amp; ((foot != designated) &amp; (segregated != yes))</a:t>
                      </a:r>
                    </a:p>
                    <a:p>
                      <a:r>
                        <a:rPr sz="1400"/>
                        <a:t>2. (highway = footway | path | pedestrian | corridor) &amp; (bicycle = yes | designated) &amp; (segregated = yes)</a:t>
                      </a:r>
                    </a:p>
                    <a:p>
                      <a:r>
                        <a:rPr sz="1400"/>
                        <a:t>3. cycleway* = track | opposite_track</a:t>
                      </a:r>
                    </a:p>
                  </a:txBody>
                  <a:tcPr/>
                </a:tc>
                <a:extLst>
                  <a:ext uri="{0D108BD9-81ED-4DB2-BD59-A6C34878D82A}">
                    <a16:rowId xmlns:a16="http://schemas.microsoft.com/office/drawing/2014/main" val="10001"/>
                  </a:ext>
                </a:extLst>
              </a:tr>
              <a:tr h="1092427">
                <a:tc>
                  <a:txBody>
                    <a:bodyPr/>
                    <a:lstStyle/>
                    <a:p>
                      <a:r>
                        <a:rPr sz="1400" dirty="0"/>
                        <a:t>Cycle and pedestrian track</a:t>
                      </a:r>
                    </a:p>
                  </a:txBody>
                  <a:tcPr/>
                </a:tc>
                <a:tc>
                  <a:txBody>
                    <a:bodyPr/>
                    <a:lstStyle/>
                    <a:p>
                      <a:r>
                        <a:rPr sz="1400" dirty="0"/>
                        <a:t>1. (highway = footway | path | pedestrian | corridor) &amp; (bicycle = designated) &amp; (segregated != yes)</a:t>
                      </a:r>
                    </a:p>
                    <a:p>
                      <a:r>
                        <a:rPr sz="1400" dirty="0"/>
                        <a:t>2. (highway = cycleway) &amp; (foot = designated) &amp; (segregated != yes)</a:t>
                      </a:r>
                    </a:p>
                  </a:txBody>
                  <a:tcPr/>
                </a:tc>
                <a:extLst>
                  <a:ext uri="{0D108BD9-81ED-4DB2-BD59-A6C34878D82A}">
                    <a16:rowId xmlns:a16="http://schemas.microsoft.com/office/drawing/2014/main" val="10002"/>
                  </a:ext>
                </a:extLst>
              </a:tr>
              <a:tr h="352396">
                <a:tc>
                  <a:txBody>
                    <a:bodyPr/>
                    <a:lstStyle/>
                    <a:p>
                      <a:r>
                        <a:rPr sz="1400"/>
                        <a:t>Cycle lane</a:t>
                      </a:r>
                    </a:p>
                  </a:txBody>
                  <a:tcPr/>
                </a:tc>
                <a:tc>
                  <a:txBody>
                    <a:bodyPr/>
                    <a:lstStyle/>
                    <a:p>
                      <a:r>
                        <a:rPr sz="1400" dirty="0"/>
                        <a:t>cycleway* = lane | </a:t>
                      </a:r>
                      <a:r>
                        <a:rPr sz="1400" dirty="0" err="1"/>
                        <a:t>opposite_lane</a:t>
                      </a:r>
                      <a:endParaRPr sz="1400" dirty="0"/>
                    </a:p>
                  </a:txBody>
                  <a:tcPr/>
                </a:tc>
                <a:extLst>
                  <a:ext uri="{0D108BD9-81ED-4DB2-BD59-A6C34878D82A}">
                    <a16:rowId xmlns:a16="http://schemas.microsoft.com/office/drawing/2014/main" val="10003"/>
                  </a:ext>
                </a:extLst>
              </a:tr>
              <a:tr h="775644">
                <a:tc>
                  <a:txBody>
                    <a:bodyPr/>
                    <a:lstStyle/>
                    <a:p>
                      <a:r>
                        <a:rPr sz="1400"/>
                        <a:t>Bus and cycle lane</a:t>
                      </a:r>
                    </a:p>
                  </a:txBody>
                  <a:tcPr/>
                </a:tc>
                <a:tc>
                  <a:txBody>
                    <a:bodyPr/>
                    <a:lstStyle/>
                    <a:p>
                      <a:r>
                        <a:rPr lang="en-US" sz="1400" dirty="0"/>
                        <a:t>1. </a:t>
                      </a:r>
                      <a:r>
                        <a:rPr sz="1400" dirty="0"/>
                        <a:t>cycleway* = </a:t>
                      </a:r>
                      <a:r>
                        <a:rPr sz="1400" dirty="0" err="1"/>
                        <a:t>share_busway</a:t>
                      </a:r>
                      <a:r>
                        <a:rPr sz="1400" dirty="0"/>
                        <a:t> | </a:t>
                      </a:r>
                      <a:r>
                        <a:rPr sz="1400" dirty="0" err="1"/>
                        <a:t>opposite_share_busway</a:t>
                      </a:r>
                      <a:endParaRPr sz="1400" dirty="0"/>
                    </a:p>
                    <a:p>
                      <a:r>
                        <a:rPr lang="en-US" sz="1400" dirty="0"/>
                        <a:t>2. </a:t>
                      </a:r>
                      <a:r>
                        <a:rPr sz="1400" dirty="0"/>
                        <a:t>highway = busway &amp; (bicycle = yes | designated)</a:t>
                      </a:r>
                    </a:p>
                  </a:txBody>
                  <a:tcPr/>
                </a:tc>
                <a:extLst>
                  <a:ext uri="{0D108BD9-81ED-4DB2-BD59-A6C34878D82A}">
                    <a16:rowId xmlns:a16="http://schemas.microsoft.com/office/drawing/2014/main" val="10004"/>
                  </a:ext>
                </a:extLst>
              </a:tr>
              <a:tr h="599073">
                <a:tc>
                  <a:txBody>
                    <a:bodyPr/>
                    <a:lstStyle/>
                    <a:p>
                      <a:r>
                        <a:rPr sz="1400"/>
                        <a:t>Cycle street</a:t>
                      </a:r>
                    </a:p>
                  </a:txBody>
                  <a:tcPr/>
                </a:tc>
                <a:tc>
                  <a:txBody>
                    <a:bodyPr/>
                    <a:lstStyle/>
                    <a:p>
                      <a:r>
                        <a:rPr sz="1400" dirty="0"/>
                        <a:t>1. </a:t>
                      </a:r>
                      <a:r>
                        <a:rPr sz="1400" dirty="0" err="1"/>
                        <a:t>cycle_street</a:t>
                      </a:r>
                      <a:r>
                        <a:rPr sz="1400" dirty="0"/>
                        <a:t> = yes</a:t>
                      </a:r>
                    </a:p>
                    <a:p>
                      <a:r>
                        <a:rPr sz="1400" dirty="0"/>
                        <a:t>2. </a:t>
                      </a:r>
                      <a:r>
                        <a:rPr sz="1400" dirty="0" err="1"/>
                        <a:t>bicycle_road</a:t>
                      </a:r>
                      <a:r>
                        <a:rPr sz="1400" dirty="0"/>
                        <a:t> = yes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8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6DFE6-FA85-6625-52C5-B8BB238981C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C8B35B0-C7C9-164E-AB4C-CC43257C6FA4}"/>
              </a:ext>
            </a:extLst>
          </p:cNvPr>
          <p:cNvGraphicFramePr>
            <a:graphicFrameLocks noGrp="1"/>
          </p:cNvGraphicFramePr>
          <p:nvPr>
            <p:extLst>
              <p:ext uri="{D42A27DB-BD31-4B8C-83A1-F6EECF244321}">
                <p14:modId xmlns:p14="http://schemas.microsoft.com/office/powerpoint/2010/main" val="4269574647"/>
              </p:ext>
            </p:extLst>
          </p:nvPr>
        </p:nvGraphicFramePr>
        <p:xfrm>
          <a:off x="1367246" y="191591"/>
          <a:ext cx="8464732" cy="4402713"/>
        </p:xfrm>
        <a:graphic>
          <a:graphicData uri="http://schemas.openxmlformats.org/drawingml/2006/table">
            <a:tbl>
              <a:tblPr firstRow="1" bandRow="1">
                <a:tableStyleId>{5C22544A-7EE6-4342-B048-85BDC9FD1C3A}</a:tableStyleId>
              </a:tblPr>
              <a:tblGrid>
                <a:gridCol w="2489626">
                  <a:extLst>
                    <a:ext uri="{9D8B030D-6E8A-4147-A177-3AD203B41FA5}">
                      <a16:colId xmlns:a16="http://schemas.microsoft.com/office/drawing/2014/main" val="20000"/>
                    </a:ext>
                  </a:extLst>
                </a:gridCol>
                <a:gridCol w="5975106">
                  <a:extLst>
                    <a:ext uri="{9D8B030D-6E8A-4147-A177-3AD203B41FA5}">
                      <a16:colId xmlns:a16="http://schemas.microsoft.com/office/drawing/2014/main" val="20001"/>
                    </a:ext>
                  </a:extLst>
                </a:gridCol>
              </a:tblGrid>
              <a:tr h="363755">
                <a:tc>
                  <a:txBody>
                    <a:bodyPr/>
                    <a:lstStyle/>
                    <a:p>
                      <a:r>
                        <a:rPr sz="1600" dirty="0"/>
                        <a:t>Infrastructure type</a:t>
                      </a:r>
                    </a:p>
                  </a:txBody>
                  <a:tcPr/>
                </a:tc>
                <a:tc>
                  <a:txBody>
                    <a:bodyPr/>
                    <a:lstStyle/>
                    <a:p>
                      <a:r>
                        <a:rPr sz="1600" dirty="0"/>
                        <a:t>OSM tags</a:t>
                      </a:r>
                    </a:p>
                  </a:txBody>
                  <a:tcPr/>
                </a:tc>
                <a:extLst>
                  <a:ext uri="{0D108BD9-81ED-4DB2-BD59-A6C34878D82A}">
                    <a16:rowId xmlns:a16="http://schemas.microsoft.com/office/drawing/2014/main" val="10000"/>
                  </a:ext>
                </a:extLst>
              </a:tr>
              <a:tr h="1788465">
                <a:tc>
                  <a:txBody>
                    <a:bodyPr/>
                    <a:lstStyle/>
                    <a:p>
                      <a:r>
                        <a:rPr lang="en-GB" sz="1400" dirty="0"/>
                        <a:t>Specific service road</a:t>
                      </a:r>
                    </a:p>
                  </a:txBody>
                  <a:tcPr/>
                </a:tc>
                <a:tc>
                  <a:txBody>
                    <a:bodyPr/>
                    <a:lstStyle/>
                    <a:p>
                      <a:r>
                        <a:rPr lang="en-GB" sz="1400" dirty="0"/>
                        <a:t>1. (highway = unclassified | tertiary | service | residential) &amp; (access = no | agricultural | forestry | destination) &amp; (bicycle = yes | designated)</a:t>
                      </a:r>
                    </a:p>
                    <a:p>
                      <a:r>
                        <a:rPr lang="en-GB" sz="1400" dirty="0"/>
                        <a:t>2. highway = track &amp; ((</a:t>
                      </a:r>
                      <a:r>
                        <a:rPr lang="en-GB" sz="1400" dirty="0" err="1"/>
                        <a:t>tracktype</a:t>
                      </a:r>
                      <a:r>
                        <a:rPr lang="en-GB" sz="1400" dirty="0"/>
                        <a:t> = grade1 | grade2) | (surface = </a:t>
                      </a:r>
                      <a:r>
                        <a:rPr lang="en-GB" sz="1400" dirty="0" err="1"/>
                        <a:t>asphalt_concrete</a:t>
                      </a:r>
                      <a:r>
                        <a:rPr lang="en-GB" sz="1400" dirty="0"/>
                        <a:t> | </a:t>
                      </a:r>
                      <a:r>
                        <a:rPr lang="en-GB" sz="1400" dirty="0" err="1"/>
                        <a:t>blocks_slabs_cobbles_sel</a:t>
                      </a:r>
                      <a:r>
                        <a:rPr lang="en-GB" sz="1400" dirty="0"/>
                        <a:t> | </a:t>
                      </a:r>
                      <a:r>
                        <a:rPr lang="en-GB" sz="1400" dirty="0" err="1"/>
                        <a:t>stabilised_gravel</a:t>
                      </a:r>
                      <a:r>
                        <a:rPr lang="en-GB" sz="1400" dirty="0"/>
                        <a:t>))</a:t>
                      </a:r>
                    </a:p>
                    <a:p>
                      <a:r>
                        <a:rPr lang="en-GB" sz="1400" dirty="0"/>
                        <a:t>3. classified as cycle track, cycle and pedestrian track or pedestrian track with cycling allowed in first approach &amp; (access | motorcar | </a:t>
                      </a:r>
                      <a:r>
                        <a:rPr lang="en-GB" sz="1400" dirty="0" err="1"/>
                        <a:t>motor_vehicle</a:t>
                      </a:r>
                      <a:r>
                        <a:rPr lang="en-GB" sz="1400" dirty="0"/>
                        <a:t> | agricultural | vehicle) = (yes | designated | agricultural | forestry | destination | delivery | permissive | private)</a:t>
                      </a:r>
                    </a:p>
                  </a:txBody>
                  <a:tcPr/>
                </a:tc>
                <a:extLst>
                  <a:ext uri="{0D108BD9-81ED-4DB2-BD59-A6C34878D82A}">
                    <a16:rowId xmlns:a16="http://schemas.microsoft.com/office/drawing/2014/main" val="10001"/>
                  </a:ext>
                </a:extLst>
              </a:tr>
              <a:tr h="395491">
                <a:tc>
                  <a:txBody>
                    <a:bodyPr/>
                    <a:lstStyle/>
                    <a:p>
                      <a:r>
                        <a:rPr sz="1400" dirty="0"/>
                        <a:t>30 km/h roads</a:t>
                      </a:r>
                    </a:p>
                  </a:txBody>
                  <a:tcPr/>
                </a:tc>
                <a:tc>
                  <a:txBody>
                    <a:bodyPr/>
                    <a:lstStyle/>
                    <a:p>
                      <a:r>
                        <a:rPr sz="1400" dirty="0"/>
                        <a:t>(highway = (</a:t>
                      </a:r>
                      <a:r>
                        <a:rPr sz="1400" dirty="0" err="1"/>
                        <a:t>main_road_types</a:t>
                      </a:r>
                      <a:r>
                        <a:rPr sz="1400" dirty="0"/>
                        <a:t>, </a:t>
                      </a:r>
                      <a:r>
                        <a:rPr sz="1400" dirty="0" err="1"/>
                        <a:t>local_road_types</a:t>
                      </a:r>
                      <a:r>
                        <a:rPr sz="1400" dirty="0"/>
                        <a:t>)) &amp; (</a:t>
                      </a:r>
                      <a:r>
                        <a:rPr sz="1400" dirty="0" err="1"/>
                        <a:t>maxspeed</a:t>
                      </a:r>
                      <a:r>
                        <a:rPr sz="1400" dirty="0"/>
                        <a:t> &lt;= 30)</a:t>
                      </a:r>
                    </a:p>
                  </a:txBody>
                  <a:tcPr/>
                </a:tc>
                <a:extLst>
                  <a:ext uri="{0D108BD9-81ED-4DB2-BD59-A6C34878D82A}">
                    <a16:rowId xmlns:a16="http://schemas.microsoft.com/office/drawing/2014/main" val="10002"/>
                  </a:ext>
                </a:extLst>
              </a:tr>
              <a:tr h="515321">
                <a:tc>
                  <a:txBody>
                    <a:bodyPr/>
                    <a:lstStyle/>
                    <a:p>
                      <a:r>
                        <a:rPr sz="1400" dirty="0"/>
                        <a:t>Contraflow cycling</a:t>
                      </a:r>
                    </a:p>
                  </a:txBody>
                  <a:tcPr/>
                </a:tc>
                <a:tc>
                  <a:txBody>
                    <a:bodyPr/>
                    <a:lstStyle/>
                    <a:p>
                      <a:r>
                        <a:rPr sz="1400" dirty="0"/>
                        <a:t>(</a:t>
                      </a:r>
                      <a:r>
                        <a:rPr sz="1400" dirty="0" err="1"/>
                        <a:t>oneway</a:t>
                      </a:r>
                      <a:r>
                        <a:rPr sz="1400" dirty="0"/>
                        <a:t> = yes) &amp; ((</a:t>
                      </a:r>
                      <a:r>
                        <a:rPr sz="1400" dirty="0" err="1"/>
                        <a:t>oneway:bicycle</a:t>
                      </a:r>
                      <a:r>
                        <a:rPr sz="1400" dirty="0"/>
                        <a:t> = no) | (cycleway = </a:t>
                      </a:r>
                      <a:r>
                        <a:rPr sz="1400" dirty="0" err="1"/>
                        <a:t>opposite_lane</a:t>
                      </a:r>
                      <a:r>
                        <a:rPr sz="1400" dirty="0"/>
                        <a:t> | </a:t>
                      </a:r>
                      <a:r>
                        <a:rPr sz="1400" dirty="0" err="1"/>
                        <a:t>opposite_track</a:t>
                      </a:r>
                      <a:r>
                        <a:rPr sz="1400" dirty="0"/>
                        <a:t>))</a:t>
                      </a:r>
                    </a:p>
                  </a:txBody>
                  <a:tcPr/>
                </a:tc>
                <a:extLst>
                  <a:ext uri="{0D108BD9-81ED-4DB2-BD59-A6C34878D82A}">
                    <a16:rowId xmlns:a16="http://schemas.microsoft.com/office/drawing/2014/main" val="10003"/>
                  </a:ext>
                </a:extLst>
              </a:tr>
              <a:tr h="564987">
                <a:tc>
                  <a:txBody>
                    <a:bodyPr/>
                    <a:lstStyle/>
                    <a:p>
                      <a:r>
                        <a:rPr sz="1400" dirty="0"/>
                        <a:t>Main roads</a:t>
                      </a:r>
                    </a:p>
                  </a:txBody>
                  <a:tcPr/>
                </a:tc>
                <a:tc>
                  <a:txBody>
                    <a:bodyPr/>
                    <a:lstStyle/>
                    <a:p>
                      <a:r>
                        <a:rPr sz="1400" dirty="0"/>
                        <a:t>highway = motorway | trunk | primary | secondary | tertiary | </a:t>
                      </a:r>
                      <a:r>
                        <a:rPr sz="1400" dirty="0" err="1"/>
                        <a:t>motorway_link</a:t>
                      </a:r>
                      <a:r>
                        <a:rPr sz="1400" dirty="0"/>
                        <a:t> | </a:t>
                      </a:r>
                      <a:r>
                        <a:rPr sz="1400" dirty="0" err="1"/>
                        <a:t>trunk_link</a:t>
                      </a:r>
                      <a:r>
                        <a:rPr sz="1400" dirty="0"/>
                        <a:t> | </a:t>
                      </a:r>
                      <a:r>
                        <a:rPr sz="1400" dirty="0" err="1"/>
                        <a:t>primary_link</a:t>
                      </a:r>
                      <a:r>
                        <a:rPr sz="1400" dirty="0"/>
                        <a:t> | </a:t>
                      </a:r>
                      <a:r>
                        <a:rPr sz="1400" dirty="0" err="1"/>
                        <a:t>secondary_link</a:t>
                      </a:r>
                      <a:r>
                        <a:rPr sz="1400" dirty="0"/>
                        <a:t> | </a:t>
                      </a:r>
                      <a:r>
                        <a:rPr sz="1400" dirty="0" err="1"/>
                        <a:t>tertiary_link</a:t>
                      </a:r>
                      <a:endParaRPr sz="1400" dirty="0"/>
                    </a:p>
                  </a:txBody>
                  <a:tcPr/>
                </a:tc>
                <a:extLst>
                  <a:ext uri="{0D108BD9-81ED-4DB2-BD59-A6C34878D82A}">
                    <a16:rowId xmlns:a16="http://schemas.microsoft.com/office/drawing/2014/main" val="10004"/>
                  </a:ext>
                </a:extLst>
              </a:tr>
              <a:tr h="303129">
                <a:tc>
                  <a:txBody>
                    <a:bodyPr/>
                    <a:lstStyle/>
                    <a:p>
                      <a:r>
                        <a:rPr sz="1400" dirty="0"/>
                        <a:t>Local roads</a:t>
                      </a:r>
                    </a:p>
                  </a:txBody>
                  <a:tcPr/>
                </a:tc>
                <a:tc>
                  <a:txBody>
                    <a:bodyPr/>
                    <a:lstStyle/>
                    <a:p>
                      <a:r>
                        <a:rPr sz="1400" dirty="0"/>
                        <a:t>highway = </a:t>
                      </a:r>
                      <a:r>
                        <a:rPr sz="1400" dirty="0" err="1"/>
                        <a:t>living_street</a:t>
                      </a:r>
                      <a:r>
                        <a:rPr sz="1400" dirty="0"/>
                        <a:t> | residential | unclassified</a:t>
                      </a:r>
                    </a:p>
                  </a:txBody>
                  <a:tcPr/>
                </a:tc>
                <a:extLst>
                  <a:ext uri="{0D108BD9-81ED-4DB2-BD59-A6C34878D82A}">
                    <a16:rowId xmlns:a16="http://schemas.microsoft.com/office/drawing/2014/main" val="10005"/>
                  </a:ext>
                </a:extLst>
              </a:tr>
              <a:tr h="414428">
                <a:tc>
                  <a:txBody>
                    <a:bodyPr/>
                    <a:lstStyle/>
                    <a:p>
                      <a:r>
                        <a:rPr sz="1200" i="1" dirty="0"/>
                        <a:t>Explanation of symbols</a:t>
                      </a:r>
                    </a:p>
                  </a:txBody>
                  <a:tcPr/>
                </a:tc>
                <a:tc>
                  <a:txBody>
                    <a:bodyPr/>
                    <a:lstStyle/>
                    <a:p>
                      <a:r>
                        <a:rPr sz="1200" i="1" dirty="0"/>
                        <a:t>| = or; &amp; = and, = equals, != = does not equal, * = cycleway* includes cycleway, </a:t>
                      </a:r>
                      <a:r>
                        <a:rPr sz="1200" i="1" dirty="0" err="1"/>
                        <a:t>cycleway:left</a:t>
                      </a:r>
                      <a:r>
                        <a:rPr sz="1200" i="1" dirty="0"/>
                        <a:t>, </a:t>
                      </a:r>
                      <a:r>
                        <a:rPr sz="1200" i="1" dirty="0" err="1"/>
                        <a:t>cycleway:right</a:t>
                      </a:r>
                      <a:r>
                        <a:rPr sz="1200" i="1" dirty="0"/>
                        <a:t>, </a:t>
                      </a:r>
                      <a:r>
                        <a:rPr sz="1200" i="1" dirty="0" err="1"/>
                        <a:t>cycleway:both</a:t>
                      </a:r>
                      <a:endParaRPr sz="1200" i="1" dirty="0"/>
                    </a:p>
                  </a:txBody>
                  <a:tcPr/>
                </a:tc>
                <a:extLst>
                  <a:ext uri="{0D108BD9-81ED-4DB2-BD59-A6C34878D82A}">
                    <a16:rowId xmlns:a16="http://schemas.microsoft.com/office/drawing/2014/main" val="972053652"/>
                  </a:ext>
                </a:extLst>
              </a:tr>
            </a:tbl>
          </a:graphicData>
        </a:graphic>
      </p:graphicFrame>
    </p:spTree>
    <p:extLst>
      <p:ext uri="{BB962C8B-B14F-4D97-AF65-F5344CB8AC3E}">
        <p14:creationId xmlns:p14="http://schemas.microsoft.com/office/powerpoint/2010/main" val="2046828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7C928-8A74-A452-F228-340801C24B1B}"/>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D28855FF-7663-F4E7-4DF9-8C2A37B1B61A}"/>
              </a:ext>
            </a:extLst>
          </p:cNvPr>
          <p:cNvGraphicFramePr>
            <a:graphicFrameLocks noGrp="1"/>
          </p:cNvGraphicFramePr>
          <p:nvPr>
            <p:extLst>
              <p:ext uri="{D42A27DB-BD31-4B8C-83A1-F6EECF244321}">
                <p14:modId xmlns:p14="http://schemas.microsoft.com/office/powerpoint/2010/main" val="273503347"/>
              </p:ext>
            </p:extLst>
          </p:nvPr>
        </p:nvGraphicFramePr>
        <p:xfrm>
          <a:off x="658026" y="1890395"/>
          <a:ext cx="5186156" cy="1889760"/>
        </p:xfrm>
        <a:graphic>
          <a:graphicData uri="http://schemas.openxmlformats.org/drawingml/2006/table">
            <a:tbl>
              <a:tblPr firstRow="1" bandRow="1">
                <a:tableStyleId>{5C22544A-7EE6-4342-B048-85BDC9FD1C3A}</a:tableStyleId>
              </a:tblPr>
              <a:tblGrid>
                <a:gridCol w="1525340">
                  <a:extLst>
                    <a:ext uri="{9D8B030D-6E8A-4147-A177-3AD203B41FA5}">
                      <a16:colId xmlns:a16="http://schemas.microsoft.com/office/drawing/2014/main" val="20000"/>
                    </a:ext>
                  </a:extLst>
                </a:gridCol>
                <a:gridCol w="3660816">
                  <a:extLst>
                    <a:ext uri="{9D8B030D-6E8A-4147-A177-3AD203B41FA5}">
                      <a16:colId xmlns:a16="http://schemas.microsoft.com/office/drawing/2014/main" val="20001"/>
                    </a:ext>
                  </a:extLst>
                </a:gridCol>
              </a:tblGrid>
              <a:tr h="352396">
                <a:tc>
                  <a:txBody>
                    <a:bodyPr/>
                    <a:lstStyle/>
                    <a:p>
                      <a:r>
                        <a:rPr sz="1400" dirty="0"/>
                        <a:t>Infrastructure type</a:t>
                      </a:r>
                    </a:p>
                  </a:txBody>
                  <a:tcPr/>
                </a:tc>
                <a:tc>
                  <a:txBody>
                    <a:bodyPr/>
                    <a:lstStyle/>
                    <a:p>
                      <a:r>
                        <a:rPr sz="1400" dirty="0"/>
                        <a:t>OSM tags</a:t>
                      </a:r>
                    </a:p>
                  </a:txBody>
                  <a:tcPr/>
                </a:tc>
                <a:extLst>
                  <a:ext uri="{0D108BD9-81ED-4DB2-BD59-A6C34878D82A}">
                    <a16:rowId xmlns:a16="http://schemas.microsoft.com/office/drawing/2014/main" val="10000"/>
                  </a:ext>
                </a:extLst>
              </a:tr>
              <a:tr h="1339104">
                <a:tc>
                  <a:txBody>
                    <a:bodyPr/>
                    <a:lstStyle/>
                    <a:p>
                      <a:r>
                        <a:rPr sz="1400" dirty="0"/>
                        <a:t>Cycle track</a:t>
                      </a:r>
                    </a:p>
                  </a:txBody>
                  <a:tcPr/>
                </a:tc>
                <a:tc>
                  <a:txBody>
                    <a:bodyPr/>
                    <a:lstStyle/>
                    <a:p>
                      <a:r>
                        <a:rPr sz="1400" dirty="0"/>
                        <a:t>1. (highway = cycleway) &amp; ((foot != designated) &amp; (segregated != yes))</a:t>
                      </a:r>
                    </a:p>
                    <a:p>
                      <a:r>
                        <a:rPr sz="1400" dirty="0"/>
                        <a:t>2. (</a:t>
                      </a:r>
                      <a:r>
                        <a:rPr sz="1400" b="1" dirty="0"/>
                        <a:t>highway </a:t>
                      </a:r>
                      <a:r>
                        <a:rPr sz="1400" dirty="0"/>
                        <a:t>= footway | </a:t>
                      </a:r>
                      <a:r>
                        <a:rPr sz="1400" b="1" dirty="0"/>
                        <a:t>path</a:t>
                      </a:r>
                      <a:r>
                        <a:rPr sz="1400" dirty="0"/>
                        <a:t> | pedestrian | corridor) &amp; (</a:t>
                      </a:r>
                      <a:r>
                        <a:rPr sz="1400" b="1" dirty="0"/>
                        <a:t>bicycle</a:t>
                      </a:r>
                      <a:r>
                        <a:rPr sz="1400" dirty="0"/>
                        <a:t> = yes | </a:t>
                      </a:r>
                      <a:r>
                        <a:rPr sz="1400" b="1" dirty="0"/>
                        <a:t>designated</a:t>
                      </a:r>
                      <a:r>
                        <a:rPr sz="1400" dirty="0"/>
                        <a:t>) &amp; (</a:t>
                      </a:r>
                      <a:r>
                        <a:rPr sz="1400" b="1" dirty="0"/>
                        <a:t>segregated</a:t>
                      </a:r>
                      <a:r>
                        <a:rPr sz="1400" dirty="0"/>
                        <a:t> = </a:t>
                      </a:r>
                      <a:r>
                        <a:rPr sz="1400" b="1" dirty="0"/>
                        <a:t>yes</a:t>
                      </a:r>
                      <a:r>
                        <a:rPr sz="1400" dirty="0"/>
                        <a:t>)</a:t>
                      </a:r>
                    </a:p>
                    <a:p>
                      <a:r>
                        <a:rPr sz="1400" dirty="0"/>
                        <a:t>3. cycleway* = track | </a:t>
                      </a:r>
                      <a:r>
                        <a:rPr sz="1400" dirty="0" err="1"/>
                        <a:t>opposite_track</a:t>
                      </a:r>
                      <a:endParaRPr sz="1400" dirty="0"/>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761DDF05-33B1-83C7-D510-2ECE6AACB1D9}"/>
              </a:ext>
            </a:extLst>
          </p:cNvPr>
          <p:cNvPicPr>
            <a:picLocks noChangeAspect="1"/>
          </p:cNvPicPr>
          <p:nvPr/>
        </p:nvPicPr>
        <p:blipFill>
          <a:blip r:embed="rId3"/>
          <a:stretch>
            <a:fillRect/>
          </a:stretch>
        </p:blipFill>
        <p:spPr>
          <a:xfrm>
            <a:off x="6474298" y="442736"/>
            <a:ext cx="3469594" cy="5048636"/>
          </a:xfrm>
          <a:prstGeom prst="rect">
            <a:avLst/>
          </a:prstGeom>
        </p:spPr>
      </p:pic>
      <p:sp>
        <p:nvSpPr>
          <p:cNvPr id="7" name="TextBox 6">
            <a:extLst>
              <a:ext uri="{FF2B5EF4-FFF2-40B4-BE49-F238E27FC236}">
                <a16:creationId xmlns:a16="http://schemas.microsoft.com/office/drawing/2014/main" id="{3ABCB13E-1A3F-AE9B-3EFF-78A5F3509DCC}"/>
              </a:ext>
            </a:extLst>
          </p:cNvPr>
          <p:cNvSpPr txBox="1"/>
          <p:nvPr/>
        </p:nvSpPr>
        <p:spPr>
          <a:xfrm>
            <a:off x="1841293" y="334982"/>
            <a:ext cx="3199019" cy="1200329"/>
          </a:xfrm>
          <a:prstGeom prst="rect">
            <a:avLst/>
          </a:prstGeom>
          <a:noFill/>
        </p:spPr>
        <p:txBody>
          <a:bodyPr wrap="square" rtlCol="0">
            <a:spAutoFit/>
          </a:bodyPr>
          <a:lstStyle/>
          <a:p>
            <a:r>
              <a:rPr lang="en-US" sz="2400" dirty="0"/>
              <a:t>Example of cycling infrastructure extraction from OSM</a:t>
            </a:r>
            <a:endParaRPr lang="en-GB" sz="2400" dirty="0"/>
          </a:p>
        </p:txBody>
      </p:sp>
    </p:spTree>
    <p:extLst>
      <p:ext uri="{BB962C8B-B14F-4D97-AF65-F5344CB8AC3E}">
        <p14:creationId xmlns:p14="http://schemas.microsoft.com/office/powerpoint/2010/main" val="288776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DC61F-EF7B-F007-0F10-B429D504A1DF}"/>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75C883B9-40EB-371D-A362-9816F51FA8D6}"/>
              </a:ext>
            </a:extLst>
          </p:cNvPr>
          <p:cNvSpPr txBox="1"/>
          <p:nvPr/>
        </p:nvSpPr>
        <p:spPr>
          <a:xfrm>
            <a:off x="504000" y="226080"/>
            <a:ext cx="9071640" cy="779763"/>
          </a:xfrm>
          <a:prstGeom prst="rect">
            <a:avLst/>
          </a:prstGeom>
          <a:noFill/>
          <a:ln>
            <a:noFill/>
          </a:ln>
        </p:spPr>
        <p:txBody>
          <a:bodyPr lIns="0" tIns="0" rIns="0" bIns="0" anchor="ctr">
            <a:noAutofit/>
          </a:bodyPr>
          <a:lstStyle/>
          <a:p>
            <a:pPr algn="ctr"/>
            <a:r>
              <a:rPr lang="en-GB" sz="2400" b="0" strike="noStrike" spc="-1">
                <a:solidFill>
                  <a:srgbClr val="001553"/>
                </a:solidFill>
                <a:latin typeface="Raleway Black"/>
              </a:rPr>
              <a:t>Extraction of cycling infrastructure in standardized format OSM</a:t>
            </a:r>
          </a:p>
        </p:txBody>
      </p:sp>
      <p:sp>
        <p:nvSpPr>
          <p:cNvPr id="54" name="TextShape 2">
            <a:extLst>
              <a:ext uri="{FF2B5EF4-FFF2-40B4-BE49-F238E27FC236}">
                <a16:creationId xmlns:a16="http://schemas.microsoft.com/office/drawing/2014/main" id="{AE34EE74-9E9A-3320-092D-EB79ECE7F947}"/>
              </a:ext>
            </a:extLst>
          </p:cNvPr>
          <p:cNvSpPr txBox="1"/>
          <p:nvPr/>
        </p:nvSpPr>
        <p:spPr>
          <a:xfrm>
            <a:off x="1358781" y="1401510"/>
            <a:ext cx="7698237" cy="1433765"/>
          </a:xfrm>
          <a:prstGeom prst="rect">
            <a:avLst/>
          </a:prstGeom>
          <a:noFill/>
          <a:ln>
            <a:noFill/>
          </a:ln>
        </p:spPr>
        <p:txBody>
          <a:bodyPr lIns="0" tIns="0" rIns="0" bIns="0">
            <a:normAutofit fontScale="99500"/>
          </a:bodyPr>
          <a:lstStyle/>
          <a:p>
            <a:pPr marL="108000">
              <a:spcBef>
                <a:spcPts val="1417"/>
              </a:spcBef>
              <a:buClr>
                <a:srgbClr val="001553"/>
              </a:buClr>
              <a:buSzPct val="45000"/>
            </a:pPr>
            <a:r>
              <a:rPr lang="en-US" b="0" strike="noStrike" spc="-1" dirty="0">
                <a:latin typeface="Raleway"/>
              </a:rPr>
              <a:t>OSM Tags used for the extraction of standardized cycling infrastructure data are an updated version of ECF’s Cycling Infrastructure Tracker tool. </a:t>
            </a:r>
            <a:r>
              <a:rPr lang="en-US" spc="-1" dirty="0">
                <a:latin typeface="Raleway"/>
              </a:rPr>
              <a:t>CIT tool quantifies the different types of cycling infrastructure across European countries and regions. It also provides percentages of data availability for quality parameters.</a:t>
            </a:r>
            <a:endParaRPr lang="en-US" i="1" spc="-1" dirty="0">
              <a:latin typeface="Raleway"/>
            </a:endParaRPr>
          </a:p>
        </p:txBody>
      </p:sp>
      <p:pic>
        <p:nvPicPr>
          <p:cNvPr id="4" name="Picture 3" descr="A blue and white logo&#10;&#10;AI-generated content may be incorrect.">
            <a:extLst>
              <a:ext uri="{FF2B5EF4-FFF2-40B4-BE49-F238E27FC236}">
                <a16:creationId xmlns:a16="http://schemas.microsoft.com/office/drawing/2014/main" id="{2542464F-68E5-5FB0-49B0-AB97CB23C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3882" y="3311797"/>
            <a:ext cx="3571875" cy="1276350"/>
          </a:xfrm>
          <a:prstGeom prst="rect">
            <a:avLst/>
          </a:prstGeom>
        </p:spPr>
      </p:pic>
    </p:spTree>
    <p:extLst>
      <p:ext uri="{BB962C8B-B14F-4D97-AF65-F5344CB8AC3E}">
        <p14:creationId xmlns:p14="http://schemas.microsoft.com/office/powerpoint/2010/main" val="694211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Shape 1"/>
          <p:cNvSpPr txBox="1"/>
          <p:nvPr/>
        </p:nvSpPr>
        <p:spPr>
          <a:xfrm>
            <a:off x="162821" y="227647"/>
            <a:ext cx="9642315" cy="946440"/>
          </a:xfrm>
          <a:prstGeom prst="rect">
            <a:avLst/>
          </a:prstGeom>
          <a:noFill/>
          <a:ln>
            <a:noFill/>
          </a:ln>
        </p:spPr>
        <p:txBody>
          <a:bodyPr lIns="0" tIns="0" rIns="0" bIns="0" anchor="ctr">
            <a:noAutofit/>
          </a:bodyPr>
          <a:lstStyle/>
          <a:p>
            <a:pPr marL="108000" algn="ctr">
              <a:spcBef>
                <a:spcPts val="1417"/>
              </a:spcBef>
              <a:buClr>
                <a:srgbClr val="001553"/>
              </a:buClr>
              <a:buSzPct val="45000"/>
            </a:pPr>
            <a:r>
              <a:rPr lang="en-GB" sz="2800" b="1" spc="-1">
                <a:solidFill>
                  <a:srgbClr val="001553"/>
                </a:solidFill>
                <a:latin typeface="Raleway"/>
              </a:rPr>
              <a:t>Extensive research of official cycling infrastructure datasets in EU Member States (national, regional, local)</a:t>
            </a:r>
            <a:endParaRPr lang="en-GB" sz="2800" b="1" strike="noStrike" spc="-1">
              <a:solidFill>
                <a:srgbClr val="001553"/>
              </a:solidFill>
              <a:latin typeface="Raleway"/>
            </a:endParaRPr>
          </a:p>
        </p:txBody>
      </p:sp>
      <p:sp>
        <p:nvSpPr>
          <p:cNvPr id="52" name="TextShape 2"/>
          <p:cNvSpPr txBox="1"/>
          <p:nvPr/>
        </p:nvSpPr>
        <p:spPr>
          <a:xfrm>
            <a:off x="733496" y="1728220"/>
            <a:ext cx="9071640" cy="509372"/>
          </a:xfrm>
          <a:prstGeom prst="rect">
            <a:avLst/>
          </a:prstGeom>
          <a:noFill/>
          <a:ln>
            <a:noFill/>
          </a:ln>
        </p:spPr>
        <p:txBody>
          <a:bodyPr lIns="0" tIns="0" rIns="0" bIns="0">
            <a:normAutofit/>
          </a:bodyPr>
          <a:lstStyle/>
          <a:p>
            <a:pPr marL="108000" algn="ctr">
              <a:spcBef>
                <a:spcPts val="1417"/>
              </a:spcBef>
              <a:buClr>
                <a:srgbClr val="001553"/>
              </a:buClr>
              <a:buSzPct val="45000"/>
            </a:pPr>
            <a:r>
              <a:rPr lang="en-US" sz="3200" b="1" strike="noStrike" spc="-1" dirty="0">
                <a:latin typeface="Raleway"/>
              </a:rPr>
              <a:t>116</a:t>
            </a:r>
            <a:r>
              <a:rPr lang="en-US" sz="3200" b="0" strike="noStrike" spc="-1" dirty="0">
                <a:latin typeface="Raleway"/>
              </a:rPr>
              <a:t> official datasets identified</a:t>
            </a:r>
          </a:p>
        </p:txBody>
      </p:sp>
      <p:sp>
        <p:nvSpPr>
          <p:cNvPr id="2" name="TextShape 2">
            <a:extLst>
              <a:ext uri="{FF2B5EF4-FFF2-40B4-BE49-F238E27FC236}">
                <a16:creationId xmlns:a16="http://schemas.microsoft.com/office/drawing/2014/main" id="{2A75D203-5034-2484-7CAA-FC30655CC033}"/>
              </a:ext>
            </a:extLst>
          </p:cNvPr>
          <p:cNvSpPr txBox="1"/>
          <p:nvPr/>
        </p:nvSpPr>
        <p:spPr>
          <a:xfrm>
            <a:off x="733496" y="3271132"/>
            <a:ext cx="9071640" cy="1120765"/>
          </a:xfrm>
          <a:prstGeom prst="rect">
            <a:avLst/>
          </a:prstGeom>
          <a:noFill/>
          <a:ln>
            <a:noFill/>
          </a:ln>
        </p:spPr>
        <p:txBody>
          <a:bodyPr lIns="0" tIns="0" rIns="0" bIns="0">
            <a:normAutofit fontScale="92500" lnSpcReduction="20000"/>
          </a:bodyPr>
          <a:lstStyle/>
          <a:p>
            <a:pPr marL="108000" algn="ctr">
              <a:spcBef>
                <a:spcPts val="1417"/>
              </a:spcBef>
              <a:buClr>
                <a:srgbClr val="001553"/>
              </a:buClr>
              <a:buSzPct val="45000"/>
            </a:pPr>
            <a:r>
              <a:rPr lang="en-US" sz="3200" b="1" spc="-1">
                <a:latin typeface="Raleway"/>
              </a:rPr>
              <a:t>48</a:t>
            </a:r>
            <a:r>
              <a:rPr lang="en-US" sz="3200" spc="-1">
                <a:latin typeface="Raleway"/>
              </a:rPr>
              <a:t> official datasets selected for further analysis (infrastructure type and quality parameters included)</a:t>
            </a:r>
          </a:p>
        </p:txBody>
      </p:sp>
      <p:cxnSp>
        <p:nvCxnSpPr>
          <p:cNvPr id="4" name="Straight Arrow Connector 3">
            <a:extLst>
              <a:ext uri="{FF2B5EF4-FFF2-40B4-BE49-F238E27FC236}">
                <a16:creationId xmlns:a16="http://schemas.microsoft.com/office/drawing/2014/main" id="{54A59F4C-4856-FCE6-ACEA-F667B4117273}"/>
              </a:ext>
            </a:extLst>
          </p:cNvPr>
          <p:cNvCxnSpPr>
            <a:cxnSpLocks/>
            <a:stCxn id="52" idx="2"/>
            <a:endCxn id="2" idx="0"/>
          </p:cNvCxnSpPr>
          <p:nvPr/>
        </p:nvCxnSpPr>
        <p:spPr>
          <a:xfrm>
            <a:off x="5269316" y="2237592"/>
            <a:ext cx="0" cy="10335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F35E4-ED85-B1DD-D46C-2E872598A813}"/>
            </a:ext>
          </a:extLst>
        </p:cNvPr>
        <p:cNvGrpSpPr/>
        <p:nvPr/>
      </p:nvGrpSpPr>
      <p:grpSpPr>
        <a:xfrm>
          <a:off x="0" y="0"/>
          <a:ext cx="0" cy="0"/>
          <a:chOff x="0" y="0"/>
          <a:chExt cx="0" cy="0"/>
        </a:xfrm>
      </p:grpSpPr>
      <p:sp>
        <p:nvSpPr>
          <p:cNvPr id="51" name="TextShape 1">
            <a:extLst>
              <a:ext uri="{FF2B5EF4-FFF2-40B4-BE49-F238E27FC236}">
                <a16:creationId xmlns:a16="http://schemas.microsoft.com/office/drawing/2014/main" id="{CE4E69D4-D4C9-7812-6F0D-DA6240ABD101}"/>
              </a:ext>
            </a:extLst>
          </p:cNvPr>
          <p:cNvSpPr txBox="1"/>
          <p:nvPr/>
        </p:nvSpPr>
        <p:spPr>
          <a:xfrm>
            <a:off x="504000" y="226080"/>
            <a:ext cx="9071640" cy="560133"/>
          </a:xfrm>
          <a:prstGeom prst="rect">
            <a:avLst/>
          </a:prstGeom>
          <a:noFill/>
          <a:ln>
            <a:noFill/>
          </a:ln>
        </p:spPr>
        <p:txBody>
          <a:bodyPr lIns="0" tIns="0" rIns="0" bIns="0" anchor="ctr">
            <a:noAutofit/>
          </a:bodyPr>
          <a:lstStyle/>
          <a:p>
            <a:pPr marL="108000" algn="ctr">
              <a:spcBef>
                <a:spcPts val="1417"/>
              </a:spcBef>
              <a:buClr>
                <a:srgbClr val="001553"/>
              </a:buClr>
              <a:buSzPct val="45000"/>
            </a:pPr>
            <a:r>
              <a:rPr lang="en-GB" sz="2800" b="1" spc="-1">
                <a:solidFill>
                  <a:srgbClr val="001553"/>
                </a:solidFill>
                <a:latin typeface="Raleway"/>
              </a:rPr>
              <a:t>Official Dataset analysis</a:t>
            </a:r>
            <a:endParaRPr lang="en-GB" sz="2800" b="1" strike="noStrike" spc="-1">
              <a:solidFill>
                <a:srgbClr val="001553"/>
              </a:solidFill>
              <a:latin typeface="Raleway"/>
            </a:endParaRPr>
          </a:p>
        </p:txBody>
      </p:sp>
      <p:graphicFrame>
        <p:nvGraphicFramePr>
          <p:cNvPr id="5" name="Table 4">
            <a:extLst>
              <a:ext uri="{FF2B5EF4-FFF2-40B4-BE49-F238E27FC236}">
                <a16:creationId xmlns:a16="http://schemas.microsoft.com/office/drawing/2014/main" id="{928A3A91-8221-3CE3-3A40-116F11074694}"/>
              </a:ext>
            </a:extLst>
          </p:cNvPr>
          <p:cNvGraphicFramePr>
            <a:graphicFrameLocks noGrp="1"/>
          </p:cNvGraphicFramePr>
          <p:nvPr>
            <p:extLst>
              <p:ext uri="{D42A27DB-BD31-4B8C-83A1-F6EECF244321}">
                <p14:modId xmlns:p14="http://schemas.microsoft.com/office/powerpoint/2010/main" val="3349986584"/>
              </p:ext>
            </p:extLst>
          </p:nvPr>
        </p:nvGraphicFramePr>
        <p:xfrm>
          <a:off x="5230026" y="786213"/>
          <a:ext cx="4230168" cy="4796282"/>
        </p:xfrm>
        <a:graphic>
          <a:graphicData uri="http://schemas.openxmlformats.org/drawingml/2006/table">
            <a:tbl>
              <a:tblPr firstRow="1" bandRow="1">
                <a:tableStyleId>{5C22544A-7EE6-4342-B048-85BDC9FD1C3A}</a:tableStyleId>
              </a:tblPr>
              <a:tblGrid>
                <a:gridCol w="2115084">
                  <a:extLst>
                    <a:ext uri="{9D8B030D-6E8A-4147-A177-3AD203B41FA5}">
                      <a16:colId xmlns:a16="http://schemas.microsoft.com/office/drawing/2014/main" val="1138777231"/>
                    </a:ext>
                  </a:extLst>
                </a:gridCol>
                <a:gridCol w="2115084">
                  <a:extLst>
                    <a:ext uri="{9D8B030D-6E8A-4147-A177-3AD203B41FA5}">
                      <a16:colId xmlns:a16="http://schemas.microsoft.com/office/drawing/2014/main" val="903848295"/>
                    </a:ext>
                  </a:extLst>
                </a:gridCol>
              </a:tblGrid>
              <a:tr h="155795">
                <a:tc>
                  <a:txBody>
                    <a:bodyPr/>
                    <a:lstStyle/>
                    <a:p>
                      <a:pPr marL="0" marR="0" algn="ctr">
                        <a:lnSpc>
                          <a:spcPct val="115000"/>
                        </a:lnSpc>
                        <a:buNone/>
                      </a:pPr>
                      <a:r>
                        <a:rPr lang="en-GB" sz="1000" b="1" kern="100">
                          <a:effectLst/>
                          <a:latin typeface="Aptos" panose="020B0004020202020204" pitchFamily="34" charset="0"/>
                          <a:ea typeface="Times New Roman" panose="02020603050405020304" pitchFamily="18" charset="0"/>
                        </a:rPr>
                        <a:t>Country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b="1" kern="100">
                          <a:effectLst/>
                          <a:latin typeface="Aptos" panose="020B0004020202020204" pitchFamily="34" charset="0"/>
                          <a:ea typeface="Times New Roman" panose="02020603050405020304" pitchFamily="18" charset="0"/>
                        </a:rPr>
                        <a:t>Area of dataset</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147808332"/>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Austria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4171212892"/>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Belgium</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Brussels, Mons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52032671"/>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Bulgaria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032190580"/>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Cyprus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71167840"/>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Czechia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Prague</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121581845"/>
                  </a:ext>
                </a:extLst>
              </a:tr>
              <a:tr h="302852">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Germany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Baden-Wurttemberg, Berlin, Brandenburg, Hamburg, Sachsen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338343947"/>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Denmark</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Copenhagen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26674093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Estonia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Tallinn, Tartu</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17483453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Spain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Bizkaia, Madrid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366573320"/>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Finland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Helsinki</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636866308"/>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France</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Nantes, Toulouse, Lyon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563370583"/>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Croatia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dirty="0">
                          <a:effectLst/>
                          <a:latin typeface="Aptos" panose="020B0004020202020204" pitchFamily="34" charset="0"/>
                          <a:ea typeface="Times New Roman" panose="02020603050405020304" pitchFamily="18" charset="0"/>
                        </a:rPr>
                        <a:t>Zagreb</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398355394"/>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Ireland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Dublin, Cork, Waterford, Limerick, Galway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780003639"/>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Italy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Bologna, Emilia-Romagna, Milano</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36838034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Lithuania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Vilnius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000653943"/>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Latvia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Jurmala, </a:t>
                      </a:r>
                      <a:r>
                        <a:rPr lang="en-GB" sz="1000" kern="100" err="1">
                          <a:effectLst/>
                          <a:latin typeface="Aptos" panose="020B0004020202020204" pitchFamily="34" charset="0"/>
                          <a:ea typeface="Times New Roman" panose="02020603050405020304" pitchFamily="18" charset="0"/>
                        </a:rPr>
                        <a:t>Marupe</a:t>
                      </a:r>
                      <a:r>
                        <a:rPr lang="en-GB" sz="1000" kern="100">
                          <a:effectLst/>
                          <a:latin typeface="Aptos" panose="020B0004020202020204" pitchFamily="34" charset="0"/>
                          <a:ea typeface="Times New Roman" panose="02020603050405020304" pitchFamily="18" charset="0"/>
                        </a:rPr>
                        <a:t>, Riga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24344150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Malta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363217224"/>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Netherlands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646036269"/>
                  </a:ext>
                </a:extLst>
              </a:tr>
              <a:tr h="302852">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Poland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Warsaw, West Pomerania, Wielkopolski Voivodship, Wroclaw</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66732722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Portugal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Lisbon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766597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Sweden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099850453"/>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Slovenia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dirty="0">
                          <a:effectLst/>
                          <a:latin typeface="Aptos" panose="020B0004020202020204" pitchFamily="34" charset="0"/>
                          <a:ea typeface="Times New Roman" panose="02020603050405020304" pitchFamily="18" charset="0"/>
                        </a:rPr>
                        <a:t>National</a:t>
                      </a:r>
                      <a:endParaRPr lang="en-GB" sz="1200" kern="100" dirty="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707882813"/>
                  </a:ext>
                </a:extLst>
              </a:tr>
            </a:tbl>
          </a:graphicData>
        </a:graphic>
      </p:graphicFrame>
      <p:sp>
        <p:nvSpPr>
          <p:cNvPr id="8" name="TextBox 7">
            <a:extLst>
              <a:ext uri="{FF2B5EF4-FFF2-40B4-BE49-F238E27FC236}">
                <a16:creationId xmlns:a16="http://schemas.microsoft.com/office/drawing/2014/main" id="{97963108-DC91-7D82-223A-FBAC96077B6E}"/>
              </a:ext>
            </a:extLst>
          </p:cNvPr>
          <p:cNvSpPr txBox="1"/>
          <p:nvPr/>
        </p:nvSpPr>
        <p:spPr>
          <a:xfrm>
            <a:off x="152398" y="786213"/>
            <a:ext cx="469819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Review of documentation</a:t>
            </a:r>
          </a:p>
          <a:p>
            <a:pPr marL="285750" indent="-285750">
              <a:buFont typeface="Arial" panose="020B0604020202020204" pitchFamily="34" charset="0"/>
              <a:buChar char="•"/>
            </a:pPr>
            <a:r>
              <a:rPr lang="en-US" dirty="0"/>
              <a:t>Desk research </a:t>
            </a:r>
          </a:p>
          <a:p>
            <a:pPr marL="285750" indent="-285750">
              <a:buFont typeface="Arial" panose="020B0604020202020204" pitchFamily="34" charset="0"/>
              <a:buChar char="•"/>
            </a:pPr>
            <a:r>
              <a:rPr lang="en-US" dirty="0"/>
              <a:t>Consultation with dataset responsible stakeholders</a:t>
            </a:r>
            <a:endParaRPr lang="en-GB" dirty="0"/>
          </a:p>
        </p:txBody>
      </p:sp>
      <p:sp>
        <p:nvSpPr>
          <p:cNvPr id="10" name="TextBox 9">
            <a:extLst>
              <a:ext uri="{FF2B5EF4-FFF2-40B4-BE49-F238E27FC236}">
                <a16:creationId xmlns:a16="http://schemas.microsoft.com/office/drawing/2014/main" id="{2A511D0D-3AB5-B241-9157-C2533EDBA2F3}"/>
              </a:ext>
            </a:extLst>
          </p:cNvPr>
          <p:cNvSpPr txBox="1"/>
          <p:nvPr/>
        </p:nvSpPr>
        <p:spPr>
          <a:xfrm>
            <a:off x="152399" y="2479497"/>
            <a:ext cx="4698199" cy="2585323"/>
          </a:xfrm>
          <a:prstGeom prst="rect">
            <a:avLst/>
          </a:prstGeom>
          <a:noFill/>
        </p:spPr>
        <p:txBody>
          <a:bodyPr wrap="square" rtlCol="0">
            <a:spAutoFit/>
          </a:bodyPr>
          <a:lstStyle/>
          <a:p>
            <a:r>
              <a:rPr lang="en-US"/>
              <a:t>Accurate mapping of cycling infrastructure</a:t>
            </a:r>
          </a:p>
          <a:p>
            <a:pPr marL="342900" indent="-342900">
              <a:buFont typeface="Arial" panose="020B0604020202020204" pitchFamily="34" charset="0"/>
              <a:buChar char="•"/>
            </a:pPr>
            <a:r>
              <a:rPr lang="en-US"/>
              <a:t>Cycle tracks</a:t>
            </a:r>
          </a:p>
          <a:p>
            <a:pPr marL="342900" indent="-342900">
              <a:buFont typeface="Arial" panose="020B0604020202020204" pitchFamily="34" charset="0"/>
              <a:buChar char="•"/>
            </a:pPr>
            <a:r>
              <a:rPr lang="en-US"/>
              <a:t>Cycle and pedestrian tracks</a:t>
            </a:r>
          </a:p>
          <a:p>
            <a:pPr marL="342900" indent="-342900">
              <a:buFont typeface="Arial" panose="020B0604020202020204" pitchFamily="34" charset="0"/>
              <a:buChar char="•"/>
            </a:pPr>
            <a:r>
              <a:rPr lang="en-US"/>
              <a:t>Cycle lanes</a:t>
            </a:r>
          </a:p>
          <a:p>
            <a:pPr marL="342900" indent="-342900">
              <a:buFont typeface="Arial" panose="020B0604020202020204" pitchFamily="34" charset="0"/>
              <a:buChar char="•"/>
            </a:pPr>
            <a:r>
              <a:rPr lang="en-US"/>
              <a:t>Bus and cycle lanes</a:t>
            </a:r>
          </a:p>
          <a:p>
            <a:pPr marL="342900" indent="-342900">
              <a:buFont typeface="Arial" panose="020B0604020202020204" pitchFamily="34" charset="0"/>
              <a:buChar char="•"/>
            </a:pPr>
            <a:r>
              <a:rPr lang="en-US"/>
              <a:t>Cycle streets</a:t>
            </a:r>
          </a:p>
          <a:p>
            <a:pPr marL="342900" indent="-342900">
              <a:buFont typeface="Arial" panose="020B0604020202020204" pitchFamily="34" charset="0"/>
              <a:buChar char="•"/>
            </a:pPr>
            <a:r>
              <a:rPr lang="en-US"/>
              <a:t>30 km/h roads</a:t>
            </a:r>
          </a:p>
          <a:p>
            <a:pPr marL="342900" indent="-342900">
              <a:buFont typeface="Arial" panose="020B0604020202020204" pitchFamily="34" charset="0"/>
              <a:buChar char="•"/>
            </a:pPr>
            <a:r>
              <a:rPr lang="en-US"/>
              <a:t>Specific service roads</a:t>
            </a:r>
          </a:p>
          <a:p>
            <a:pPr marL="342900" indent="-342900">
              <a:buFont typeface="Arial" panose="020B0604020202020204" pitchFamily="34" charset="0"/>
              <a:buChar char="•"/>
            </a:pPr>
            <a:r>
              <a:rPr lang="en-US"/>
              <a:t>Contraflow cycling</a:t>
            </a:r>
            <a:endParaRPr lang="en-GB"/>
          </a:p>
        </p:txBody>
      </p:sp>
      <p:cxnSp>
        <p:nvCxnSpPr>
          <p:cNvPr id="12" name="Straight Arrow Connector 11">
            <a:extLst>
              <a:ext uri="{FF2B5EF4-FFF2-40B4-BE49-F238E27FC236}">
                <a16:creationId xmlns:a16="http://schemas.microsoft.com/office/drawing/2014/main" id="{42D31951-4536-A0A8-0D6C-66CF40BE92C5}"/>
              </a:ext>
            </a:extLst>
          </p:cNvPr>
          <p:cNvCxnSpPr>
            <a:stCxn id="8" idx="2"/>
            <a:endCxn id="10" idx="0"/>
          </p:cNvCxnSpPr>
          <p:nvPr/>
        </p:nvCxnSpPr>
        <p:spPr>
          <a:xfrm>
            <a:off x="2501498" y="1986542"/>
            <a:ext cx="1" cy="492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398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D56B0-031A-D5CF-FC0F-B0F8DEEDE206}"/>
              </a:ext>
            </a:extLst>
          </p:cNvPr>
          <p:cNvSpPr>
            <a:spLocks noGrp="1"/>
          </p:cNvSpPr>
          <p:nvPr>
            <p:ph type="title"/>
          </p:nvPr>
        </p:nvSpPr>
        <p:spPr>
          <a:xfrm>
            <a:off x="523051" y="149880"/>
            <a:ext cx="2277300" cy="946440"/>
          </a:xfrm>
        </p:spPr>
        <p:txBody>
          <a:bodyPr/>
          <a:lstStyle/>
          <a:p>
            <a:pPr algn="ctr"/>
            <a:r>
              <a:rPr lang="en-US" sz="2400">
                <a:solidFill>
                  <a:srgbClr val="C00000"/>
                </a:solidFill>
              </a:rPr>
              <a:t>Austria OSM network</a:t>
            </a:r>
            <a:endParaRPr lang="en-GB" sz="2400">
              <a:solidFill>
                <a:srgbClr val="C00000"/>
              </a:solidFill>
            </a:endParaRPr>
          </a:p>
        </p:txBody>
      </p:sp>
      <p:sp>
        <p:nvSpPr>
          <p:cNvPr id="6" name="Title 1">
            <a:extLst>
              <a:ext uri="{FF2B5EF4-FFF2-40B4-BE49-F238E27FC236}">
                <a16:creationId xmlns:a16="http://schemas.microsoft.com/office/drawing/2014/main" id="{1C1F40F5-CC89-47EA-F6CC-E7B75726F1CF}"/>
              </a:ext>
            </a:extLst>
          </p:cNvPr>
          <p:cNvSpPr txBox="1">
            <a:spLocks/>
          </p:cNvSpPr>
          <p:nvPr/>
        </p:nvSpPr>
        <p:spPr>
          <a:xfrm>
            <a:off x="6657148" y="154648"/>
            <a:ext cx="2763074" cy="94644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a:t>Austria Official network</a:t>
            </a:r>
            <a:endParaRPr lang="en-GB" sz="2400"/>
          </a:p>
        </p:txBody>
      </p:sp>
      <p:pic>
        <p:nvPicPr>
          <p:cNvPr id="10" name="Picture 9">
            <a:extLst>
              <a:ext uri="{FF2B5EF4-FFF2-40B4-BE49-F238E27FC236}">
                <a16:creationId xmlns:a16="http://schemas.microsoft.com/office/drawing/2014/main" id="{50AB857E-8B19-520B-6797-B292BEC24182}"/>
              </a:ext>
            </a:extLst>
          </p:cNvPr>
          <p:cNvPicPr>
            <a:picLocks noChangeAspect="1"/>
          </p:cNvPicPr>
          <p:nvPr/>
        </p:nvPicPr>
        <p:blipFill>
          <a:blip r:embed="rId3"/>
          <a:stretch>
            <a:fillRect/>
          </a:stretch>
        </p:blipFill>
        <p:spPr>
          <a:xfrm>
            <a:off x="504824" y="1096320"/>
            <a:ext cx="9070975" cy="3745236"/>
          </a:xfrm>
          <a:prstGeom prst="rect">
            <a:avLst/>
          </a:prstGeom>
        </p:spPr>
      </p:pic>
      <p:sp>
        <p:nvSpPr>
          <p:cNvPr id="12" name="Title 1">
            <a:extLst>
              <a:ext uri="{FF2B5EF4-FFF2-40B4-BE49-F238E27FC236}">
                <a16:creationId xmlns:a16="http://schemas.microsoft.com/office/drawing/2014/main" id="{85C8F3B9-4757-2B55-3416-E38EFDC16357}"/>
              </a:ext>
            </a:extLst>
          </p:cNvPr>
          <p:cNvSpPr txBox="1">
            <a:spLocks/>
          </p:cNvSpPr>
          <p:nvPr/>
        </p:nvSpPr>
        <p:spPr>
          <a:xfrm>
            <a:off x="3447225" y="27009"/>
            <a:ext cx="2645926" cy="1673603"/>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i="1" dirty="0"/>
              <a:t>Cycle tracks</a:t>
            </a:r>
          </a:p>
          <a:p>
            <a:pPr algn="ctr"/>
            <a:r>
              <a:rPr lang="en-US" sz="1400" i="1" dirty="0"/>
              <a:t>Cycle and pedestrian tracks</a:t>
            </a:r>
          </a:p>
          <a:p>
            <a:pPr algn="ctr"/>
            <a:r>
              <a:rPr lang="en-US" sz="1400" i="1" dirty="0"/>
              <a:t>Cycle lanes</a:t>
            </a:r>
          </a:p>
          <a:p>
            <a:pPr algn="ctr"/>
            <a:r>
              <a:rPr lang="en-US" sz="1400" i="1" dirty="0"/>
              <a:t>Bus and Cycle lanes</a:t>
            </a:r>
          </a:p>
          <a:p>
            <a:pPr algn="ctr"/>
            <a:r>
              <a:rPr lang="en-US" sz="1400" i="1" dirty="0"/>
              <a:t>Cycle street</a:t>
            </a:r>
          </a:p>
          <a:p>
            <a:pPr algn="ctr"/>
            <a:r>
              <a:rPr lang="en-US" sz="1400" i="1" dirty="0"/>
              <a:t>30 km/h roads</a:t>
            </a:r>
          </a:p>
          <a:p>
            <a:pPr algn="ctr"/>
            <a:r>
              <a:rPr lang="en-US" sz="1400" i="1" dirty="0"/>
              <a:t>Specific service roads</a:t>
            </a:r>
          </a:p>
          <a:p>
            <a:pPr algn="ctr"/>
            <a:r>
              <a:rPr lang="en-US" sz="1400" i="1" dirty="0"/>
              <a:t>Contraflow cycling</a:t>
            </a:r>
            <a:endParaRPr lang="en-GB" sz="1400" i="1" dirty="0"/>
          </a:p>
        </p:txBody>
      </p:sp>
      <p:cxnSp>
        <p:nvCxnSpPr>
          <p:cNvPr id="14" name="Straight Arrow Connector 13">
            <a:extLst>
              <a:ext uri="{FF2B5EF4-FFF2-40B4-BE49-F238E27FC236}">
                <a16:creationId xmlns:a16="http://schemas.microsoft.com/office/drawing/2014/main" id="{581DA029-8A35-629F-F62F-F61DFFA50C7B}"/>
              </a:ext>
            </a:extLst>
          </p:cNvPr>
          <p:cNvCxnSpPr>
            <a:cxnSpLocks/>
            <a:stCxn id="2" idx="3"/>
            <a:endCxn id="12" idx="1"/>
          </p:cNvCxnSpPr>
          <p:nvPr/>
        </p:nvCxnSpPr>
        <p:spPr>
          <a:xfrm>
            <a:off x="2800351" y="623100"/>
            <a:ext cx="646874" cy="2407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590ACE81-6509-1177-6B7F-833660D95F38}"/>
              </a:ext>
            </a:extLst>
          </p:cNvPr>
          <p:cNvCxnSpPr>
            <a:cxnSpLocks/>
            <a:stCxn id="6" idx="1"/>
            <a:endCxn id="12" idx="3"/>
          </p:cNvCxnSpPr>
          <p:nvPr/>
        </p:nvCxnSpPr>
        <p:spPr>
          <a:xfrm flipH="1">
            <a:off x="6093151" y="627868"/>
            <a:ext cx="563997" cy="2359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3136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47CD2E84-6765-895A-86C7-408F10E9883D}"/>
              </a:ext>
            </a:extLst>
          </p:cNvPr>
          <p:cNvGraphicFramePr>
            <a:graphicFrameLocks/>
          </p:cNvGraphicFramePr>
          <p:nvPr>
            <p:extLst>
              <p:ext uri="{D42A27DB-BD31-4B8C-83A1-F6EECF244321}">
                <p14:modId xmlns:p14="http://schemas.microsoft.com/office/powerpoint/2010/main" val="3352268182"/>
              </p:ext>
            </p:extLst>
          </p:nvPr>
        </p:nvGraphicFramePr>
        <p:xfrm>
          <a:off x="693042" y="911297"/>
          <a:ext cx="9387583" cy="38479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Shape 1">
            <a:extLst>
              <a:ext uri="{FF2B5EF4-FFF2-40B4-BE49-F238E27FC236}">
                <a16:creationId xmlns:a16="http://schemas.microsoft.com/office/drawing/2014/main" id="{5D422423-1EE0-B606-ABFD-AF475278C008}"/>
              </a:ext>
            </a:extLst>
          </p:cNvPr>
          <p:cNvSpPr txBox="1"/>
          <p:nvPr/>
        </p:nvSpPr>
        <p:spPr>
          <a:xfrm>
            <a:off x="504000" y="226080"/>
            <a:ext cx="9071640" cy="560133"/>
          </a:xfrm>
          <a:prstGeom prst="rect">
            <a:avLst/>
          </a:prstGeom>
          <a:noFill/>
          <a:ln>
            <a:noFill/>
          </a:ln>
        </p:spPr>
        <p:txBody>
          <a:bodyPr lIns="0" tIns="0" rIns="0" bIns="0" anchor="ctr">
            <a:noAutofit/>
          </a:bodyPr>
          <a:lstStyle/>
          <a:p>
            <a:pPr marL="108000" algn="ctr">
              <a:spcBef>
                <a:spcPts val="1417"/>
              </a:spcBef>
              <a:buClr>
                <a:srgbClr val="001553"/>
              </a:buClr>
              <a:buSzPct val="45000"/>
            </a:pPr>
            <a:r>
              <a:rPr lang="en-GB" sz="2800" b="1" spc="-1">
                <a:solidFill>
                  <a:srgbClr val="001553"/>
                </a:solidFill>
                <a:latin typeface="Raleway"/>
              </a:rPr>
              <a:t>Comparison methodology</a:t>
            </a:r>
            <a:endParaRPr lang="en-GB" sz="2800" b="1" strike="noStrike" spc="-1">
              <a:solidFill>
                <a:srgbClr val="001553"/>
              </a:solidFill>
              <a:latin typeface="Raleway"/>
            </a:endParaRPr>
          </a:p>
        </p:txBody>
      </p:sp>
    </p:spTree>
    <p:extLst>
      <p:ext uri="{BB962C8B-B14F-4D97-AF65-F5344CB8AC3E}">
        <p14:creationId xmlns:p14="http://schemas.microsoft.com/office/powerpoint/2010/main" val="4138779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BAA25B-025E-0DCB-0D5B-3A615492C02D}"/>
              </a:ext>
            </a:extLst>
          </p:cNvPr>
          <p:cNvPicPr>
            <a:picLocks noChangeAspect="1"/>
          </p:cNvPicPr>
          <p:nvPr/>
        </p:nvPicPr>
        <p:blipFill>
          <a:blip r:embed="rId3"/>
          <a:stretch>
            <a:fillRect/>
          </a:stretch>
        </p:blipFill>
        <p:spPr>
          <a:xfrm>
            <a:off x="161926" y="2157924"/>
            <a:ext cx="4648199" cy="2471314"/>
          </a:xfrm>
          <a:prstGeom prst="rect">
            <a:avLst/>
          </a:prstGeom>
        </p:spPr>
      </p:pic>
      <p:sp>
        <p:nvSpPr>
          <p:cNvPr id="6" name="Title 1">
            <a:extLst>
              <a:ext uri="{FF2B5EF4-FFF2-40B4-BE49-F238E27FC236}">
                <a16:creationId xmlns:a16="http://schemas.microsoft.com/office/drawing/2014/main" id="{B0D785F6-1591-0B62-4B30-1FC153CE04FC}"/>
              </a:ext>
            </a:extLst>
          </p:cNvPr>
          <p:cNvSpPr>
            <a:spLocks noGrp="1"/>
          </p:cNvSpPr>
          <p:nvPr>
            <p:ph type="title"/>
          </p:nvPr>
        </p:nvSpPr>
        <p:spPr>
          <a:xfrm>
            <a:off x="408751" y="149880"/>
            <a:ext cx="2277300" cy="946440"/>
          </a:xfrm>
        </p:spPr>
        <p:txBody>
          <a:bodyPr/>
          <a:lstStyle/>
          <a:p>
            <a:pPr algn="ctr"/>
            <a:r>
              <a:rPr lang="en-US" sz="2400">
                <a:solidFill>
                  <a:schemeClr val="accent4">
                    <a:lumMod val="75000"/>
                  </a:schemeClr>
                </a:solidFill>
              </a:rPr>
              <a:t> Austria OSM buffer zone</a:t>
            </a:r>
            <a:endParaRPr lang="en-GB" sz="2400">
              <a:solidFill>
                <a:schemeClr val="accent4">
                  <a:lumMod val="75000"/>
                </a:schemeClr>
              </a:solidFill>
            </a:endParaRPr>
          </a:p>
        </p:txBody>
      </p:sp>
      <p:sp>
        <p:nvSpPr>
          <p:cNvPr id="7" name="Title 1">
            <a:extLst>
              <a:ext uri="{FF2B5EF4-FFF2-40B4-BE49-F238E27FC236}">
                <a16:creationId xmlns:a16="http://schemas.microsoft.com/office/drawing/2014/main" id="{B1BCAC73-56CF-E289-EEDE-6E41A5E7969B}"/>
              </a:ext>
            </a:extLst>
          </p:cNvPr>
          <p:cNvSpPr txBox="1">
            <a:spLocks/>
          </p:cNvSpPr>
          <p:nvPr/>
        </p:nvSpPr>
        <p:spPr>
          <a:xfrm>
            <a:off x="6657148" y="154648"/>
            <a:ext cx="2763074" cy="94644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a:solidFill>
                  <a:schemeClr val="accent6">
                    <a:lumMod val="75000"/>
                  </a:schemeClr>
                </a:solidFill>
              </a:rPr>
              <a:t>Austria Official buffer zone</a:t>
            </a:r>
            <a:endParaRPr lang="en-GB" sz="2400">
              <a:solidFill>
                <a:schemeClr val="accent6">
                  <a:lumMod val="75000"/>
                </a:schemeClr>
              </a:solidFill>
            </a:endParaRPr>
          </a:p>
        </p:txBody>
      </p:sp>
      <p:sp>
        <p:nvSpPr>
          <p:cNvPr id="8" name="Title 1">
            <a:extLst>
              <a:ext uri="{FF2B5EF4-FFF2-40B4-BE49-F238E27FC236}">
                <a16:creationId xmlns:a16="http://schemas.microsoft.com/office/drawing/2014/main" id="{A2AF23F1-260D-34C6-092E-7C47B811CB59}"/>
              </a:ext>
            </a:extLst>
          </p:cNvPr>
          <p:cNvSpPr txBox="1">
            <a:spLocks/>
          </p:cNvSpPr>
          <p:nvPr/>
        </p:nvSpPr>
        <p:spPr>
          <a:xfrm>
            <a:off x="3447225" y="27010"/>
            <a:ext cx="2563049" cy="1201716"/>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i="1"/>
              <a:t>10m buffer zones</a:t>
            </a:r>
            <a:endParaRPr lang="en-GB" sz="1600" i="1"/>
          </a:p>
        </p:txBody>
      </p:sp>
      <p:pic>
        <p:nvPicPr>
          <p:cNvPr id="13" name="Picture 12">
            <a:extLst>
              <a:ext uri="{FF2B5EF4-FFF2-40B4-BE49-F238E27FC236}">
                <a16:creationId xmlns:a16="http://schemas.microsoft.com/office/drawing/2014/main" id="{46193D41-47AE-1DAC-31A0-58ADA14D02BB}"/>
              </a:ext>
            </a:extLst>
          </p:cNvPr>
          <p:cNvPicPr>
            <a:picLocks noChangeAspect="1"/>
          </p:cNvPicPr>
          <p:nvPr/>
        </p:nvPicPr>
        <p:blipFill>
          <a:blip r:embed="rId4"/>
          <a:stretch>
            <a:fillRect/>
          </a:stretch>
        </p:blipFill>
        <p:spPr>
          <a:xfrm>
            <a:off x="5147654" y="2047293"/>
            <a:ext cx="4657235" cy="2471314"/>
          </a:xfrm>
          <a:prstGeom prst="rect">
            <a:avLst/>
          </a:prstGeom>
        </p:spPr>
      </p:pic>
      <p:cxnSp>
        <p:nvCxnSpPr>
          <p:cNvPr id="15" name="Straight Arrow Connector 14">
            <a:extLst>
              <a:ext uri="{FF2B5EF4-FFF2-40B4-BE49-F238E27FC236}">
                <a16:creationId xmlns:a16="http://schemas.microsoft.com/office/drawing/2014/main" id="{E841C78E-FF29-A04D-99EE-EB8AF338BB7A}"/>
              </a:ext>
            </a:extLst>
          </p:cNvPr>
          <p:cNvCxnSpPr>
            <a:cxnSpLocks/>
          </p:cNvCxnSpPr>
          <p:nvPr/>
        </p:nvCxnSpPr>
        <p:spPr>
          <a:xfrm flipH="1">
            <a:off x="2686051" y="623100"/>
            <a:ext cx="875475" cy="103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39F13C94-9D52-2DEB-F64C-073F104A75D0}"/>
              </a:ext>
            </a:extLst>
          </p:cNvPr>
          <p:cNvCxnSpPr>
            <a:stCxn id="8" idx="3"/>
            <a:endCxn id="7" idx="1"/>
          </p:cNvCxnSpPr>
          <p:nvPr/>
        </p:nvCxnSpPr>
        <p:spPr>
          <a:xfrm>
            <a:off x="6010274" y="627868"/>
            <a:ext cx="646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71015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983B-7665-60A7-DC16-78F1C0E197D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D5FF129-9DBF-555C-87F9-6DCF2FF6CE7E}"/>
              </a:ext>
            </a:extLst>
          </p:cNvPr>
          <p:cNvSpPr>
            <a:spLocks noGrp="1"/>
          </p:cNvSpPr>
          <p:nvPr>
            <p:ph type="title"/>
          </p:nvPr>
        </p:nvSpPr>
        <p:spPr>
          <a:xfrm>
            <a:off x="523051" y="149880"/>
            <a:ext cx="2277300" cy="946440"/>
          </a:xfrm>
        </p:spPr>
        <p:txBody>
          <a:bodyPr/>
          <a:lstStyle/>
          <a:p>
            <a:pPr algn="ctr"/>
            <a:r>
              <a:rPr lang="en-US" sz="2400" dirty="0">
                <a:solidFill>
                  <a:srgbClr val="C00000"/>
                </a:solidFill>
              </a:rPr>
              <a:t>Austria OSM network</a:t>
            </a:r>
            <a:endParaRPr lang="en-GB" sz="2400" dirty="0">
              <a:solidFill>
                <a:srgbClr val="C00000"/>
              </a:solidFill>
            </a:endParaRPr>
          </a:p>
        </p:txBody>
      </p:sp>
      <p:sp>
        <p:nvSpPr>
          <p:cNvPr id="7" name="Title 1">
            <a:extLst>
              <a:ext uri="{FF2B5EF4-FFF2-40B4-BE49-F238E27FC236}">
                <a16:creationId xmlns:a16="http://schemas.microsoft.com/office/drawing/2014/main" id="{6AD8FC91-5874-8ABF-E10C-C52ED7F31668}"/>
              </a:ext>
            </a:extLst>
          </p:cNvPr>
          <p:cNvSpPr txBox="1">
            <a:spLocks/>
          </p:cNvSpPr>
          <p:nvPr/>
        </p:nvSpPr>
        <p:spPr>
          <a:xfrm>
            <a:off x="6657148" y="154648"/>
            <a:ext cx="2763074" cy="94644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a:t>Austria Official network</a:t>
            </a:r>
            <a:endParaRPr lang="en-GB" sz="2400"/>
          </a:p>
        </p:txBody>
      </p:sp>
      <p:sp>
        <p:nvSpPr>
          <p:cNvPr id="8" name="Title 1">
            <a:extLst>
              <a:ext uri="{FF2B5EF4-FFF2-40B4-BE49-F238E27FC236}">
                <a16:creationId xmlns:a16="http://schemas.microsoft.com/office/drawing/2014/main" id="{86A53863-8CD5-AD47-7C6E-67283150D501}"/>
              </a:ext>
            </a:extLst>
          </p:cNvPr>
          <p:cNvSpPr txBox="1">
            <a:spLocks/>
          </p:cNvSpPr>
          <p:nvPr/>
        </p:nvSpPr>
        <p:spPr>
          <a:xfrm>
            <a:off x="3447225" y="27010"/>
            <a:ext cx="2563049" cy="1201716"/>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i="1"/>
              <a:t>Angle check</a:t>
            </a:r>
            <a:endParaRPr lang="en-GB" sz="1600" i="1"/>
          </a:p>
        </p:txBody>
      </p:sp>
      <p:pic>
        <p:nvPicPr>
          <p:cNvPr id="3" name="Picture 2">
            <a:extLst>
              <a:ext uri="{FF2B5EF4-FFF2-40B4-BE49-F238E27FC236}">
                <a16:creationId xmlns:a16="http://schemas.microsoft.com/office/drawing/2014/main" id="{1F3AD898-7A9F-31CC-0CB7-DDFA993723D3}"/>
              </a:ext>
            </a:extLst>
          </p:cNvPr>
          <p:cNvPicPr>
            <a:picLocks noChangeAspect="1"/>
          </p:cNvPicPr>
          <p:nvPr/>
        </p:nvPicPr>
        <p:blipFill>
          <a:blip r:embed="rId3"/>
          <a:stretch>
            <a:fillRect/>
          </a:stretch>
        </p:blipFill>
        <p:spPr>
          <a:xfrm>
            <a:off x="409575" y="1107797"/>
            <a:ext cx="6543675" cy="3454955"/>
          </a:xfrm>
          <a:prstGeom prst="rect">
            <a:avLst/>
          </a:prstGeom>
        </p:spPr>
      </p:pic>
      <p:sp>
        <p:nvSpPr>
          <p:cNvPr id="4" name="Title 1">
            <a:extLst>
              <a:ext uri="{FF2B5EF4-FFF2-40B4-BE49-F238E27FC236}">
                <a16:creationId xmlns:a16="http://schemas.microsoft.com/office/drawing/2014/main" id="{4AD77DEA-948B-C165-2640-0391F9A0C06B}"/>
              </a:ext>
            </a:extLst>
          </p:cNvPr>
          <p:cNvSpPr txBox="1">
            <a:spLocks/>
          </p:cNvSpPr>
          <p:nvPr/>
        </p:nvSpPr>
        <p:spPr>
          <a:xfrm>
            <a:off x="7058025" y="2362054"/>
            <a:ext cx="2763074" cy="94644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If the angle of intersection is more than 40 degrees, it is considered as not inside the official network</a:t>
            </a:r>
            <a:endParaRPr lang="en-GB" sz="1800"/>
          </a:p>
        </p:txBody>
      </p:sp>
      <p:sp>
        <p:nvSpPr>
          <p:cNvPr id="9" name="Title 1">
            <a:extLst>
              <a:ext uri="{FF2B5EF4-FFF2-40B4-BE49-F238E27FC236}">
                <a16:creationId xmlns:a16="http://schemas.microsoft.com/office/drawing/2014/main" id="{4E77B1FC-95AD-E72D-E778-1230584CC4D7}"/>
              </a:ext>
            </a:extLst>
          </p:cNvPr>
          <p:cNvSpPr txBox="1">
            <a:spLocks/>
          </p:cNvSpPr>
          <p:nvPr/>
        </p:nvSpPr>
        <p:spPr>
          <a:xfrm>
            <a:off x="7058025" y="1048696"/>
            <a:ext cx="2763074" cy="94644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a:solidFill>
                  <a:schemeClr val="accent6">
                    <a:lumMod val="75000"/>
                  </a:schemeClr>
                </a:solidFill>
              </a:rPr>
              <a:t>Austria Official buffer zone</a:t>
            </a:r>
            <a:endParaRPr lang="en-GB" sz="2400">
              <a:solidFill>
                <a:schemeClr val="accent6">
                  <a:lumMod val="75000"/>
                </a:schemeClr>
              </a:solidFill>
            </a:endParaRPr>
          </a:p>
        </p:txBody>
      </p:sp>
    </p:spTree>
    <p:extLst>
      <p:ext uri="{BB962C8B-B14F-4D97-AF65-F5344CB8AC3E}">
        <p14:creationId xmlns:p14="http://schemas.microsoft.com/office/powerpoint/2010/main" val="815883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C718C-E055-0434-09B2-7FA48B2DB38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EE47751-A276-C7D7-7C62-9D1182C597BB}"/>
              </a:ext>
            </a:extLst>
          </p:cNvPr>
          <p:cNvGraphicFramePr>
            <a:graphicFrameLocks noGrp="1"/>
          </p:cNvGraphicFramePr>
          <p:nvPr>
            <p:extLst>
              <p:ext uri="{D42A27DB-BD31-4B8C-83A1-F6EECF244321}">
                <p14:modId xmlns:p14="http://schemas.microsoft.com/office/powerpoint/2010/main" val="729733720"/>
              </p:ext>
            </p:extLst>
          </p:nvPr>
        </p:nvGraphicFramePr>
        <p:xfrm>
          <a:off x="0" y="0"/>
          <a:ext cx="4230168" cy="4796282"/>
        </p:xfrm>
        <a:graphic>
          <a:graphicData uri="http://schemas.openxmlformats.org/drawingml/2006/table">
            <a:tbl>
              <a:tblPr firstRow="1" bandRow="1">
                <a:tableStyleId>{5C22544A-7EE6-4342-B048-85BDC9FD1C3A}</a:tableStyleId>
              </a:tblPr>
              <a:tblGrid>
                <a:gridCol w="2115084">
                  <a:extLst>
                    <a:ext uri="{9D8B030D-6E8A-4147-A177-3AD203B41FA5}">
                      <a16:colId xmlns:a16="http://schemas.microsoft.com/office/drawing/2014/main" val="1138777231"/>
                    </a:ext>
                  </a:extLst>
                </a:gridCol>
                <a:gridCol w="2115084">
                  <a:extLst>
                    <a:ext uri="{9D8B030D-6E8A-4147-A177-3AD203B41FA5}">
                      <a16:colId xmlns:a16="http://schemas.microsoft.com/office/drawing/2014/main" val="903848295"/>
                    </a:ext>
                  </a:extLst>
                </a:gridCol>
              </a:tblGrid>
              <a:tr h="0">
                <a:tc>
                  <a:txBody>
                    <a:bodyPr/>
                    <a:lstStyle/>
                    <a:p>
                      <a:pPr marL="0" marR="0" algn="ctr">
                        <a:lnSpc>
                          <a:spcPct val="115000"/>
                        </a:lnSpc>
                        <a:buNone/>
                      </a:pPr>
                      <a:r>
                        <a:rPr lang="en-GB" sz="1000" b="1" kern="100">
                          <a:effectLst/>
                          <a:latin typeface="Aptos" panose="020B0004020202020204" pitchFamily="34" charset="0"/>
                          <a:ea typeface="Times New Roman" panose="02020603050405020304" pitchFamily="18" charset="0"/>
                        </a:rPr>
                        <a:t>Country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b="1" kern="100">
                          <a:effectLst/>
                          <a:latin typeface="Aptos" panose="020B0004020202020204" pitchFamily="34" charset="0"/>
                          <a:ea typeface="Times New Roman" panose="02020603050405020304" pitchFamily="18" charset="0"/>
                        </a:rPr>
                        <a:t>Area of dataset</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147808332"/>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Austria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4171212892"/>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Belgium</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Brussels, Mons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52032671"/>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Bulgaria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032190580"/>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Cyprus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71167840"/>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Czechia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Prague</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121581845"/>
                  </a:ext>
                </a:extLst>
              </a:tr>
              <a:tr h="302852">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Germany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Baden-Wurttemberg, Berlin, Brandenburg, Hamburg, Sachsen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338343947"/>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Denmark</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Copenhagen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26674093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Estonia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Tallinn, Tartu</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17483453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Spain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Bizkaia, Madrid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366573320"/>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Finland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Helsinki</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636866308"/>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France</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Nantes, Toulouse, Lyon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563370583"/>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Croatia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Zagreb</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398355394"/>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Ireland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Dublin, Cork, Waterford, Limerick, Galway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780003639"/>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Italy</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Bologna, Emilia-Romagna, Milano</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36838034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Lithuania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Vilnius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000653943"/>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Latvia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 Jurmala, </a:t>
                      </a:r>
                      <a:r>
                        <a:rPr lang="en-GB" sz="1000" kern="100" err="1">
                          <a:effectLst/>
                          <a:latin typeface="Aptos" panose="020B0004020202020204" pitchFamily="34" charset="0"/>
                          <a:ea typeface="Times New Roman" panose="02020603050405020304" pitchFamily="18" charset="0"/>
                        </a:rPr>
                        <a:t>Marupe</a:t>
                      </a:r>
                      <a:r>
                        <a:rPr lang="en-GB" sz="1000" kern="100">
                          <a:effectLst/>
                          <a:latin typeface="Aptos" panose="020B0004020202020204" pitchFamily="34" charset="0"/>
                          <a:ea typeface="Times New Roman" panose="02020603050405020304" pitchFamily="18" charset="0"/>
                        </a:rPr>
                        <a:t>, Riga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124344150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Malta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363217224"/>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Netherlands</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646036269"/>
                  </a:ext>
                </a:extLst>
              </a:tr>
              <a:tr h="302852">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Poland</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Warsaw, West Pomerania, Wielkopolski Voivodship, Wroclaw</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66732722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Portugal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Lisbon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27665976"/>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Sweden</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099850453"/>
                  </a:ext>
                </a:extLst>
              </a:tr>
              <a:tr h="155795">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Slovenia</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tc>
                  <a:txBody>
                    <a:bodyPr/>
                    <a:lstStyle/>
                    <a:p>
                      <a:pPr marL="0" marR="0" algn="ctr">
                        <a:lnSpc>
                          <a:spcPct val="115000"/>
                        </a:lnSpc>
                        <a:buNone/>
                      </a:pPr>
                      <a:r>
                        <a:rPr lang="en-GB" sz="1000" kern="100">
                          <a:effectLst/>
                          <a:latin typeface="Aptos" panose="020B0004020202020204" pitchFamily="34" charset="0"/>
                          <a:ea typeface="Times New Roman" panose="02020603050405020304" pitchFamily="18" charset="0"/>
                        </a:rPr>
                        <a:t>National</a:t>
                      </a:r>
                      <a:endParaRPr lang="en-GB" sz="1200" kern="100">
                        <a:effectLst/>
                        <a:latin typeface="Aptos" panose="020B0004020202020204" pitchFamily="34"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707882813"/>
                  </a:ext>
                </a:extLst>
              </a:tr>
            </a:tbl>
          </a:graphicData>
        </a:graphic>
      </p:graphicFrame>
      <p:sp>
        <p:nvSpPr>
          <p:cNvPr id="5" name="TextBox 4">
            <a:extLst>
              <a:ext uri="{FF2B5EF4-FFF2-40B4-BE49-F238E27FC236}">
                <a16:creationId xmlns:a16="http://schemas.microsoft.com/office/drawing/2014/main" id="{1B384165-5457-84B8-9C6C-9CA7A42CEEED}"/>
              </a:ext>
            </a:extLst>
          </p:cNvPr>
          <p:cNvSpPr txBox="1"/>
          <p:nvPr/>
        </p:nvSpPr>
        <p:spPr>
          <a:xfrm>
            <a:off x="5089324" y="196206"/>
            <a:ext cx="3655809" cy="646331"/>
          </a:xfrm>
          <a:prstGeom prst="rect">
            <a:avLst/>
          </a:prstGeom>
          <a:noFill/>
        </p:spPr>
        <p:txBody>
          <a:bodyPr wrap="none" lIns="91440" tIns="45720" rIns="91440" bIns="45720" rtlCol="0" anchor="t">
            <a:spAutoFit/>
          </a:bodyPr>
          <a:lstStyle/>
          <a:p>
            <a:r>
              <a:rPr lang="en-US" dirty="0"/>
              <a:t>(1) Official not in OSM GPKG files</a:t>
            </a:r>
          </a:p>
          <a:p>
            <a:r>
              <a:rPr lang="en-US" dirty="0"/>
              <a:t>(2) OSM not in official GPKG files</a:t>
            </a:r>
            <a:endParaRPr lang="en-GB" dirty="0"/>
          </a:p>
        </p:txBody>
      </p:sp>
      <p:sp>
        <p:nvSpPr>
          <p:cNvPr id="12" name="TextBox 11">
            <a:extLst>
              <a:ext uri="{FF2B5EF4-FFF2-40B4-BE49-F238E27FC236}">
                <a16:creationId xmlns:a16="http://schemas.microsoft.com/office/drawing/2014/main" id="{F3F51753-E6F1-B172-5682-7BDF028D9081}"/>
              </a:ext>
            </a:extLst>
          </p:cNvPr>
          <p:cNvSpPr txBox="1"/>
          <p:nvPr/>
        </p:nvSpPr>
        <p:spPr>
          <a:xfrm>
            <a:off x="5134209" y="1520978"/>
            <a:ext cx="3566040" cy="1754326"/>
          </a:xfrm>
          <a:prstGeom prst="rect">
            <a:avLst/>
          </a:prstGeom>
          <a:noFill/>
        </p:spPr>
        <p:txBody>
          <a:bodyPr wrap="square" rtlCol="0">
            <a:spAutoFit/>
          </a:bodyPr>
          <a:lstStyle/>
          <a:p>
            <a:r>
              <a:rPr lang="en-US" b="1" dirty="0"/>
              <a:t>Infrastructure type</a:t>
            </a:r>
          </a:p>
          <a:p>
            <a:r>
              <a:rPr lang="en-GB" dirty="0"/>
              <a:t>Surface type</a:t>
            </a:r>
          </a:p>
          <a:p>
            <a:r>
              <a:rPr lang="en-GB" dirty="0"/>
              <a:t>Surface quality</a:t>
            </a:r>
          </a:p>
          <a:p>
            <a:r>
              <a:rPr lang="en-GB" dirty="0"/>
              <a:t>Lighting information</a:t>
            </a:r>
          </a:p>
          <a:p>
            <a:r>
              <a:rPr lang="en-GB" dirty="0"/>
              <a:t>Width</a:t>
            </a:r>
          </a:p>
          <a:p>
            <a:r>
              <a:rPr lang="en-GB" dirty="0"/>
              <a:t>Directionality</a:t>
            </a:r>
          </a:p>
        </p:txBody>
      </p:sp>
      <p:cxnSp>
        <p:nvCxnSpPr>
          <p:cNvPr id="14" name="Straight Arrow Connector 13">
            <a:extLst>
              <a:ext uri="{FF2B5EF4-FFF2-40B4-BE49-F238E27FC236}">
                <a16:creationId xmlns:a16="http://schemas.microsoft.com/office/drawing/2014/main" id="{4DD95B33-C888-B599-3D23-9AFCFFFE7A74}"/>
              </a:ext>
            </a:extLst>
          </p:cNvPr>
          <p:cNvCxnSpPr>
            <a:cxnSpLocks/>
            <a:stCxn id="5" idx="2"/>
            <a:endCxn id="12" idx="0"/>
          </p:cNvCxnSpPr>
          <p:nvPr/>
        </p:nvCxnSpPr>
        <p:spPr>
          <a:xfrm>
            <a:off x="6917229" y="842537"/>
            <a:ext cx="0" cy="6784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40EFD5EB-95C8-431D-D3ED-8C95116968C4}"/>
              </a:ext>
            </a:extLst>
          </p:cNvPr>
          <p:cNvSpPr txBox="1"/>
          <p:nvPr/>
        </p:nvSpPr>
        <p:spPr>
          <a:xfrm>
            <a:off x="5003873" y="3953745"/>
            <a:ext cx="3826712" cy="1477328"/>
          </a:xfrm>
          <a:prstGeom prst="rect">
            <a:avLst/>
          </a:prstGeom>
          <a:noFill/>
        </p:spPr>
        <p:txBody>
          <a:bodyPr wrap="square" rtlCol="0">
            <a:spAutoFit/>
          </a:bodyPr>
          <a:lstStyle/>
          <a:p>
            <a:pPr marL="285750" indent="-285750">
              <a:buFont typeface="Arial" panose="020B0604020202020204" pitchFamily="34" charset="0"/>
              <a:buChar char="•"/>
            </a:pPr>
            <a:r>
              <a:rPr lang="en-US"/>
              <a:t>Complement OSM database through (1)</a:t>
            </a:r>
          </a:p>
          <a:p>
            <a:pPr marL="285750" indent="-285750">
              <a:buFont typeface="Arial" panose="020B0604020202020204" pitchFamily="34" charset="0"/>
              <a:buChar char="•"/>
            </a:pPr>
            <a:r>
              <a:rPr lang="en-US"/>
              <a:t>Find incorrect information through (2)</a:t>
            </a:r>
          </a:p>
          <a:p>
            <a:endParaRPr lang="en-GB"/>
          </a:p>
        </p:txBody>
      </p:sp>
      <p:cxnSp>
        <p:nvCxnSpPr>
          <p:cNvPr id="22" name="Straight Arrow Connector 21">
            <a:extLst>
              <a:ext uri="{FF2B5EF4-FFF2-40B4-BE49-F238E27FC236}">
                <a16:creationId xmlns:a16="http://schemas.microsoft.com/office/drawing/2014/main" id="{742AD827-08CE-BAF3-1945-191355D81DBE}"/>
              </a:ext>
            </a:extLst>
          </p:cNvPr>
          <p:cNvCxnSpPr>
            <a:cxnSpLocks/>
            <a:stCxn id="12" idx="2"/>
            <a:endCxn id="18" idx="0"/>
          </p:cNvCxnSpPr>
          <p:nvPr/>
        </p:nvCxnSpPr>
        <p:spPr>
          <a:xfrm>
            <a:off x="6917229" y="3275304"/>
            <a:ext cx="0" cy="6784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237369E0-7A21-90BE-61FD-926166080D3E}"/>
              </a:ext>
            </a:extLst>
          </p:cNvPr>
          <p:cNvSpPr txBox="1"/>
          <p:nvPr/>
        </p:nvSpPr>
        <p:spPr>
          <a:xfrm>
            <a:off x="7660541" y="1547528"/>
            <a:ext cx="2169184" cy="338554"/>
          </a:xfrm>
          <a:prstGeom prst="rect">
            <a:avLst/>
          </a:prstGeom>
          <a:noFill/>
        </p:spPr>
        <p:txBody>
          <a:bodyPr wrap="none" rtlCol="0">
            <a:spAutoFit/>
          </a:bodyPr>
          <a:lstStyle/>
          <a:p>
            <a:r>
              <a:rPr lang="en-US" sz="1600" b="1" i="1" dirty="0"/>
              <a:t>Standardized format</a:t>
            </a:r>
            <a:endParaRPr lang="en-GB" sz="1600" b="1" i="1" dirty="0"/>
          </a:p>
        </p:txBody>
      </p:sp>
    </p:spTree>
    <p:extLst>
      <p:ext uri="{BB962C8B-B14F-4D97-AF65-F5344CB8AC3E}">
        <p14:creationId xmlns:p14="http://schemas.microsoft.com/office/powerpoint/2010/main" val="2271477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6D457-AAA8-2E98-9024-827F70D7A14B}"/>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ED7CBDD0-2D6B-E8CD-9ECB-296ACB3A2486}"/>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US" sz="2400" spc="-1">
                <a:solidFill>
                  <a:srgbClr val="001553"/>
                </a:solidFill>
                <a:latin typeface="Raleway Black"/>
              </a:rPr>
              <a:t>Preliminary results of the analysis</a:t>
            </a:r>
            <a:endParaRPr lang="en-GB" sz="2400" b="0" strike="noStrike" spc="-1">
              <a:solidFill>
                <a:srgbClr val="001553"/>
              </a:solidFill>
              <a:latin typeface="Raleway Black"/>
            </a:endParaRPr>
          </a:p>
        </p:txBody>
      </p:sp>
      <p:graphicFrame>
        <p:nvGraphicFramePr>
          <p:cNvPr id="3" name="Table 2">
            <a:extLst>
              <a:ext uri="{FF2B5EF4-FFF2-40B4-BE49-F238E27FC236}">
                <a16:creationId xmlns:a16="http://schemas.microsoft.com/office/drawing/2014/main" id="{5E501DF7-6390-C2A5-4567-A9CFEBAE4725}"/>
              </a:ext>
            </a:extLst>
          </p:cNvPr>
          <p:cNvGraphicFramePr>
            <a:graphicFrameLocks noGrp="1"/>
          </p:cNvGraphicFramePr>
          <p:nvPr>
            <p:extLst>
              <p:ext uri="{D42A27DB-BD31-4B8C-83A1-F6EECF244321}">
                <p14:modId xmlns:p14="http://schemas.microsoft.com/office/powerpoint/2010/main" val="2403946595"/>
              </p:ext>
            </p:extLst>
          </p:nvPr>
        </p:nvGraphicFramePr>
        <p:xfrm>
          <a:off x="318052" y="1103792"/>
          <a:ext cx="9501809" cy="3696808"/>
        </p:xfrm>
        <a:graphic>
          <a:graphicData uri="http://schemas.openxmlformats.org/drawingml/2006/table">
            <a:tbl>
              <a:tblPr/>
              <a:tblGrid>
                <a:gridCol w="1645191">
                  <a:extLst>
                    <a:ext uri="{9D8B030D-6E8A-4147-A177-3AD203B41FA5}">
                      <a16:colId xmlns:a16="http://schemas.microsoft.com/office/drawing/2014/main" val="2051621752"/>
                    </a:ext>
                  </a:extLst>
                </a:gridCol>
                <a:gridCol w="1359798">
                  <a:extLst>
                    <a:ext uri="{9D8B030D-6E8A-4147-A177-3AD203B41FA5}">
                      <a16:colId xmlns:a16="http://schemas.microsoft.com/office/drawing/2014/main" val="1615234981"/>
                    </a:ext>
                  </a:extLst>
                </a:gridCol>
                <a:gridCol w="1275861">
                  <a:extLst>
                    <a:ext uri="{9D8B030D-6E8A-4147-A177-3AD203B41FA5}">
                      <a16:colId xmlns:a16="http://schemas.microsoft.com/office/drawing/2014/main" val="1440680420"/>
                    </a:ext>
                  </a:extLst>
                </a:gridCol>
                <a:gridCol w="1275861">
                  <a:extLst>
                    <a:ext uri="{9D8B030D-6E8A-4147-A177-3AD203B41FA5}">
                      <a16:colId xmlns:a16="http://schemas.microsoft.com/office/drawing/2014/main" val="849282905"/>
                    </a:ext>
                  </a:extLst>
                </a:gridCol>
                <a:gridCol w="1242287">
                  <a:extLst>
                    <a:ext uri="{9D8B030D-6E8A-4147-A177-3AD203B41FA5}">
                      <a16:colId xmlns:a16="http://schemas.microsoft.com/office/drawing/2014/main" val="720728748"/>
                    </a:ext>
                  </a:extLst>
                </a:gridCol>
                <a:gridCol w="1426950">
                  <a:extLst>
                    <a:ext uri="{9D8B030D-6E8A-4147-A177-3AD203B41FA5}">
                      <a16:colId xmlns:a16="http://schemas.microsoft.com/office/drawing/2014/main" val="3549909749"/>
                    </a:ext>
                  </a:extLst>
                </a:gridCol>
                <a:gridCol w="1275861">
                  <a:extLst>
                    <a:ext uri="{9D8B030D-6E8A-4147-A177-3AD203B41FA5}">
                      <a16:colId xmlns:a16="http://schemas.microsoft.com/office/drawing/2014/main" val="3576869752"/>
                    </a:ext>
                  </a:extLst>
                </a:gridCol>
              </a:tblGrid>
              <a:tr h="746171">
                <a:tc>
                  <a:txBody>
                    <a:bodyPr/>
                    <a:lstStyle/>
                    <a:p>
                      <a:pPr algn="l" fontAlgn="base">
                        <a:lnSpc>
                          <a:spcPts val="2175"/>
                        </a:lnSpc>
                        <a:buNone/>
                      </a:pP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1" i="0">
                          <a:solidFill>
                            <a:srgbClr val="124F1A"/>
                          </a:solidFill>
                          <a:effectLst/>
                          <a:latin typeface="Aptos" panose="020B0004020202020204" pitchFamily="34" charset="0"/>
                        </a:rPr>
                        <a:t>Cities</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1" i="0">
                          <a:solidFill>
                            <a:srgbClr val="124F1A"/>
                          </a:solidFill>
                          <a:effectLst/>
                          <a:latin typeface="Aptos" panose="020B0004020202020204" pitchFamily="34" charset="0"/>
                        </a:rPr>
                        <a:t>Towns and suburbs</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1" i="0">
                          <a:solidFill>
                            <a:srgbClr val="124F1A"/>
                          </a:solidFill>
                          <a:effectLst/>
                          <a:latin typeface="Aptos" panose="020B0004020202020204" pitchFamily="34" charset="0"/>
                        </a:rPr>
                        <a:t>Rural areas</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1" i="0">
                          <a:solidFill>
                            <a:srgbClr val="124F1A"/>
                          </a:solidFill>
                          <a:effectLst/>
                          <a:latin typeface="Aptos" panose="020B0004020202020204" pitchFamily="34" charset="0"/>
                        </a:rPr>
                        <a:t>Outside LAU</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1" i="0">
                          <a:solidFill>
                            <a:srgbClr val="124F1A"/>
                          </a:solidFill>
                          <a:effectLst/>
                          <a:latin typeface="Aptos" panose="020B0004020202020204" pitchFamily="34" charset="0"/>
                        </a:rPr>
                        <a:t>Unknown</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1" i="0">
                          <a:solidFill>
                            <a:srgbClr val="124F1A"/>
                          </a:solidFill>
                          <a:effectLst/>
                          <a:latin typeface="Aptos" panose="020B0004020202020204" pitchFamily="34" charset="0"/>
                        </a:rPr>
                        <a:t>Total</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244637"/>
                  </a:ext>
                </a:extLst>
              </a:tr>
              <a:tr h="411763">
                <a:tc>
                  <a:txBody>
                    <a:bodyPr/>
                    <a:lstStyle/>
                    <a:p>
                      <a:pPr algn="r" fontAlgn="base">
                        <a:lnSpc>
                          <a:spcPts val="2175"/>
                        </a:lnSpc>
                        <a:buNone/>
                      </a:pPr>
                      <a:r>
                        <a:rPr lang="en-GB" sz="1300" b="1" i="0">
                          <a:solidFill>
                            <a:srgbClr val="124F1A"/>
                          </a:solidFill>
                          <a:effectLst/>
                          <a:latin typeface="Aptos" panose="020B0004020202020204" pitchFamily="34" charset="0"/>
                        </a:rPr>
                        <a:t>Cycle tracks</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ctr">
                    <a:lnL w="14180" cap="flat" cmpd="sng" algn="ctr">
                      <a:solidFill>
                        <a:srgbClr val="000000"/>
                      </a:solidFill>
                      <a:prstDash val="solid"/>
                      <a:round/>
                      <a:headEnd type="none" w="med" len="med"/>
                      <a:tailEnd type="none" w="med" len="med"/>
                    </a:lnL>
                    <a:lnR w="6350" cap="flat" cmpd="sng" algn="ctr">
                      <a:solidFill>
                        <a:srgbClr val="196B24"/>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60,729 km ​</a:t>
                      </a:r>
                      <a:endParaRPr lang="en-GB" sz="1300" b="0" i="0">
                        <a:solidFill>
                          <a:srgbClr val="000000"/>
                        </a:solidFill>
                        <a:effectLst/>
                      </a:endParaRPr>
                    </a:p>
                  </a:txBody>
                  <a:tcPr marL="64161" marR="64161" marT="32080" marB="32080" anchor="ctr">
                    <a:lnL w="6350" cap="flat" cmpd="sng" algn="ctr">
                      <a:solidFill>
                        <a:srgbClr val="196B24"/>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105,880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70,493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189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66,056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1" i="0">
                          <a:solidFill>
                            <a:srgbClr val="000000"/>
                          </a:solidFill>
                          <a:effectLst/>
                          <a:latin typeface="Aptos" panose="020B0004020202020204" pitchFamily="34" charset="0"/>
                        </a:rPr>
                        <a:t>303,346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418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extLst>
                  <a:ext uri="{0D108BD9-81ED-4DB2-BD59-A6C34878D82A}">
                    <a16:rowId xmlns:a16="http://schemas.microsoft.com/office/drawing/2014/main" val="4110510500"/>
                  </a:ext>
                </a:extLst>
              </a:tr>
              <a:tr h="411763">
                <a:tc>
                  <a:txBody>
                    <a:bodyPr/>
                    <a:lstStyle/>
                    <a:p>
                      <a:pPr algn="r" fontAlgn="base">
                        <a:lnSpc>
                          <a:spcPts val="2175"/>
                        </a:lnSpc>
                        <a:buNone/>
                      </a:pPr>
                      <a:r>
                        <a:rPr lang="en-GB" sz="1300" b="1" i="0">
                          <a:solidFill>
                            <a:srgbClr val="124F1A"/>
                          </a:solidFill>
                          <a:effectLst/>
                          <a:latin typeface="Aptos" panose="020B0004020202020204" pitchFamily="34" charset="0"/>
                        </a:rPr>
                        <a:t>Cycle lanes</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ctr">
                    <a:lnL w="14180" cap="flat" cmpd="sng" algn="ctr">
                      <a:solidFill>
                        <a:srgbClr val="000000"/>
                      </a:solidFill>
                      <a:prstDash val="solid"/>
                      <a:round/>
                      <a:headEnd type="none" w="med" len="med"/>
                      <a:tailEnd type="none" w="med" len="med"/>
                    </a:lnL>
                    <a:lnR w="6350" cap="flat" cmpd="sng" algn="ctr">
                      <a:solidFill>
                        <a:srgbClr val="196B24"/>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6,311km  ​</a:t>
                      </a:r>
                      <a:endParaRPr lang="en-GB" sz="1300" b="0" i="0">
                        <a:solidFill>
                          <a:srgbClr val="000000"/>
                        </a:solidFill>
                        <a:effectLst/>
                      </a:endParaRPr>
                    </a:p>
                  </a:txBody>
                  <a:tcPr marL="64161" marR="64161" marT="32080" marB="32080" anchor="ctr">
                    <a:lnL w="6350" cap="flat" cmpd="sng" algn="ctr">
                      <a:solidFill>
                        <a:srgbClr val="196B24"/>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0" i="0">
                          <a:solidFill>
                            <a:srgbClr val="000000"/>
                          </a:solidFill>
                          <a:effectLst/>
                          <a:latin typeface="Aptos" panose="020B0004020202020204" pitchFamily="34" charset="0"/>
                        </a:rPr>
                        <a:t>8,300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0" i="0">
                          <a:solidFill>
                            <a:srgbClr val="000000"/>
                          </a:solidFill>
                          <a:effectLst/>
                          <a:latin typeface="Aptos" panose="020B0004020202020204" pitchFamily="34" charset="0"/>
                        </a:rPr>
                        <a:t>4,481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0" i="0">
                          <a:solidFill>
                            <a:srgbClr val="000000"/>
                          </a:solidFill>
                          <a:effectLst/>
                          <a:latin typeface="Aptos" panose="020B0004020202020204" pitchFamily="34" charset="0"/>
                        </a:rPr>
                        <a:t>3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0" i="0">
                          <a:solidFill>
                            <a:srgbClr val="000000"/>
                          </a:solidFill>
                          <a:effectLst/>
                          <a:latin typeface="Aptos" panose="020B0004020202020204" pitchFamily="34" charset="0"/>
                        </a:rPr>
                        <a:t>10,986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1" i="0">
                          <a:solidFill>
                            <a:srgbClr val="000000"/>
                          </a:solidFill>
                          <a:effectLst/>
                          <a:latin typeface="Aptos" panose="020B0004020202020204" pitchFamily="34" charset="0"/>
                        </a:rPr>
                        <a:t>30,080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418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418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3462871"/>
                  </a:ext>
                </a:extLst>
              </a:tr>
              <a:tr h="1095354">
                <a:tc>
                  <a:txBody>
                    <a:bodyPr/>
                    <a:lstStyle/>
                    <a:p>
                      <a:pPr algn="r" fontAlgn="base">
                        <a:lnSpc>
                          <a:spcPts val="2175"/>
                        </a:lnSpc>
                        <a:buNone/>
                      </a:pPr>
                      <a:r>
                        <a:rPr lang="en-GB" sz="1300" b="1" i="0">
                          <a:solidFill>
                            <a:srgbClr val="124F1A"/>
                          </a:solidFill>
                          <a:effectLst/>
                          <a:latin typeface="Aptos" panose="020B0004020202020204" pitchFamily="34" charset="0"/>
                        </a:rPr>
                        <a:t>Cycle-friendly mixed traffic</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6350" cap="flat" cmpd="sng" algn="ctr">
                      <a:solidFill>
                        <a:srgbClr val="196B24"/>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121,758 km ​</a:t>
                      </a:r>
                      <a:endParaRPr lang="en-GB" sz="1300" b="0" i="0">
                        <a:solidFill>
                          <a:srgbClr val="000000"/>
                        </a:solidFill>
                        <a:effectLst/>
                      </a:endParaRPr>
                    </a:p>
                  </a:txBody>
                  <a:tcPr marL="64161" marR="64161" marT="32080" marB="32080" anchor="ctr">
                    <a:lnL w="6350" cap="flat" cmpd="sng" algn="ctr">
                      <a:solidFill>
                        <a:srgbClr val="196B24"/>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197,823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128,054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64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133,322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1" i="0">
                          <a:solidFill>
                            <a:srgbClr val="000000"/>
                          </a:solidFill>
                          <a:effectLst/>
                          <a:latin typeface="Aptos" panose="020B0004020202020204" pitchFamily="34" charset="0"/>
                        </a:rPr>
                        <a:t>581,021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418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extLst>
                  <a:ext uri="{0D108BD9-81ED-4DB2-BD59-A6C34878D82A}">
                    <a16:rowId xmlns:a16="http://schemas.microsoft.com/office/drawing/2014/main" val="786719138"/>
                  </a:ext>
                </a:extLst>
              </a:tr>
              <a:tr h="411763">
                <a:tc>
                  <a:txBody>
                    <a:bodyPr/>
                    <a:lstStyle/>
                    <a:p>
                      <a:pPr algn="r" fontAlgn="base">
                        <a:lnSpc>
                          <a:spcPts val="2175"/>
                        </a:lnSpc>
                        <a:buNone/>
                      </a:pPr>
                      <a:r>
                        <a:rPr lang="en-GB" sz="1300" b="1" i="0">
                          <a:solidFill>
                            <a:srgbClr val="124F1A"/>
                          </a:solidFill>
                          <a:effectLst/>
                          <a:latin typeface="Aptos" panose="020B0004020202020204" pitchFamily="34" charset="0"/>
                        </a:rPr>
                        <a:t>Total network</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6350" cap="flat" cmpd="sng" algn="ctr">
                      <a:solidFill>
                        <a:srgbClr val="196B24"/>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1" i="0">
                          <a:solidFill>
                            <a:srgbClr val="000000"/>
                          </a:solidFill>
                          <a:effectLst/>
                          <a:latin typeface="Aptos" panose="020B0004020202020204" pitchFamily="34" charset="0"/>
                        </a:rPr>
                        <a:t>188,798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6350" cap="flat" cmpd="sng" algn="ctr">
                      <a:solidFill>
                        <a:srgbClr val="196B24"/>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1" i="0">
                          <a:solidFill>
                            <a:srgbClr val="000000"/>
                          </a:solidFill>
                          <a:effectLst/>
                          <a:latin typeface="Aptos" panose="020B0004020202020204" pitchFamily="34" charset="0"/>
                        </a:rPr>
                        <a:t>312,002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1" i="0">
                          <a:solidFill>
                            <a:srgbClr val="000000"/>
                          </a:solidFill>
                          <a:effectLst/>
                          <a:latin typeface="Aptos" panose="020B0004020202020204" pitchFamily="34" charset="0"/>
                        </a:rPr>
                        <a:t>203,028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1" i="0">
                          <a:solidFill>
                            <a:srgbClr val="000000"/>
                          </a:solidFill>
                          <a:effectLst/>
                          <a:latin typeface="Aptos" panose="020B0004020202020204" pitchFamily="34" charset="0"/>
                        </a:rPr>
                        <a:t>256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1" i="0">
                          <a:solidFill>
                            <a:srgbClr val="000000"/>
                          </a:solidFill>
                          <a:effectLst/>
                          <a:latin typeface="Aptos" panose="020B0004020202020204" pitchFamily="34" charset="0"/>
                        </a:rPr>
                        <a:t>210,364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fontAlgn="base">
                        <a:lnSpc>
                          <a:spcPts val="2175"/>
                        </a:lnSpc>
                        <a:buNone/>
                      </a:pPr>
                      <a:r>
                        <a:rPr lang="en-GB" sz="1300" b="1" i="0">
                          <a:solidFill>
                            <a:srgbClr val="000000"/>
                          </a:solidFill>
                          <a:effectLst/>
                          <a:latin typeface="Aptos" panose="020B0004020202020204" pitchFamily="34" charset="0"/>
                        </a:rPr>
                        <a:t>914,447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253725"/>
                  </a:ext>
                </a:extLst>
              </a:tr>
              <a:tr h="619994">
                <a:tc>
                  <a:txBody>
                    <a:bodyPr/>
                    <a:lstStyle/>
                    <a:p>
                      <a:pPr algn="r" fontAlgn="base">
                        <a:lnSpc>
                          <a:spcPts val="2175"/>
                        </a:lnSpc>
                        <a:buNone/>
                      </a:pPr>
                      <a:r>
                        <a:rPr lang="en-GB" sz="1300" b="1" i="0">
                          <a:solidFill>
                            <a:srgbClr val="124F1A"/>
                          </a:solidFill>
                          <a:effectLst/>
                          <a:latin typeface="Aptos" panose="020B0004020202020204" pitchFamily="34" charset="0"/>
                        </a:rPr>
                        <a:t>Contraflow cycling</a:t>
                      </a:r>
                      <a:r>
                        <a:rPr lang="en-GB" sz="1300" b="0" i="1">
                          <a:solidFill>
                            <a:srgbClr val="124F1A"/>
                          </a:solidFill>
                          <a:effectLst/>
                          <a:latin typeface="Aptos" panose="020B0004020202020204" pitchFamily="34" charset="0"/>
                        </a:rPr>
                        <a:t> </a:t>
                      </a:r>
                      <a:r>
                        <a:rPr lang="en-GB" sz="1300" b="0" i="0">
                          <a:solidFill>
                            <a:srgbClr val="000000"/>
                          </a:solidFill>
                          <a:effectLst/>
                          <a:latin typeface="Aptos" panose="020B0004020202020204" pitchFamily="34" charset="0"/>
                        </a:rPr>
                        <a:t>​</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6350" cap="flat" cmpd="sng" algn="ctr">
                      <a:solidFill>
                        <a:srgbClr val="196B24"/>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8,067km  ​</a:t>
                      </a:r>
                      <a:endParaRPr lang="en-GB" sz="1300" b="0" i="0">
                        <a:solidFill>
                          <a:srgbClr val="000000"/>
                        </a:solidFill>
                        <a:effectLst/>
                      </a:endParaRPr>
                    </a:p>
                  </a:txBody>
                  <a:tcPr marL="64161" marR="64161" marT="32080" marB="32080" anchor="ctr">
                    <a:lnL w="6350" cap="flat" cmpd="sng" algn="ctr">
                      <a:solidFill>
                        <a:srgbClr val="196B24"/>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4,700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854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1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0" i="0">
                          <a:solidFill>
                            <a:srgbClr val="000000"/>
                          </a:solidFill>
                          <a:effectLst/>
                          <a:latin typeface="Aptos" panose="020B0004020202020204" pitchFamily="34" charset="0"/>
                        </a:rPr>
                        <a:t>5,954 km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tc>
                  <a:txBody>
                    <a:bodyPr/>
                    <a:lstStyle/>
                    <a:p>
                      <a:pPr algn="r" fontAlgn="base">
                        <a:lnSpc>
                          <a:spcPts val="2175"/>
                        </a:lnSpc>
                        <a:buNone/>
                      </a:pPr>
                      <a:r>
                        <a:rPr lang="en-GB" sz="1300" b="1" i="0">
                          <a:solidFill>
                            <a:srgbClr val="000000"/>
                          </a:solidFill>
                          <a:effectLst/>
                          <a:latin typeface="Aptos" panose="020B0004020202020204" pitchFamily="34" charset="0"/>
                        </a:rPr>
                        <a:t>19,576 km</a:t>
                      </a:r>
                      <a:r>
                        <a:rPr lang="en-GB" sz="1300" b="0" i="0">
                          <a:solidFill>
                            <a:srgbClr val="000000"/>
                          </a:solidFill>
                          <a:effectLst/>
                          <a:latin typeface="Aptos" panose="020B0004020202020204" pitchFamily="34" charset="0"/>
                        </a:rPr>
                        <a:t> ​</a:t>
                      </a:r>
                      <a:endParaRPr lang="en-GB" sz="1300" b="0" i="0">
                        <a:solidFill>
                          <a:srgbClr val="000000"/>
                        </a:solidFill>
                        <a:effectLst/>
                      </a:endParaRPr>
                    </a:p>
                  </a:txBody>
                  <a:tcPr marL="64161" marR="64161" marT="32080" marB="320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F0C7"/>
                    </a:solidFill>
                  </a:tcPr>
                </a:tc>
                <a:extLst>
                  <a:ext uri="{0D108BD9-81ED-4DB2-BD59-A6C34878D82A}">
                    <a16:rowId xmlns:a16="http://schemas.microsoft.com/office/drawing/2014/main" val="3595207608"/>
                  </a:ext>
                </a:extLst>
              </a:tr>
            </a:tbl>
          </a:graphicData>
        </a:graphic>
      </p:graphicFrame>
      <p:sp>
        <p:nvSpPr>
          <p:cNvPr id="4" name="Rectangle 1">
            <a:extLst>
              <a:ext uri="{FF2B5EF4-FFF2-40B4-BE49-F238E27FC236}">
                <a16:creationId xmlns:a16="http://schemas.microsoft.com/office/drawing/2014/main" id="{7131DB79-3040-FD72-FF72-E262598E14ED}"/>
              </a:ext>
            </a:extLst>
          </p:cNvPr>
          <p:cNvSpPr>
            <a:spLocks noChangeArrowheads="1"/>
          </p:cNvSpPr>
          <p:nvPr/>
        </p:nvSpPr>
        <p:spPr bwMode="auto">
          <a:xfrm>
            <a:off x="-1263645" y="639887"/>
            <a:ext cx="177896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BE" altLang="en-BE"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BE" altLang="en-BE"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E" altLang="en-B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97110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92BAA-B607-CC7A-AAE3-59753BF4DA3B}"/>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45AF0519-BAD3-D1C7-2208-53FAA0D23753}"/>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US" sz="2400" spc="-1">
                <a:solidFill>
                  <a:srgbClr val="001553"/>
                </a:solidFill>
                <a:latin typeface="Raleway Black"/>
              </a:rPr>
              <a:t>Preliminary results of the analysis</a:t>
            </a:r>
            <a:endParaRPr lang="en-GB" sz="2400" b="0" strike="noStrike" spc="-1">
              <a:solidFill>
                <a:srgbClr val="001553"/>
              </a:solidFill>
              <a:latin typeface="Raleway Black"/>
            </a:endParaRPr>
          </a:p>
        </p:txBody>
      </p:sp>
      <p:sp>
        <p:nvSpPr>
          <p:cNvPr id="4" name="Rectangle 1">
            <a:extLst>
              <a:ext uri="{FF2B5EF4-FFF2-40B4-BE49-F238E27FC236}">
                <a16:creationId xmlns:a16="http://schemas.microsoft.com/office/drawing/2014/main" id="{448A842D-2E7F-4A50-3A0D-5DA45347BC15}"/>
              </a:ext>
            </a:extLst>
          </p:cNvPr>
          <p:cNvSpPr>
            <a:spLocks noChangeArrowheads="1"/>
          </p:cNvSpPr>
          <p:nvPr/>
        </p:nvSpPr>
        <p:spPr bwMode="auto">
          <a:xfrm>
            <a:off x="-1263645" y="639887"/>
            <a:ext cx="177896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BE" altLang="en-BE"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BE" altLang="en-BE"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BE" altLang="en-BE"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20039C8C-9062-D701-1812-A313D1D2E891}"/>
              </a:ext>
            </a:extLst>
          </p:cNvPr>
          <p:cNvSpPr txBox="1"/>
          <p:nvPr/>
        </p:nvSpPr>
        <p:spPr>
          <a:xfrm>
            <a:off x="504000" y="1172520"/>
            <a:ext cx="9216470" cy="3046988"/>
          </a:xfrm>
          <a:prstGeom prst="rect">
            <a:avLst/>
          </a:prstGeom>
          <a:noFill/>
        </p:spPr>
        <p:txBody>
          <a:bodyPr wrap="square" rtlCol="0">
            <a:spAutoFit/>
          </a:bodyPr>
          <a:lstStyle/>
          <a:p>
            <a:pPr marL="285750" indent="-285750">
              <a:buFont typeface="Arial" panose="020B0604020202020204" pitchFamily="34" charset="0"/>
              <a:buChar char="•"/>
            </a:pPr>
            <a:r>
              <a:rPr lang="en-US" sz="2400" i="1" dirty="0"/>
              <a:t>Strong fragmentation of cycling infrastructure data at national, regional and local level</a:t>
            </a:r>
          </a:p>
          <a:p>
            <a:pPr marL="285750" indent="-285750">
              <a:buFont typeface="Arial" panose="020B0604020202020204" pitchFamily="34" charset="0"/>
              <a:buChar char="•"/>
            </a:pPr>
            <a:r>
              <a:rPr lang="en-US" sz="2400" i="1" dirty="0"/>
              <a:t>Great variation among the identified national, regional and local datasets regarding the infrastructure’s geographical coverage and quality parameters</a:t>
            </a:r>
          </a:p>
          <a:p>
            <a:pPr marL="285750" indent="-285750">
              <a:buFont typeface="Arial" panose="020B0604020202020204" pitchFamily="34" charset="0"/>
              <a:buChar char="•"/>
            </a:pPr>
            <a:r>
              <a:rPr lang="en-US" sz="2400" dirty="0"/>
              <a:t>Need for standardized data practices to facilitate data integration, harmonization and, ultimately, dataset usability across the EU </a:t>
            </a:r>
            <a:r>
              <a:rPr lang="en-US" sz="2400" dirty="0">
                <a:sym typeface="Wingdings" panose="05000000000000000000" pitchFamily="2" charset="2"/>
              </a:rPr>
              <a:t> OSM can play a significant role</a:t>
            </a:r>
            <a:endParaRPr lang="en-US" sz="2400" dirty="0"/>
          </a:p>
        </p:txBody>
      </p:sp>
    </p:spTree>
    <p:extLst>
      <p:ext uri="{BB962C8B-B14F-4D97-AF65-F5344CB8AC3E}">
        <p14:creationId xmlns:p14="http://schemas.microsoft.com/office/powerpoint/2010/main" val="844547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C6150-3822-5812-F5F8-8B354881E8CE}"/>
            </a:ext>
          </a:extLst>
        </p:cNvPr>
        <p:cNvGrpSpPr/>
        <p:nvPr/>
      </p:nvGrpSpPr>
      <p:grpSpPr>
        <a:xfrm>
          <a:off x="0" y="0"/>
          <a:ext cx="0" cy="0"/>
          <a:chOff x="0" y="0"/>
          <a:chExt cx="0" cy="0"/>
        </a:xfrm>
      </p:grpSpPr>
      <p:sp>
        <p:nvSpPr>
          <p:cNvPr id="53" name="TextShape 1">
            <a:extLst>
              <a:ext uri="{FF2B5EF4-FFF2-40B4-BE49-F238E27FC236}">
                <a16:creationId xmlns:a16="http://schemas.microsoft.com/office/drawing/2014/main" id="{A6E761C7-E6A5-A26A-7619-CED122221773}"/>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US" sz="2400" b="0" strike="noStrike" spc="-1">
                <a:solidFill>
                  <a:srgbClr val="001553"/>
                </a:solidFill>
                <a:latin typeface="Raleway Black"/>
              </a:rPr>
              <a:t>EuroVelo use case</a:t>
            </a:r>
            <a:endParaRPr lang="en-GB" sz="2400" b="0" strike="noStrike" spc="-1">
              <a:solidFill>
                <a:srgbClr val="001553"/>
              </a:solidFill>
              <a:latin typeface="Raleway Black"/>
            </a:endParaRPr>
          </a:p>
        </p:txBody>
      </p:sp>
      <p:pic>
        <p:nvPicPr>
          <p:cNvPr id="2" name="Picture 1" descr="Map&#10;&#10;Description automatically generated">
            <a:extLst>
              <a:ext uri="{FF2B5EF4-FFF2-40B4-BE49-F238E27FC236}">
                <a16:creationId xmlns:a16="http://schemas.microsoft.com/office/drawing/2014/main" id="{9982C133-6866-1ECB-F01A-AE7D8168BF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9820" y="1172520"/>
            <a:ext cx="4717771" cy="4377142"/>
          </a:xfrm>
          <a:prstGeom prst="rect">
            <a:avLst/>
          </a:prstGeom>
        </p:spPr>
      </p:pic>
      <p:sp>
        <p:nvSpPr>
          <p:cNvPr id="7" name="TextBox 6">
            <a:extLst>
              <a:ext uri="{FF2B5EF4-FFF2-40B4-BE49-F238E27FC236}">
                <a16:creationId xmlns:a16="http://schemas.microsoft.com/office/drawing/2014/main" id="{D2262594-FBA0-3DF0-56FB-847FD27CC939}"/>
              </a:ext>
            </a:extLst>
          </p:cNvPr>
          <p:cNvSpPr txBox="1"/>
          <p:nvPr/>
        </p:nvSpPr>
        <p:spPr>
          <a:xfrm>
            <a:off x="323034" y="2419776"/>
            <a:ext cx="4366901" cy="830997"/>
          </a:xfrm>
          <a:prstGeom prst="rect">
            <a:avLst/>
          </a:prstGeom>
          <a:noFill/>
        </p:spPr>
        <p:txBody>
          <a:bodyPr wrap="square" rtlCol="0">
            <a:spAutoFit/>
          </a:bodyPr>
          <a:lstStyle/>
          <a:p>
            <a:r>
              <a:rPr lang="en-US" sz="2800" err="1">
                <a:latin typeface="Raleway" pitchFamily="2" charset="0"/>
              </a:rPr>
              <a:t>EuroVelo</a:t>
            </a:r>
            <a:r>
              <a:rPr lang="en-US" sz="2800">
                <a:latin typeface="Raleway" pitchFamily="2" charset="0"/>
              </a:rPr>
              <a:t> Network</a:t>
            </a:r>
            <a:r>
              <a:rPr lang="en-US" sz="2000">
                <a:latin typeface="Raleway" pitchFamily="2" charset="0"/>
              </a:rPr>
              <a:t>: </a:t>
            </a:r>
            <a:r>
              <a:rPr lang="en-US" sz="2000" i="1">
                <a:latin typeface="Raleway" pitchFamily="2" charset="0"/>
              </a:rPr>
              <a:t>European Cycle Route network</a:t>
            </a:r>
            <a:endParaRPr lang="en-GB" sz="1600" i="1">
              <a:latin typeface="Raleway" pitchFamily="2" charset="0"/>
            </a:endParaRPr>
          </a:p>
        </p:txBody>
      </p:sp>
    </p:spTree>
    <p:extLst>
      <p:ext uri="{BB962C8B-B14F-4D97-AF65-F5344CB8AC3E}">
        <p14:creationId xmlns:p14="http://schemas.microsoft.com/office/powerpoint/2010/main" val="3677863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D1AA306-8094-7988-B237-5922FBC046AC}"/>
              </a:ext>
            </a:extLst>
          </p:cNvPr>
          <p:cNvSpPr>
            <a:spLocks noGrp="1"/>
          </p:cNvSpPr>
          <p:nvPr>
            <p:ph type="title"/>
          </p:nvPr>
        </p:nvSpPr>
        <p:spPr>
          <a:xfrm>
            <a:off x="441222" y="1458188"/>
            <a:ext cx="4290071" cy="797694"/>
          </a:xfrm>
        </p:spPr>
        <p:txBody>
          <a:bodyPr lIns="0" tIns="0" rIns="0" bIns="0">
            <a:normAutofit fontScale="90000"/>
          </a:bodyPr>
          <a:lstStyle/>
          <a:p>
            <a:r>
              <a:rPr lang="en-US" sz="3200" err="1">
                <a:solidFill>
                  <a:schemeClr val="tx2"/>
                </a:solidFill>
              </a:rPr>
              <a:t>Organisation</a:t>
            </a:r>
            <a:r>
              <a:rPr lang="en-US" sz="3200">
                <a:solidFill>
                  <a:schemeClr val="tx2"/>
                </a:solidFill>
              </a:rPr>
              <a:t> of EuroVelo </a:t>
            </a:r>
            <a:r>
              <a:rPr lang="en-US" sz="3200" b="1">
                <a:solidFill>
                  <a:schemeClr val="tx2"/>
                </a:solidFill>
              </a:rPr>
              <a:t>NECCs network</a:t>
            </a:r>
            <a:endParaRPr lang="en-BE" sz="3200" b="1">
              <a:solidFill>
                <a:schemeClr val="tx2"/>
              </a:solidFill>
            </a:endParaRPr>
          </a:p>
        </p:txBody>
      </p:sp>
      <p:sp>
        <p:nvSpPr>
          <p:cNvPr id="5" name="Content Placeholder 2">
            <a:extLst>
              <a:ext uri="{FF2B5EF4-FFF2-40B4-BE49-F238E27FC236}">
                <a16:creationId xmlns:a16="http://schemas.microsoft.com/office/drawing/2014/main" id="{882A66E4-BC4B-73C2-B46F-608240565970}"/>
              </a:ext>
            </a:extLst>
          </p:cNvPr>
          <p:cNvSpPr txBox="1">
            <a:spLocks/>
          </p:cNvSpPr>
          <p:nvPr/>
        </p:nvSpPr>
        <p:spPr>
          <a:xfrm>
            <a:off x="307476" y="2817760"/>
            <a:ext cx="4557565" cy="1833159"/>
          </a:xfrm>
          <a:prstGeom prst="rect">
            <a:avLst/>
          </a:prstGeom>
        </p:spPr>
        <p:txBody>
          <a:bodyPr vert="horz" lIns="0" tIns="0" rIns="0" bIns="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2"/>
              </a:buClr>
            </a:pPr>
            <a:r>
              <a:rPr lang="en-US" sz="2200" b="1">
                <a:solidFill>
                  <a:schemeClr val="tx2"/>
                </a:solidFill>
              </a:rPr>
              <a:t>26 </a:t>
            </a:r>
            <a:r>
              <a:rPr lang="en-US" sz="2200">
                <a:solidFill>
                  <a:schemeClr val="tx2"/>
                </a:solidFill>
              </a:rPr>
              <a:t>National </a:t>
            </a:r>
            <a:r>
              <a:rPr lang="en-US" sz="2200" err="1">
                <a:solidFill>
                  <a:schemeClr val="tx2"/>
                </a:solidFill>
              </a:rPr>
              <a:t>EuroVelo</a:t>
            </a:r>
            <a:r>
              <a:rPr lang="en-US" sz="2200">
                <a:solidFill>
                  <a:schemeClr val="tx2"/>
                </a:solidFill>
              </a:rPr>
              <a:t> Coordination </a:t>
            </a:r>
            <a:r>
              <a:rPr lang="en-US" sz="2200" err="1">
                <a:solidFill>
                  <a:schemeClr val="tx2"/>
                </a:solidFill>
              </a:rPr>
              <a:t>Centres</a:t>
            </a:r>
            <a:endParaRPr lang="en-US" sz="2200">
              <a:solidFill>
                <a:schemeClr val="tx2"/>
              </a:solidFill>
            </a:endParaRPr>
          </a:p>
          <a:p>
            <a:pPr>
              <a:buClr>
                <a:schemeClr val="tx2"/>
              </a:buClr>
            </a:pPr>
            <a:r>
              <a:rPr lang="en-US" sz="2200">
                <a:solidFill>
                  <a:schemeClr val="tx2"/>
                </a:solidFill>
              </a:rPr>
              <a:t>Responsible for the implementation, coordination, quality assurance and communication of </a:t>
            </a:r>
            <a:r>
              <a:rPr lang="en-US" sz="2200" err="1">
                <a:solidFill>
                  <a:schemeClr val="tx2"/>
                </a:solidFill>
              </a:rPr>
              <a:t>EuroVelo</a:t>
            </a:r>
            <a:r>
              <a:rPr lang="en-US" sz="2200">
                <a:solidFill>
                  <a:schemeClr val="tx2"/>
                </a:solidFill>
              </a:rPr>
              <a:t> nationally</a:t>
            </a:r>
          </a:p>
          <a:p>
            <a:pPr>
              <a:buClr>
                <a:schemeClr val="tx2"/>
              </a:buClr>
            </a:pPr>
            <a:r>
              <a:rPr lang="en-US" sz="2200">
                <a:solidFill>
                  <a:schemeClr val="tx2"/>
                </a:solidFill>
              </a:rPr>
              <a:t>Subsidiarity principle</a:t>
            </a:r>
          </a:p>
        </p:txBody>
      </p:sp>
      <p:sp>
        <p:nvSpPr>
          <p:cNvPr id="7" name="TextShape 1">
            <a:extLst>
              <a:ext uri="{FF2B5EF4-FFF2-40B4-BE49-F238E27FC236}">
                <a16:creationId xmlns:a16="http://schemas.microsoft.com/office/drawing/2014/main" id="{C868BB1A-6956-BD00-88C8-18799D2FFA68}"/>
              </a:ext>
            </a:extLst>
          </p:cNvPr>
          <p:cNvSpPr txBox="1"/>
          <p:nvPr/>
        </p:nvSpPr>
        <p:spPr>
          <a:xfrm>
            <a:off x="504492" y="141162"/>
            <a:ext cx="9071640" cy="946440"/>
          </a:xfrm>
          <a:prstGeom prst="rect">
            <a:avLst/>
          </a:prstGeom>
          <a:noFill/>
          <a:ln>
            <a:noFill/>
          </a:ln>
        </p:spPr>
        <p:txBody>
          <a:bodyPr lIns="0" tIns="0" rIns="0" bIns="0" anchor="ctr">
            <a:noAutofit/>
          </a:bodyPr>
          <a:lstStyle/>
          <a:p>
            <a:pPr algn="ctr"/>
            <a:r>
              <a:rPr lang="en-US" sz="2400" b="0" strike="noStrike" spc="-1">
                <a:solidFill>
                  <a:srgbClr val="001553"/>
                </a:solidFill>
                <a:latin typeface="Raleway Black"/>
              </a:rPr>
              <a:t>EuroVelo use case</a:t>
            </a:r>
            <a:endParaRPr lang="en-GB" sz="2400" b="0" strike="noStrike" spc="-1">
              <a:solidFill>
                <a:srgbClr val="001553"/>
              </a:solidFill>
              <a:latin typeface="Raleway Black"/>
            </a:endParaRPr>
          </a:p>
        </p:txBody>
      </p:sp>
      <p:pic>
        <p:nvPicPr>
          <p:cNvPr id="2" name="Picture 1" descr="A map of europe with different colored countries/regions&#10;&#10;AI-generated content may be incorrect.">
            <a:extLst>
              <a:ext uri="{FF2B5EF4-FFF2-40B4-BE49-F238E27FC236}">
                <a16:creationId xmlns:a16="http://schemas.microsoft.com/office/drawing/2014/main" id="{C8BB8673-4248-6C75-BF1D-0DDEBB2F69C4}"/>
              </a:ext>
            </a:extLst>
          </p:cNvPr>
          <p:cNvPicPr>
            <a:picLocks noChangeAspect="1"/>
          </p:cNvPicPr>
          <p:nvPr/>
        </p:nvPicPr>
        <p:blipFill>
          <a:blip r:embed="rId3"/>
          <a:stretch>
            <a:fillRect/>
          </a:stretch>
        </p:blipFill>
        <p:spPr>
          <a:xfrm>
            <a:off x="5215473" y="1060760"/>
            <a:ext cx="4293315" cy="3814487"/>
          </a:xfrm>
          <a:prstGeom prst="rect">
            <a:avLst/>
          </a:prstGeom>
        </p:spPr>
      </p:pic>
    </p:spTree>
    <p:extLst>
      <p:ext uri="{BB962C8B-B14F-4D97-AF65-F5344CB8AC3E}">
        <p14:creationId xmlns:p14="http://schemas.microsoft.com/office/powerpoint/2010/main" val="1004356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3F598-B1C0-25EC-DA3D-86E1759761E4}"/>
            </a:ext>
          </a:extLst>
        </p:cNvPr>
        <p:cNvGrpSpPr/>
        <p:nvPr/>
      </p:nvGrpSpPr>
      <p:grpSpPr>
        <a:xfrm>
          <a:off x="0" y="0"/>
          <a:ext cx="0" cy="0"/>
          <a:chOff x="0" y="0"/>
          <a:chExt cx="0" cy="0"/>
        </a:xfrm>
      </p:grpSpPr>
      <p:sp>
        <p:nvSpPr>
          <p:cNvPr id="7" name="TextShape 1">
            <a:extLst>
              <a:ext uri="{FF2B5EF4-FFF2-40B4-BE49-F238E27FC236}">
                <a16:creationId xmlns:a16="http://schemas.microsoft.com/office/drawing/2014/main" id="{4F8CBD27-16AF-AAD3-EB73-6756902F5708}"/>
              </a:ext>
            </a:extLst>
          </p:cNvPr>
          <p:cNvSpPr txBox="1"/>
          <p:nvPr/>
        </p:nvSpPr>
        <p:spPr>
          <a:xfrm>
            <a:off x="504492" y="141162"/>
            <a:ext cx="9071640" cy="704872"/>
          </a:xfrm>
          <a:prstGeom prst="rect">
            <a:avLst/>
          </a:prstGeom>
          <a:noFill/>
          <a:ln>
            <a:noFill/>
          </a:ln>
        </p:spPr>
        <p:txBody>
          <a:bodyPr lIns="0" tIns="0" rIns="0" bIns="0" anchor="ctr">
            <a:noAutofit/>
          </a:bodyPr>
          <a:lstStyle/>
          <a:p>
            <a:pPr algn="ctr"/>
            <a:r>
              <a:rPr lang="en-US" sz="2400" b="0" strike="noStrike" spc="-1">
                <a:solidFill>
                  <a:srgbClr val="001553"/>
                </a:solidFill>
                <a:latin typeface="Raleway Black"/>
              </a:rPr>
              <a:t>EuroVelo use case</a:t>
            </a:r>
            <a:endParaRPr lang="en-GB" sz="2400" b="0" strike="noStrike" spc="-1">
              <a:solidFill>
                <a:srgbClr val="001553"/>
              </a:solidFill>
              <a:latin typeface="Raleway Black"/>
            </a:endParaRPr>
          </a:p>
        </p:txBody>
      </p:sp>
      <p:pic>
        <p:nvPicPr>
          <p:cNvPr id="6" name="Picture 5" descr="A red line drawing of a map&#10;&#10;AI-generated content may be incorrect.">
            <a:extLst>
              <a:ext uri="{FF2B5EF4-FFF2-40B4-BE49-F238E27FC236}">
                <a16:creationId xmlns:a16="http://schemas.microsoft.com/office/drawing/2014/main" id="{BF4E3B6A-C704-E40A-2BB4-6FEDA76CF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305" y="729866"/>
            <a:ext cx="8178324" cy="4364367"/>
          </a:xfrm>
          <a:prstGeom prst="rect">
            <a:avLst/>
          </a:prstGeom>
        </p:spPr>
      </p:pic>
      <p:sp>
        <p:nvSpPr>
          <p:cNvPr id="10" name="Title 1">
            <a:extLst>
              <a:ext uri="{FF2B5EF4-FFF2-40B4-BE49-F238E27FC236}">
                <a16:creationId xmlns:a16="http://schemas.microsoft.com/office/drawing/2014/main" id="{BC95D145-A4BC-CDEA-7FFF-747C823F70DD}"/>
              </a:ext>
            </a:extLst>
          </p:cNvPr>
          <p:cNvSpPr>
            <a:spLocks noGrp="1"/>
          </p:cNvSpPr>
          <p:nvPr>
            <p:ph type="title"/>
          </p:nvPr>
        </p:nvSpPr>
        <p:spPr>
          <a:xfrm>
            <a:off x="322967" y="141162"/>
            <a:ext cx="2277300" cy="946440"/>
          </a:xfrm>
        </p:spPr>
        <p:txBody>
          <a:bodyPr/>
          <a:lstStyle/>
          <a:p>
            <a:pPr algn="ctr"/>
            <a:r>
              <a:rPr lang="en-US" sz="2000" dirty="0">
                <a:solidFill>
                  <a:srgbClr val="C00000"/>
                </a:solidFill>
              </a:rPr>
              <a:t>Austria OSM network</a:t>
            </a:r>
            <a:endParaRPr lang="en-GB" sz="2000" dirty="0">
              <a:solidFill>
                <a:srgbClr val="C00000"/>
              </a:solidFill>
            </a:endParaRPr>
          </a:p>
        </p:txBody>
      </p:sp>
      <p:sp>
        <p:nvSpPr>
          <p:cNvPr id="11" name="Title 1">
            <a:extLst>
              <a:ext uri="{FF2B5EF4-FFF2-40B4-BE49-F238E27FC236}">
                <a16:creationId xmlns:a16="http://schemas.microsoft.com/office/drawing/2014/main" id="{76547909-08AF-4ADE-5248-4C4BA432735C}"/>
              </a:ext>
            </a:extLst>
          </p:cNvPr>
          <p:cNvSpPr txBox="1">
            <a:spLocks/>
          </p:cNvSpPr>
          <p:nvPr/>
        </p:nvSpPr>
        <p:spPr>
          <a:xfrm>
            <a:off x="6973342" y="103097"/>
            <a:ext cx="2763074" cy="946440"/>
          </a:xfrm>
          <a:prstGeom prst="rect">
            <a:avLst/>
          </a:prstGeom>
        </p:spPr>
        <p:txBody>
          <a:bodyPr lIns="0" tIns="0" rIns="0" bIns="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t>Austria Official network</a:t>
            </a:r>
            <a:endParaRPr lang="en-GB" sz="2000" dirty="0"/>
          </a:p>
        </p:txBody>
      </p:sp>
    </p:spTree>
    <p:extLst>
      <p:ext uri="{BB962C8B-B14F-4D97-AF65-F5344CB8AC3E}">
        <p14:creationId xmlns:p14="http://schemas.microsoft.com/office/powerpoint/2010/main" val="2247042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B99C195-4197-F59E-37B2-F71DE86E3B98}"/>
              </a:ext>
            </a:extLst>
          </p:cNvPr>
          <p:cNvSpPr txBox="1"/>
          <p:nvPr/>
        </p:nvSpPr>
        <p:spPr>
          <a:xfrm>
            <a:off x="5170647" y="1311781"/>
            <a:ext cx="3655809" cy="646331"/>
          </a:xfrm>
          <a:prstGeom prst="rect">
            <a:avLst/>
          </a:prstGeom>
          <a:noFill/>
        </p:spPr>
        <p:txBody>
          <a:bodyPr wrap="none" lIns="91440" tIns="45720" rIns="91440" bIns="45720" rtlCol="0" anchor="t">
            <a:spAutoFit/>
          </a:bodyPr>
          <a:lstStyle/>
          <a:p>
            <a:r>
              <a:rPr lang="en-US" dirty="0"/>
              <a:t>(1) Official not in OSM GPKG files</a:t>
            </a:r>
          </a:p>
          <a:p>
            <a:r>
              <a:rPr lang="en-US" dirty="0"/>
              <a:t>(2) OSM not in official GPKG files</a:t>
            </a:r>
            <a:endParaRPr lang="en-GB" dirty="0"/>
          </a:p>
        </p:txBody>
      </p:sp>
      <p:sp>
        <p:nvSpPr>
          <p:cNvPr id="5" name="TextBox 4">
            <a:extLst>
              <a:ext uri="{FF2B5EF4-FFF2-40B4-BE49-F238E27FC236}">
                <a16:creationId xmlns:a16="http://schemas.microsoft.com/office/drawing/2014/main" id="{D4E16C31-CD21-FBDC-20B1-B30BD5E06FF7}"/>
              </a:ext>
            </a:extLst>
          </p:cNvPr>
          <p:cNvSpPr txBox="1"/>
          <p:nvPr/>
        </p:nvSpPr>
        <p:spPr>
          <a:xfrm>
            <a:off x="5215531" y="2465943"/>
            <a:ext cx="3566040" cy="369332"/>
          </a:xfrm>
          <a:prstGeom prst="rect">
            <a:avLst/>
          </a:prstGeom>
          <a:noFill/>
        </p:spPr>
        <p:txBody>
          <a:bodyPr wrap="square" rtlCol="0">
            <a:spAutoFit/>
          </a:bodyPr>
          <a:lstStyle/>
          <a:p>
            <a:pPr algn="ctr"/>
            <a:r>
              <a:rPr lang="en-US" b="1" dirty="0"/>
              <a:t>Infrastructure type</a:t>
            </a:r>
          </a:p>
        </p:txBody>
      </p:sp>
      <p:cxnSp>
        <p:nvCxnSpPr>
          <p:cNvPr id="6" name="Straight Arrow Connector 5">
            <a:extLst>
              <a:ext uri="{FF2B5EF4-FFF2-40B4-BE49-F238E27FC236}">
                <a16:creationId xmlns:a16="http://schemas.microsoft.com/office/drawing/2014/main" id="{08B87B7C-7D00-C287-8913-CDDF31AED98D}"/>
              </a:ext>
            </a:extLst>
          </p:cNvPr>
          <p:cNvCxnSpPr>
            <a:cxnSpLocks/>
            <a:stCxn id="4" idx="2"/>
            <a:endCxn id="5" idx="0"/>
          </p:cNvCxnSpPr>
          <p:nvPr/>
        </p:nvCxnSpPr>
        <p:spPr>
          <a:xfrm flipH="1">
            <a:off x="6998551" y="1958112"/>
            <a:ext cx="1" cy="507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E7E93BB5-F0DC-EBFC-2582-67956F9A8394}"/>
              </a:ext>
            </a:extLst>
          </p:cNvPr>
          <p:cNvSpPr txBox="1"/>
          <p:nvPr/>
        </p:nvSpPr>
        <p:spPr>
          <a:xfrm>
            <a:off x="5085195" y="3343106"/>
            <a:ext cx="3826712" cy="1477328"/>
          </a:xfrm>
          <a:prstGeom prst="rect">
            <a:avLst/>
          </a:prstGeom>
          <a:noFill/>
        </p:spPr>
        <p:txBody>
          <a:bodyPr wrap="square" rtlCol="0">
            <a:spAutoFit/>
          </a:bodyPr>
          <a:lstStyle/>
          <a:p>
            <a:pPr marL="285750" indent="-285750">
              <a:buFont typeface="Arial" panose="020B0604020202020204" pitchFamily="34" charset="0"/>
              <a:buChar char="•"/>
            </a:pPr>
            <a:r>
              <a:rPr lang="en-US"/>
              <a:t>Complement OSM database through (1)</a:t>
            </a:r>
          </a:p>
          <a:p>
            <a:pPr marL="285750" indent="-285750">
              <a:buFont typeface="Arial" panose="020B0604020202020204" pitchFamily="34" charset="0"/>
              <a:buChar char="•"/>
            </a:pPr>
            <a:r>
              <a:rPr lang="en-US"/>
              <a:t>Find incorrect information through (2)</a:t>
            </a:r>
          </a:p>
          <a:p>
            <a:endParaRPr lang="en-GB"/>
          </a:p>
        </p:txBody>
      </p:sp>
      <p:cxnSp>
        <p:nvCxnSpPr>
          <p:cNvPr id="8" name="Straight Arrow Connector 7">
            <a:extLst>
              <a:ext uri="{FF2B5EF4-FFF2-40B4-BE49-F238E27FC236}">
                <a16:creationId xmlns:a16="http://schemas.microsoft.com/office/drawing/2014/main" id="{4756CD60-1F33-1BD1-B191-05BC21DCCF65}"/>
              </a:ext>
            </a:extLst>
          </p:cNvPr>
          <p:cNvCxnSpPr>
            <a:cxnSpLocks/>
            <a:stCxn id="5" idx="2"/>
            <a:endCxn id="7" idx="0"/>
          </p:cNvCxnSpPr>
          <p:nvPr/>
        </p:nvCxnSpPr>
        <p:spPr>
          <a:xfrm>
            <a:off x="6998551" y="2835275"/>
            <a:ext cx="0" cy="507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TextShape 1">
            <a:extLst>
              <a:ext uri="{FF2B5EF4-FFF2-40B4-BE49-F238E27FC236}">
                <a16:creationId xmlns:a16="http://schemas.microsoft.com/office/drawing/2014/main" id="{E8755A4A-65B7-4474-9646-3C9DA30E1C8B}"/>
              </a:ext>
            </a:extLst>
          </p:cNvPr>
          <p:cNvSpPr txBox="1"/>
          <p:nvPr/>
        </p:nvSpPr>
        <p:spPr>
          <a:xfrm>
            <a:off x="504000" y="226080"/>
            <a:ext cx="9071640" cy="946440"/>
          </a:xfrm>
          <a:prstGeom prst="rect">
            <a:avLst/>
          </a:prstGeom>
          <a:noFill/>
          <a:ln>
            <a:noFill/>
          </a:ln>
        </p:spPr>
        <p:txBody>
          <a:bodyPr lIns="0" tIns="0" rIns="0" bIns="0" anchor="ctr">
            <a:noAutofit/>
          </a:bodyPr>
          <a:lstStyle/>
          <a:p>
            <a:pPr algn="ctr"/>
            <a:r>
              <a:rPr lang="en-US" sz="2400" b="0" strike="noStrike" spc="-1">
                <a:solidFill>
                  <a:srgbClr val="001553"/>
                </a:solidFill>
                <a:latin typeface="Raleway Black"/>
              </a:rPr>
              <a:t>EuroVelo use case</a:t>
            </a:r>
            <a:endParaRPr lang="en-GB" sz="2400" b="0" strike="noStrike" spc="-1">
              <a:solidFill>
                <a:srgbClr val="001553"/>
              </a:solidFill>
              <a:latin typeface="Raleway Black"/>
            </a:endParaRPr>
          </a:p>
        </p:txBody>
      </p:sp>
      <p:sp>
        <p:nvSpPr>
          <p:cNvPr id="19" name="TextBox 18">
            <a:extLst>
              <a:ext uri="{FF2B5EF4-FFF2-40B4-BE49-F238E27FC236}">
                <a16:creationId xmlns:a16="http://schemas.microsoft.com/office/drawing/2014/main" id="{43592177-1400-B1EA-7017-AAA234EFEE93}"/>
              </a:ext>
            </a:extLst>
          </p:cNvPr>
          <p:cNvSpPr txBox="1"/>
          <p:nvPr/>
        </p:nvSpPr>
        <p:spPr>
          <a:xfrm>
            <a:off x="279599" y="2327443"/>
            <a:ext cx="3412184" cy="646331"/>
          </a:xfrm>
          <a:prstGeom prst="rect">
            <a:avLst/>
          </a:prstGeom>
          <a:noFill/>
        </p:spPr>
        <p:txBody>
          <a:bodyPr wrap="square" rtlCol="0">
            <a:spAutoFit/>
          </a:bodyPr>
          <a:lstStyle/>
          <a:p>
            <a:r>
              <a:rPr lang="en-US"/>
              <a:t>Comparison between NECCs data and OSM</a:t>
            </a:r>
            <a:endParaRPr lang="en-GB"/>
          </a:p>
        </p:txBody>
      </p:sp>
      <p:cxnSp>
        <p:nvCxnSpPr>
          <p:cNvPr id="23" name="Connector: Elbow 22">
            <a:extLst>
              <a:ext uri="{FF2B5EF4-FFF2-40B4-BE49-F238E27FC236}">
                <a16:creationId xmlns:a16="http://schemas.microsoft.com/office/drawing/2014/main" id="{C1EEC512-8613-7BAD-6C8C-2BB91C5ABE1F}"/>
              </a:ext>
            </a:extLst>
          </p:cNvPr>
          <p:cNvCxnSpPr>
            <a:stCxn id="19" idx="3"/>
            <a:endCxn id="4" idx="1"/>
          </p:cNvCxnSpPr>
          <p:nvPr/>
        </p:nvCxnSpPr>
        <p:spPr>
          <a:xfrm flipV="1">
            <a:off x="3691783" y="1634947"/>
            <a:ext cx="1478864" cy="101566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06348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179C1-8DAE-5764-3DB6-B65D4C370072}"/>
              </a:ext>
            </a:extLst>
          </p:cNvPr>
          <p:cNvSpPr>
            <a:spLocks noGrp="1"/>
          </p:cNvSpPr>
          <p:nvPr>
            <p:ph type="title"/>
          </p:nvPr>
        </p:nvSpPr>
        <p:spPr/>
        <p:txBody>
          <a:bodyPr/>
          <a:lstStyle/>
          <a:p>
            <a:pPr algn="ctr"/>
            <a:r>
              <a:rPr lang="en-US">
                <a:solidFill>
                  <a:schemeClr val="tx2"/>
                </a:solidFill>
              </a:rPr>
              <a:t>Next steps</a:t>
            </a:r>
            <a:endParaRPr lang="en-GB">
              <a:solidFill>
                <a:schemeClr val="tx2"/>
              </a:solidFill>
            </a:endParaRPr>
          </a:p>
        </p:txBody>
      </p:sp>
      <p:sp>
        <p:nvSpPr>
          <p:cNvPr id="4" name="TextBox 3">
            <a:extLst>
              <a:ext uri="{FF2B5EF4-FFF2-40B4-BE49-F238E27FC236}">
                <a16:creationId xmlns:a16="http://schemas.microsoft.com/office/drawing/2014/main" id="{4ECB922D-FEB4-9C32-701A-C73311122AF3}"/>
              </a:ext>
            </a:extLst>
          </p:cNvPr>
          <p:cNvSpPr txBox="1"/>
          <p:nvPr/>
        </p:nvSpPr>
        <p:spPr>
          <a:xfrm>
            <a:off x="1323789" y="2373610"/>
            <a:ext cx="7872668" cy="923330"/>
          </a:xfrm>
          <a:prstGeom prst="rect">
            <a:avLst/>
          </a:prstGeom>
          <a:noFill/>
        </p:spPr>
        <p:txBody>
          <a:bodyPr wrap="none" rtlCol="0">
            <a:spAutoFit/>
          </a:bodyPr>
          <a:lstStyle/>
          <a:p>
            <a:pPr marL="285750" indent="-285750">
              <a:buFont typeface="Arial" panose="020B0604020202020204" pitchFamily="34" charset="0"/>
              <a:buChar char="•"/>
            </a:pPr>
            <a:r>
              <a:rPr lang="en-US" dirty="0"/>
              <a:t>Identify more official datasets</a:t>
            </a:r>
          </a:p>
          <a:p>
            <a:pPr marL="285750" indent="-285750">
              <a:buFont typeface="Arial" panose="020B0604020202020204" pitchFamily="34" charset="0"/>
              <a:buChar char="•"/>
            </a:pPr>
            <a:r>
              <a:rPr lang="en-US" dirty="0"/>
              <a:t>Extend the comparison analysis to quality parameters</a:t>
            </a:r>
          </a:p>
          <a:p>
            <a:pPr marL="285750" indent="-285750">
              <a:buFont typeface="Arial" panose="020B0604020202020204" pitchFamily="34" charset="0"/>
              <a:buChar char="•"/>
            </a:pPr>
            <a:r>
              <a:rPr lang="en-US" dirty="0"/>
              <a:t>Expand the analysis to other types of cycling infrastructure and networks</a:t>
            </a:r>
            <a:endParaRPr lang="en-GB" dirty="0"/>
          </a:p>
        </p:txBody>
      </p:sp>
    </p:spTree>
    <p:extLst>
      <p:ext uri="{BB962C8B-B14F-4D97-AF65-F5344CB8AC3E}">
        <p14:creationId xmlns:p14="http://schemas.microsoft.com/office/powerpoint/2010/main" val="2051201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D1FFF-E379-76ED-CD1A-225C765DE1B9}"/>
            </a:ext>
          </a:extLst>
        </p:cNvPr>
        <p:cNvGrpSpPr/>
        <p:nvPr/>
      </p:nvGrpSpPr>
      <p:grpSpPr>
        <a:xfrm>
          <a:off x="0" y="0"/>
          <a:ext cx="0" cy="0"/>
          <a:chOff x="0" y="0"/>
          <a:chExt cx="0" cy="0"/>
        </a:xfrm>
      </p:grpSpPr>
      <p:sp>
        <p:nvSpPr>
          <p:cNvPr id="42" name="CustomShape 1">
            <a:extLst>
              <a:ext uri="{FF2B5EF4-FFF2-40B4-BE49-F238E27FC236}">
                <a16:creationId xmlns:a16="http://schemas.microsoft.com/office/drawing/2014/main" id="{C63E6B66-3F58-0927-3178-3BF5408513F8}"/>
              </a:ext>
            </a:extLst>
          </p:cNvPr>
          <p:cNvSpPr/>
          <p:nvPr/>
        </p:nvSpPr>
        <p:spPr>
          <a:xfrm>
            <a:off x="0" y="0"/>
            <a:ext cx="10080000" cy="5670000"/>
          </a:xfrm>
          <a:prstGeom prst="rect">
            <a:avLst/>
          </a:prstGeom>
          <a:solidFill>
            <a:srgbClr val="001553"/>
          </a:solidFill>
          <a:ln>
            <a:noFill/>
          </a:ln>
        </p:spPr>
        <p:style>
          <a:lnRef idx="0">
            <a:scrgbClr r="0" g="0" b="0"/>
          </a:lnRef>
          <a:fillRef idx="0">
            <a:scrgbClr r="0" g="0" b="0"/>
          </a:fillRef>
          <a:effectRef idx="0">
            <a:scrgbClr r="0" g="0" b="0"/>
          </a:effectRef>
          <a:fontRef idx="minor"/>
        </p:style>
        <p:txBody>
          <a:bodyPr/>
          <a:lstStyle/>
          <a:p>
            <a:endParaRPr lang="en-GB"/>
          </a:p>
        </p:txBody>
      </p:sp>
      <p:pic>
        <p:nvPicPr>
          <p:cNvPr id="43" name="Picture 42">
            <a:extLst>
              <a:ext uri="{FF2B5EF4-FFF2-40B4-BE49-F238E27FC236}">
                <a16:creationId xmlns:a16="http://schemas.microsoft.com/office/drawing/2014/main" id="{F0E90EC1-91D6-F4BF-2509-F1FA8EB31E0F}"/>
              </a:ext>
            </a:extLst>
          </p:cNvPr>
          <p:cNvPicPr/>
          <p:nvPr/>
        </p:nvPicPr>
        <p:blipFill>
          <a:blip r:embed="rId2"/>
          <a:srcRect r="38615" b="43168"/>
          <a:stretch/>
        </p:blipFill>
        <p:spPr>
          <a:xfrm>
            <a:off x="5158440" y="2448000"/>
            <a:ext cx="4921200" cy="3221640"/>
          </a:xfrm>
          <a:prstGeom prst="rect">
            <a:avLst/>
          </a:prstGeom>
          <a:ln>
            <a:noFill/>
          </a:ln>
        </p:spPr>
      </p:pic>
      <p:sp>
        <p:nvSpPr>
          <p:cNvPr id="44" name="CustomShape 2">
            <a:extLst>
              <a:ext uri="{FF2B5EF4-FFF2-40B4-BE49-F238E27FC236}">
                <a16:creationId xmlns:a16="http://schemas.microsoft.com/office/drawing/2014/main" id="{8B85B25E-C891-4C04-A971-A494EE4E8D75}"/>
              </a:ext>
            </a:extLst>
          </p:cNvPr>
          <p:cNvSpPr/>
          <p:nvPr/>
        </p:nvSpPr>
        <p:spPr>
          <a:xfrm>
            <a:off x="3672000" y="1172520"/>
            <a:ext cx="5903640" cy="1707480"/>
          </a:xfrm>
          <a:prstGeom prst="rect">
            <a:avLst/>
          </a:prstGeom>
          <a:solidFill>
            <a:srgbClr val="FFFFFF">
              <a:alpha val="80000"/>
            </a:srgbClr>
          </a:solidFill>
          <a:ln>
            <a:noFill/>
          </a:ln>
        </p:spPr>
        <p:style>
          <a:lnRef idx="0">
            <a:scrgbClr r="0" g="0" b="0"/>
          </a:lnRef>
          <a:fillRef idx="0">
            <a:scrgbClr r="0" g="0" b="0"/>
          </a:fillRef>
          <a:effectRef idx="0">
            <a:scrgbClr r="0" g="0" b="0"/>
          </a:effectRef>
          <a:fontRef idx="minor"/>
        </p:style>
        <p:txBody>
          <a:bodyPr/>
          <a:lstStyle/>
          <a:p>
            <a:endParaRPr lang="en-GB"/>
          </a:p>
        </p:txBody>
      </p:sp>
      <p:sp>
        <p:nvSpPr>
          <p:cNvPr id="45" name="TextShape 3">
            <a:extLst>
              <a:ext uri="{FF2B5EF4-FFF2-40B4-BE49-F238E27FC236}">
                <a16:creationId xmlns:a16="http://schemas.microsoft.com/office/drawing/2014/main" id="{63CA1E8B-38F9-F3C7-271A-18D7F2A22A42}"/>
              </a:ext>
            </a:extLst>
          </p:cNvPr>
          <p:cNvSpPr txBox="1"/>
          <p:nvPr/>
        </p:nvSpPr>
        <p:spPr>
          <a:xfrm>
            <a:off x="3724006" y="1433160"/>
            <a:ext cx="5727988" cy="1014120"/>
          </a:xfrm>
          <a:prstGeom prst="rect">
            <a:avLst/>
          </a:prstGeom>
          <a:noFill/>
          <a:ln>
            <a:noFill/>
          </a:ln>
        </p:spPr>
        <p:txBody>
          <a:bodyPr lIns="0" tIns="0" rIns="0" bIns="0" anchor="ctr">
            <a:noAutofit/>
          </a:bodyPr>
          <a:lstStyle/>
          <a:p>
            <a:pPr algn="ctr"/>
            <a:r>
              <a:rPr lang="en-US" sz="2800" b="0" strike="noStrike" spc="-1">
                <a:latin typeface="Arial"/>
              </a:rPr>
              <a:t>Complementing</a:t>
            </a:r>
            <a:r>
              <a:rPr lang="en-US" sz="2800" spc="-1">
                <a:latin typeface="Arial"/>
              </a:rPr>
              <a:t> </a:t>
            </a:r>
            <a:r>
              <a:rPr lang="en-US" sz="2800" b="0" strike="noStrike" spc="-1">
                <a:latin typeface="Arial"/>
              </a:rPr>
              <a:t>OSM Cycling Data through Official Datasets</a:t>
            </a:r>
            <a:endParaRPr lang="en-GB" sz="5400" b="0" strike="noStrike" spc="-1">
              <a:latin typeface="Arial"/>
            </a:endParaRPr>
          </a:p>
        </p:txBody>
      </p:sp>
      <p:pic>
        <p:nvPicPr>
          <p:cNvPr id="46" name="Picture 45">
            <a:extLst>
              <a:ext uri="{FF2B5EF4-FFF2-40B4-BE49-F238E27FC236}">
                <a16:creationId xmlns:a16="http://schemas.microsoft.com/office/drawing/2014/main" id="{DB8D4662-1588-6E1A-6604-50375E1151E1}"/>
              </a:ext>
            </a:extLst>
          </p:cNvPr>
          <p:cNvPicPr/>
          <p:nvPr/>
        </p:nvPicPr>
        <p:blipFill>
          <a:blip r:embed="rId3"/>
          <a:stretch/>
        </p:blipFill>
        <p:spPr>
          <a:xfrm>
            <a:off x="504000" y="1172520"/>
            <a:ext cx="3579480" cy="3579480"/>
          </a:xfrm>
          <a:prstGeom prst="rect">
            <a:avLst/>
          </a:prstGeom>
          <a:ln>
            <a:noFill/>
          </a:ln>
        </p:spPr>
      </p:pic>
      <p:sp>
        <p:nvSpPr>
          <p:cNvPr id="47" name="TextShape 4">
            <a:extLst>
              <a:ext uri="{FF2B5EF4-FFF2-40B4-BE49-F238E27FC236}">
                <a16:creationId xmlns:a16="http://schemas.microsoft.com/office/drawing/2014/main" id="{92F3D81E-2638-7912-5675-2CBE66FF7F6A}"/>
              </a:ext>
            </a:extLst>
          </p:cNvPr>
          <p:cNvSpPr txBox="1"/>
          <p:nvPr/>
        </p:nvSpPr>
        <p:spPr>
          <a:xfrm>
            <a:off x="3600000" y="720000"/>
            <a:ext cx="5976000" cy="358560"/>
          </a:xfrm>
          <a:prstGeom prst="rect">
            <a:avLst/>
          </a:prstGeom>
          <a:noFill/>
          <a:ln>
            <a:noFill/>
          </a:ln>
        </p:spPr>
        <p:txBody>
          <a:bodyPr lIns="90000" tIns="45000" rIns="90000" bIns="45000">
            <a:noAutofit/>
          </a:bodyPr>
          <a:lstStyle/>
          <a:p>
            <a:pPr algn="ctr"/>
            <a:r>
              <a:rPr lang="en-GB" sz="1800" b="0" strike="noStrike" spc="-1">
                <a:solidFill>
                  <a:srgbClr val="F82249"/>
                </a:solidFill>
                <a:latin typeface="Raleway Black"/>
              </a:rPr>
              <a:t>State of the Map Europe 2025</a:t>
            </a:r>
            <a:endParaRPr lang="en-GB" sz="1800" b="0" strike="noStrike" spc="-1">
              <a:latin typeface="Arial"/>
            </a:endParaRPr>
          </a:p>
        </p:txBody>
      </p:sp>
      <p:sp>
        <p:nvSpPr>
          <p:cNvPr id="48" name="TextShape 5">
            <a:extLst>
              <a:ext uri="{FF2B5EF4-FFF2-40B4-BE49-F238E27FC236}">
                <a16:creationId xmlns:a16="http://schemas.microsoft.com/office/drawing/2014/main" id="{85AC4579-83ED-2141-6079-46AEBB98DB25}"/>
              </a:ext>
            </a:extLst>
          </p:cNvPr>
          <p:cNvSpPr txBox="1"/>
          <p:nvPr/>
        </p:nvSpPr>
        <p:spPr>
          <a:xfrm>
            <a:off x="3671640" y="3312000"/>
            <a:ext cx="5904000" cy="1044360"/>
          </a:xfrm>
          <a:prstGeom prst="rect">
            <a:avLst/>
          </a:prstGeom>
          <a:noFill/>
          <a:ln>
            <a:noFill/>
          </a:ln>
        </p:spPr>
        <p:txBody>
          <a:bodyPr lIns="90000" tIns="45000" rIns="90000" bIns="45000">
            <a:noAutofit/>
          </a:bodyPr>
          <a:lstStyle/>
          <a:p>
            <a:pPr>
              <a:lnSpc>
                <a:spcPct val="100000"/>
              </a:lnSpc>
            </a:pPr>
            <a:r>
              <a:rPr lang="en-GB" sz="2400" b="0" strike="noStrike" spc="-1">
                <a:solidFill>
                  <a:srgbClr val="FFFFFF"/>
                </a:solidFill>
                <a:latin typeface="Raleway"/>
              </a:rPr>
              <a:t>Christos Konstantinou</a:t>
            </a:r>
            <a:endParaRPr lang="en-GB" sz="2400" b="0" strike="noStrike" spc="-1">
              <a:latin typeface="Arial"/>
            </a:endParaRPr>
          </a:p>
          <a:p>
            <a:pPr>
              <a:lnSpc>
                <a:spcPct val="100000"/>
              </a:lnSpc>
            </a:pPr>
            <a:r>
              <a:rPr lang="en-GB" sz="2400" b="0" strike="noStrike" spc="-1">
                <a:solidFill>
                  <a:srgbClr val="FFFFFF"/>
                </a:solidFill>
                <a:latin typeface="Raleway"/>
              </a:rPr>
              <a:t>European Cyclists’ Federation</a:t>
            </a:r>
            <a:endParaRPr lang="en-GB" sz="2400" b="0" strike="noStrike" spc="-1">
              <a:latin typeface="Arial"/>
            </a:endParaRPr>
          </a:p>
        </p:txBody>
      </p:sp>
      <p:sp>
        <p:nvSpPr>
          <p:cNvPr id="2" name="Rectangle 1">
            <a:extLst>
              <a:ext uri="{FF2B5EF4-FFF2-40B4-BE49-F238E27FC236}">
                <a16:creationId xmlns:a16="http://schemas.microsoft.com/office/drawing/2014/main" id="{1A46142F-57EB-C0A4-DBCF-14E65AD4B8A0}"/>
              </a:ext>
            </a:extLst>
          </p:cNvPr>
          <p:cNvSpPr>
            <a:spLocks noChangeArrowheads="1"/>
          </p:cNvSpPr>
          <p:nvPr/>
        </p:nvSpPr>
        <p:spPr bwMode="auto">
          <a:xfrm>
            <a:off x="0" y="0"/>
            <a:ext cx="10080625"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00" b="1" i="0" u="none" strike="noStrike" cap="none" normalizeH="0" baseline="0">
              <a:ln>
                <a:noFill/>
              </a:ln>
              <a:solidFill>
                <a:srgbClr val="0D0F10"/>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3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6019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255</TotalTime>
  <Words>2360</Words>
  <Application>Microsoft Office PowerPoint</Application>
  <PresentationFormat>Custom</PresentationFormat>
  <Paragraphs>353</Paragraphs>
  <Slides>30</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Aptos</vt:lpstr>
      <vt:lpstr>Arial</vt:lpstr>
      <vt:lpstr>Raleway</vt:lpstr>
      <vt:lpstr>Raleway Black</vt:lpstr>
      <vt:lpstr>Roboto</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Austria OSM network</vt:lpstr>
      <vt:lpstr>PowerPoint Presentation</vt:lpstr>
      <vt:lpstr> Austria OSM buffer zone</vt:lpstr>
      <vt:lpstr>Austria OSM network</vt:lpstr>
      <vt:lpstr>PowerPoint Presentation</vt:lpstr>
      <vt:lpstr>PowerPoint Presentation</vt:lpstr>
      <vt:lpstr>PowerPoint Presentation</vt:lpstr>
      <vt:lpstr>PowerPoint Presentation</vt:lpstr>
      <vt:lpstr>Organisation of EuroVelo NECCs network</vt:lpstr>
      <vt:lpstr>Austria OSM network</vt:lpstr>
      <vt:lpstr>PowerPoint Presentation</vt:lpstr>
      <vt:lpstr>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Christos Konstantinou</cp:lastModifiedBy>
  <cp:revision>12</cp:revision>
  <dcterms:modified xsi:type="dcterms:W3CDTF">2025-11-14T18:41:44Z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2025-10-25T14:53:15Z</dcterms:created>
  <dc:creator/>
  <dc:description/>
  <dc:language>en-GB</dc:language>
  <cp:lastModifiedBy/>
  <dcterms:modified xsi:type="dcterms:W3CDTF">2025-11-06T15:48:57Z</dcterms:modified>
  <cp:revision>3</cp:revision>
  <dc:subject/>
  <dc:title/>
</cp:coreProperties>
</file>