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Raleway SemiBold"/>
      <p:regular r:id="rId38"/>
      <p:bold r:id="rId39"/>
      <p:italic r:id="rId40"/>
      <p:boldItalic r:id="rId41"/>
    </p:embeddedFont>
    <p:embeddedFont>
      <p:font typeface="Raleway Black"/>
      <p:bold r:id="rId42"/>
      <p:boldItalic r:id="rId43"/>
    </p:embeddedFont>
    <p:embeddedFont>
      <p:font typeface="Raleway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3DA3D1-FC65-439A-BFEB-30AB05A8478D}">
  <a:tblStyle styleId="{813DA3D1-FC65-439A-BFEB-30AB05A847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6B2DBCD-532E-4AD9-8E29-E767D153CF3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SemiBold-italic.fntdata"/><Relationship Id="rId20" Type="http://schemas.openxmlformats.org/officeDocument/2006/relationships/slide" Target="slides/slide13.xml"/><Relationship Id="rId42" Type="http://schemas.openxmlformats.org/officeDocument/2006/relationships/font" Target="fonts/RalewayBlack-bold.fntdata"/><Relationship Id="rId41" Type="http://schemas.openxmlformats.org/officeDocument/2006/relationships/font" Target="fonts/RalewaySemiBold-boldItalic.fntdata"/><Relationship Id="rId22" Type="http://schemas.openxmlformats.org/officeDocument/2006/relationships/slide" Target="slides/slide15.xml"/><Relationship Id="rId44" Type="http://schemas.openxmlformats.org/officeDocument/2006/relationships/font" Target="fonts/RalewayMedium-regular.fntdata"/><Relationship Id="rId21" Type="http://schemas.openxmlformats.org/officeDocument/2006/relationships/slide" Target="slides/slide14.xml"/><Relationship Id="rId43" Type="http://schemas.openxmlformats.org/officeDocument/2006/relationships/font" Target="fonts/RalewayBlack-boldItalic.fntdata"/><Relationship Id="rId24" Type="http://schemas.openxmlformats.org/officeDocument/2006/relationships/slide" Target="slides/slide17.xml"/><Relationship Id="rId46" Type="http://schemas.openxmlformats.org/officeDocument/2006/relationships/font" Target="fonts/RalewayMedium-italic.fntdata"/><Relationship Id="rId23" Type="http://schemas.openxmlformats.org/officeDocument/2006/relationships/slide" Target="slides/slide16.xml"/><Relationship Id="rId45" Type="http://schemas.openxmlformats.org/officeDocument/2006/relationships/font" Target="fonts/Raleway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RalewayMedium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aleway-bold.fntdata"/><Relationship Id="rId12" Type="http://schemas.openxmlformats.org/officeDocument/2006/relationships/slide" Target="slides/slide5.xml"/><Relationship Id="rId34" Type="http://schemas.openxmlformats.org/officeDocument/2006/relationships/font" Target="fonts/Raleway-regular.fntdata"/><Relationship Id="rId15" Type="http://schemas.openxmlformats.org/officeDocument/2006/relationships/slide" Target="slides/slide8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7.xml"/><Relationship Id="rId36" Type="http://schemas.openxmlformats.org/officeDocument/2006/relationships/font" Target="fonts/Raleway-italic.fntdata"/><Relationship Id="rId17" Type="http://schemas.openxmlformats.org/officeDocument/2006/relationships/slide" Target="slides/slide10.xml"/><Relationship Id="rId39" Type="http://schemas.openxmlformats.org/officeDocument/2006/relationships/font" Target="fonts/RalewaySemiBold-bold.fntdata"/><Relationship Id="rId16" Type="http://schemas.openxmlformats.org/officeDocument/2006/relationships/slide" Target="slides/slide9.xml"/><Relationship Id="rId38" Type="http://schemas.openxmlformats.org/officeDocument/2006/relationships/font" Target="fonts/RalewaySemiBold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c1db7861_1_52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2c1db7861_1_52:notes"/>
          <p:cNvSpPr/>
          <p:nvPr>
            <p:ph idx="2" type="sldImg"/>
          </p:nvPr>
        </p:nvSpPr>
        <p:spPr>
          <a:xfrm>
            <a:off x="1143128" y="685791"/>
            <a:ext cx="457237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2c1db7861_1_13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2c1db7861_1_130:notes"/>
          <p:cNvSpPr/>
          <p:nvPr>
            <p:ph idx="2" type="sldImg"/>
          </p:nvPr>
        </p:nvSpPr>
        <p:spPr>
          <a:xfrm>
            <a:off x="1143128" y="685791"/>
            <a:ext cx="457237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25244333b_0_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a25244333b_0_1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25244333b_0_1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25244333b_0_10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2dcc7234c_0_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2dcc7234c_0_1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2dcc7234c_0_2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2dcc7234c_0_28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2c1db7861_1_142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2c1db7861_1_142:notes"/>
          <p:cNvSpPr/>
          <p:nvPr>
            <p:ph idx="2" type="sldImg"/>
          </p:nvPr>
        </p:nvSpPr>
        <p:spPr>
          <a:xfrm>
            <a:off x="1143128" y="685791"/>
            <a:ext cx="457237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2dcc7234c_0_6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2dcc7234c_0_67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2dcc7234c_0_73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2dcc7234c_0_73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00c4bf7c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00c4bf7c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2dcc7234c_0_56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2dcc7234c_0_56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2dcc7234c_0_8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2dcc7234c_0_81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2dcc7234c_0_9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2dcc7234c_0_95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2dcc7234c_0_109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a2dcc7234c_0_109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7c7082c2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87c7082c2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2dcc7234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2dcc7234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2dcc7234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2dcc7234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2dcc7234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2dcc7234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2dcc7234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2dcc7234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2dcc7234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2dcc7234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2dcc7234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2dcc7234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2dcc7234c_0_16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2dcc7234c_0_168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2dcc7234c_0_18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2dcc7234c_0_188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2dcc7234c_0_18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a2dcc7234c_0_181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3a66e2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3a66e2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2dcc7234c_0_19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a2dcc7234c_0_195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457172" y="1203299"/>
            <a:ext cx="8229090" cy="2982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57172" y="1203299"/>
            <a:ext cx="8229090" cy="298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457172" y="1203299"/>
            <a:ext cx="4015600" cy="298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2" type="body"/>
          </p:nvPr>
        </p:nvSpPr>
        <p:spPr>
          <a:xfrm>
            <a:off x="4673927" y="1203299"/>
            <a:ext cx="4015600" cy="298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subTitle"/>
          </p:nvPr>
        </p:nvSpPr>
        <p:spPr>
          <a:xfrm>
            <a:off x="457172" y="205067"/>
            <a:ext cx="8228437" cy="397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457172" y="1203299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2" type="body"/>
          </p:nvPr>
        </p:nvSpPr>
        <p:spPr>
          <a:xfrm>
            <a:off x="4673927" y="1203299"/>
            <a:ext cx="4015600" cy="298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3" type="body"/>
          </p:nvPr>
        </p:nvSpPr>
        <p:spPr>
          <a:xfrm>
            <a:off x="457172" y="2761547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457172" y="1203299"/>
            <a:ext cx="4015600" cy="2982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4673927" y="1203299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3" type="body"/>
          </p:nvPr>
        </p:nvSpPr>
        <p:spPr>
          <a:xfrm>
            <a:off x="4673927" y="2761547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457172" y="1203299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4673927" y="1203299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3" type="body"/>
          </p:nvPr>
        </p:nvSpPr>
        <p:spPr>
          <a:xfrm>
            <a:off x="457172" y="2761547"/>
            <a:ext cx="822909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457172" y="1203299"/>
            <a:ext cx="822909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2" type="body"/>
          </p:nvPr>
        </p:nvSpPr>
        <p:spPr>
          <a:xfrm>
            <a:off x="457172" y="2761547"/>
            <a:ext cx="822909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>
            <a:off x="457172" y="1203299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2" type="body"/>
          </p:nvPr>
        </p:nvSpPr>
        <p:spPr>
          <a:xfrm>
            <a:off x="4673927" y="1203299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3" type="body"/>
          </p:nvPr>
        </p:nvSpPr>
        <p:spPr>
          <a:xfrm>
            <a:off x="457172" y="2761547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4" type="body"/>
          </p:nvPr>
        </p:nvSpPr>
        <p:spPr>
          <a:xfrm>
            <a:off x="4673927" y="2761547"/>
            <a:ext cx="4015600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457172" y="1203299"/>
            <a:ext cx="2649636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2" type="body"/>
          </p:nvPr>
        </p:nvSpPr>
        <p:spPr>
          <a:xfrm>
            <a:off x="3239714" y="1203299"/>
            <a:ext cx="2649636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6022257" y="1203299"/>
            <a:ext cx="2649636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4" type="body"/>
          </p:nvPr>
        </p:nvSpPr>
        <p:spPr>
          <a:xfrm>
            <a:off x="457172" y="2761547"/>
            <a:ext cx="2649636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5" type="body"/>
          </p:nvPr>
        </p:nvSpPr>
        <p:spPr>
          <a:xfrm>
            <a:off x="3239714" y="2761547"/>
            <a:ext cx="2649636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6" type="body"/>
          </p:nvPr>
        </p:nvSpPr>
        <p:spPr>
          <a:xfrm>
            <a:off x="6022257" y="2761547"/>
            <a:ext cx="2649636" cy="142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172" y="4622170"/>
            <a:ext cx="2285452" cy="41699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172" y="1203299"/>
            <a:ext cx="8228437" cy="2982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6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18.png"/><Relationship Id="rId5" Type="http://schemas.openxmlformats.org/officeDocument/2006/relationships/image" Target="../media/image34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36.jp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facebookmicrosites/Open-Mapping-At-Facebook/wiki/Available-Countries" TargetMode="External"/><Relationship Id="rId4" Type="http://schemas.openxmlformats.org/officeDocument/2006/relationships/hyperlink" Target="https://www.hotosm.org/updates/hot-approach-to-osm-data-validation-to-eq-mapping-projects/" TargetMode="External"/><Relationship Id="rId9" Type="http://schemas.openxmlformats.org/officeDocument/2006/relationships/image" Target="../media/image11.png"/><Relationship Id="rId5" Type="http://schemas.openxmlformats.org/officeDocument/2006/relationships/hyperlink" Target="http://taginfo.com" TargetMode="External"/><Relationship Id="rId6" Type="http://schemas.openxmlformats.org/officeDocument/2006/relationships/hyperlink" Target="https://community.openstreetmap.org/t/ai-assisted-tagging-in-openstreetmap-a-case-for-responsible-innovation-and-copyright-compliance/119461" TargetMode="External"/><Relationship Id="rId7" Type="http://schemas.openxmlformats.org/officeDocument/2006/relationships/hyperlink" Target="https://community.openstreetmap.org/t/editors-adding-buildings-through-ai-tools/127720" TargetMode="External"/><Relationship Id="rId8" Type="http://schemas.openxmlformats.org/officeDocument/2006/relationships/hyperlink" Target="https://community.openstreetmap.org/t/about-mapping-features-with-computer-vision/12779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>
            <a:off x="0" y="0"/>
            <a:ext cx="9143107" cy="5142675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txBody>
          <a:bodyPr anchorCtr="0" anchor="ctr" bIns="82925" lIns="82925" spcFirstLastPara="1" rIns="82925" wrap="square" tIns="8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 rotWithShape="1">
          <a:blip r:embed="rId3">
            <a:alphaModFix/>
          </a:blip>
          <a:srcRect b="43162" l="0" r="38609" t="0"/>
          <a:stretch/>
        </p:blipFill>
        <p:spPr>
          <a:xfrm>
            <a:off x="4679152" y="2220470"/>
            <a:ext cx="4463628" cy="292187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/>
          <p:nvPr/>
        </p:nvSpPr>
        <p:spPr>
          <a:xfrm>
            <a:off x="3330822" y="1063540"/>
            <a:ext cx="5354786" cy="154845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82925" lIns="82925" spcFirstLastPara="1" rIns="82925" wrap="square" tIns="8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/>
          <p:nvPr/>
        </p:nvSpPr>
        <p:spPr>
          <a:xfrm>
            <a:off x="3134891" y="1128848"/>
            <a:ext cx="5550717" cy="1417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1600"/>
              <a:buFont typeface="Raleway Black"/>
              <a:buNone/>
            </a:pPr>
            <a:r>
              <a:rPr b="1" i="0" lang="en-GB" sz="1600" u="none" cap="none" strike="noStrike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Transparency and Trust  in Collaborative Mapping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2249"/>
              </a:buClr>
              <a:buSzPts val="1800"/>
              <a:buFont typeface="Raleway"/>
              <a:buNone/>
            </a:pPr>
            <a:r>
              <a:rPr b="0" i="0" lang="en-GB" sz="1800" u="none" cap="none" strike="noStrike">
                <a:solidFill>
                  <a:srgbClr val="F82249"/>
                </a:solidFill>
                <a:latin typeface="Raleway"/>
                <a:ea typeface="Raleway"/>
                <a:cs typeface="Raleway"/>
                <a:sym typeface="Raleway"/>
              </a:rPr>
              <a:t>Concerns and Dilemmas in AI-assisted Road Integration within OpenStreetMap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72" y="1063540"/>
            <a:ext cx="3246458" cy="324645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6"/>
          <p:cNvSpPr/>
          <p:nvPr/>
        </p:nvSpPr>
        <p:spPr>
          <a:xfrm>
            <a:off x="3265512" y="653080"/>
            <a:ext cx="5420423" cy="324907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2249"/>
              </a:buClr>
              <a:buSzPts val="1600"/>
              <a:buFont typeface="Raleway Black"/>
              <a:buNone/>
            </a:pPr>
            <a:r>
              <a:rPr b="0" i="0" lang="en-GB" sz="1600" u="none" cap="none" strike="noStrike">
                <a:solidFill>
                  <a:srgbClr val="F82249"/>
                </a:solidFill>
                <a:latin typeface="Raleway Black"/>
                <a:ea typeface="Raleway Black"/>
                <a:cs typeface="Raleway Black"/>
                <a:sym typeface="Raleway Black"/>
              </a:rPr>
              <a:t>State of the Map Europe 2025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3330822" y="3004166"/>
            <a:ext cx="5355113" cy="9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Raleway"/>
              <a:buNone/>
            </a:pPr>
            <a:r>
              <a:rPr b="0" i="0" lang="en-GB" sz="2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Francis Andorful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aleway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GIScience Research Group, Heidelberg University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/>
          <p:nvPr/>
        </p:nvSpPr>
        <p:spPr>
          <a:xfrm>
            <a:off x="457172" y="205067"/>
            <a:ext cx="8228437" cy="85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Take a Wild Guess?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457172" y="1063540"/>
            <a:ext cx="2808014" cy="324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Which of this dataset was created by AI?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4571717" y="4310325"/>
            <a:ext cx="4114218" cy="215843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OpenStreetMap contributors, “Shortbread” style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2200" y="933025"/>
            <a:ext cx="5066475" cy="37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6400" y="68366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/>
          <p:nvPr/>
        </p:nvSpPr>
        <p:spPr>
          <a:xfrm>
            <a:off x="502822" y="136592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What do you think</a:t>
            </a: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?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3665097" y="887532"/>
            <a:ext cx="2808000" cy="3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What percentage of this data is likely to be of AI origin?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8"/>
          <p:cNvSpPr/>
          <p:nvPr/>
        </p:nvSpPr>
        <p:spPr>
          <a:xfrm>
            <a:off x="3894422" y="4782925"/>
            <a:ext cx="2614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OpenStreetMap contributors</a:t>
            </a:r>
            <a:r>
              <a:rPr lang="en-GB" sz="900">
                <a:latin typeface="Raleway"/>
                <a:ea typeface="Raleway"/>
                <a:cs typeface="Raleway"/>
                <a:sym typeface="Raleway"/>
              </a:rPr>
              <a:t> || The PyCoach</a:t>
            </a:r>
            <a:endParaRPr i="0" sz="900" u="none" cap="none" strike="noStrike"/>
          </a:p>
        </p:txBody>
      </p:sp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00" y="860025"/>
            <a:ext cx="3567100" cy="37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8281" y="2182071"/>
            <a:ext cx="3072850" cy="17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/>
        </p:nvSpPr>
        <p:spPr>
          <a:xfrm>
            <a:off x="5930550" y="3538499"/>
            <a:ext cx="173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AI Origin: 20%</a:t>
            </a:r>
            <a:endParaRPr b="1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/>
          <p:nvPr/>
        </p:nvSpPr>
        <p:spPr>
          <a:xfrm>
            <a:off x="55994" y="136592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Baseline: What Does AI Gives</a:t>
            </a: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?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9" title="Screenshot from 2025-11-12 17-53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25" y="844759"/>
            <a:ext cx="4663332" cy="373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9" title="Screenshot from 2025-11-03 11-35-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1648" y="842454"/>
            <a:ext cx="2423594" cy="39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/>
          <p:nvPr/>
        </p:nvSpPr>
        <p:spPr>
          <a:xfrm>
            <a:off x="129317" y="4401625"/>
            <a:ext cx="4114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</a:t>
            </a:r>
            <a:r>
              <a:rPr lang="en-GB" sz="900">
                <a:latin typeface="Raleway"/>
                <a:ea typeface="Raleway"/>
                <a:cs typeface="Raleway"/>
                <a:sym typeface="Raleway"/>
              </a:rPr>
              <a:t>Ms RoadDetections</a:t>
            </a: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9"/>
          <p:cNvSpPr txBox="1"/>
          <p:nvPr/>
        </p:nvSpPr>
        <p:spPr>
          <a:xfrm>
            <a:off x="1595800" y="951100"/>
            <a:ext cx="14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aleway Medium"/>
                <a:ea typeface="Raleway Medium"/>
                <a:cs typeface="Raleway Medium"/>
                <a:sym typeface="Raleway Medium"/>
              </a:rPr>
              <a:t>City of Leeds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30"/>
          <p:cNvGrpSpPr/>
          <p:nvPr/>
        </p:nvGrpSpPr>
        <p:grpSpPr>
          <a:xfrm>
            <a:off x="4253626" y="887525"/>
            <a:ext cx="4788496" cy="3896123"/>
            <a:chOff x="4253626" y="887525"/>
            <a:chExt cx="4788496" cy="3896123"/>
          </a:xfrm>
        </p:grpSpPr>
        <p:grpSp>
          <p:nvGrpSpPr>
            <p:cNvPr id="149" name="Google Shape;149;p30"/>
            <p:cNvGrpSpPr/>
            <p:nvPr/>
          </p:nvGrpSpPr>
          <p:grpSpPr>
            <a:xfrm>
              <a:off x="4253626" y="887525"/>
              <a:ext cx="4788496" cy="3896123"/>
              <a:chOff x="4253626" y="887525"/>
              <a:chExt cx="4788496" cy="3896123"/>
            </a:xfrm>
          </p:grpSpPr>
          <p:pic>
            <p:nvPicPr>
              <p:cNvPr id="150" name="Google Shape;150;p30" title="Screenshot from 2025-11-12 22-27-16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253626" y="887525"/>
                <a:ext cx="4050725" cy="32472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1" name="Google Shape;151;p30" title="Screenshot from 2025-11-12 22-27-46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174985" y="939542"/>
                <a:ext cx="1867137" cy="3844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2" name="Google Shape;152;p30"/>
            <p:cNvSpPr txBox="1"/>
            <p:nvPr/>
          </p:nvSpPr>
          <p:spPr>
            <a:xfrm>
              <a:off x="5423121" y="1124322"/>
              <a:ext cx="1275600" cy="3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400" lIns="79400" spcFirstLastPara="1" rIns="79400" wrap="square" tIns="794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89">
                  <a:latin typeface="Raleway Medium"/>
                  <a:ea typeface="Raleway Medium"/>
                  <a:cs typeface="Raleway Medium"/>
                  <a:sym typeface="Raleway Medium"/>
                </a:rPr>
                <a:t>City of Leeds</a:t>
              </a:r>
              <a:endParaRPr sz="1389"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sp>
        <p:nvSpPr>
          <p:cNvPr id="153" name="Google Shape;153;p30"/>
          <p:cNvSpPr/>
          <p:nvPr/>
        </p:nvSpPr>
        <p:spPr>
          <a:xfrm>
            <a:off x="55994" y="136592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Baseline: What Does AI Gives?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30"/>
          <p:cNvGrpSpPr/>
          <p:nvPr/>
        </p:nvGrpSpPr>
        <p:grpSpPr>
          <a:xfrm>
            <a:off x="56000" y="844751"/>
            <a:ext cx="4772335" cy="3329901"/>
            <a:chOff x="56000" y="844751"/>
            <a:chExt cx="4772335" cy="3329901"/>
          </a:xfrm>
        </p:grpSpPr>
        <p:pic>
          <p:nvPicPr>
            <p:cNvPr id="155" name="Google Shape;155;p30" title="Screenshot from 2025-11-12 17-53-34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7593" y="887525"/>
              <a:ext cx="4050741" cy="324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30" title="Screenshot from 2025-11-03 11-35-49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6000" y="844751"/>
              <a:ext cx="2027350" cy="3329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7" name="Google Shape;157;p30"/>
          <p:cNvSpPr/>
          <p:nvPr/>
        </p:nvSpPr>
        <p:spPr>
          <a:xfrm>
            <a:off x="3826795" y="4872400"/>
            <a:ext cx="14904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</a:t>
            </a:r>
            <a:r>
              <a:rPr lang="en-GB" sz="900">
                <a:latin typeface="Raleway"/>
                <a:ea typeface="Raleway"/>
                <a:cs typeface="Raleway"/>
                <a:sym typeface="Raleway"/>
              </a:rPr>
              <a:t>Ms RoadDetections</a:t>
            </a: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/>
        </p:nvSpPr>
        <p:spPr>
          <a:xfrm>
            <a:off x="2031221" y="979897"/>
            <a:ext cx="12756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400" lIns="79400" spcFirstLastPara="1" rIns="79400" wrap="square" tIns="79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9">
                <a:latin typeface="Raleway Medium"/>
                <a:ea typeface="Raleway Medium"/>
                <a:cs typeface="Raleway Medium"/>
                <a:sym typeface="Raleway Medium"/>
              </a:rPr>
              <a:t>City of Leeds</a:t>
            </a:r>
            <a:endParaRPr sz="1389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160" name="Google Shape;160;p30"/>
          <p:cNvGrpSpPr/>
          <p:nvPr/>
        </p:nvGrpSpPr>
        <p:grpSpPr>
          <a:xfrm>
            <a:off x="4207453" y="1716622"/>
            <a:ext cx="787500" cy="1168528"/>
            <a:chOff x="4151600" y="2307072"/>
            <a:chExt cx="787500" cy="1168528"/>
          </a:xfrm>
        </p:grpSpPr>
        <p:sp>
          <p:nvSpPr>
            <p:cNvPr id="161" name="Google Shape;161;p30"/>
            <p:cNvSpPr/>
            <p:nvPr/>
          </p:nvSpPr>
          <p:spPr>
            <a:xfrm>
              <a:off x="4316600" y="2724700"/>
              <a:ext cx="622500" cy="750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2" name="Google Shape;162;p3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151600" y="2307072"/>
              <a:ext cx="622500" cy="622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30"/>
          <p:cNvSpPr txBox="1"/>
          <p:nvPr/>
        </p:nvSpPr>
        <p:spPr>
          <a:xfrm>
            <a:off x="2529350" y="4007100"/>
            <a:ext cx="37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00"/>
                </a:solidFill>
                <a:latin typeface="Raleway"/>
                <a:ea typeface="Raleway"/>
                <a:cs typeface="Raleway"/>
                <a:sym typeface="Raleway"/>
              </a:rPr>
              <a:t>Difference = </a:t>
            </a:r>
            <a:r>
              <a:rPr b="1" lang="en-GB" sz="1800">
                <a:solidFill>
                  <a:srgbClr val="990000"/>
                </a:solidFill>
                <a:latin typeface="Raleway"/>
                <a:ea typeface="Raleway"/>
                <a:cs typeface="Raleway"/>
                <a:sym typeface="Raleway"/>
              </a:rPr>
              <a:t>Human</a:t>
            </a:r>
            <a:r>
              <a:rPr b="1" lang="en-GB" sz="1800">
                <a:solidFill>
                  <a:srgbClr val="990000"/>
                </a:solidFill>
                <a:latin typeface="Raleway"/>
                <a:ea typeface="Raleway"/>
                <a:cs typeface="Raleway"/>
                <a:sym typeface="Raleway"/>
              </a:rPr>
              <a:t> judgement </a:t>
            </a:r>
            <a:endParaRPr b="1" sz="1800">
              <a:solidFill>
                <a:srgbClr val="99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31"/>
          <p:cNvGrpSpPr/>
          <p:nvPr/>
        </p:nvGrpSpPr>
        <p:grpSpPr>
          <a:xfrm>
            <a:off x="4253626" y="887525"/>
            <a:ext cx="4788496" cy="3896123"/>
            <a:chOff x="4253626" y="887525"/>
            <a:chExt cx="4788496" cy="3896123"/>
          </a:xfrm>
        </p:grpSpPr>
        <p:grpSp>
          <p:nvGrpSpPr>
            <p:cNvPr id="169" name="Google Shape;169;p31"/>
            <p:cNvGrpSpPr/>
            <p:nvPr/>
          </p:nvGrpSpPr>
          <p:grpSpPr>
            <a:xfrm>
              <a:off x="4253626" y="887525"/>
              <a:ext cx="4788496" cy="3896123"/>
              <a:chOff x="4253626" y="887525"/>
              <a:chExt cx="4788496" cy="3896123"/>
            </a:xfrm>
          </p:grpSpPr>
          <p:pic>
            <p:nvPicPr>
              <p:cNvPr id="170" name="Google Shape;170;p31" title="Screenshot from 2025-11-12 22-27-16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253626" y="887525"/>
                <a:ext cx="4050725" cy="32472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1" name="Google Shape;171;p31" title="Screenshot from 2025-11-12 22-27-46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174985" y="939542"/>
                <a:ext cx="1867137" cy="3844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2" name="Google Shape;172;p31"/>
            <p:cNvSpPr txBox="1"/>
            <p:nvPr/>
          </p:nvSpPr>
          <p:spPr>
            <a:xfrm>
              <a:off x="5423121" y="1124322"/>
              <a:ext cx="1275600" cy="3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400" lIns="79400" spcFirstLastPara="1" rIns="79400" wrap="square" tIns="794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89">
                  <a:latin typeface="Raleway Medium"/>
                  <a:ea typeface="Raleway Medium"/>
                  <a:cs typeface="Raleway Medium"/>
                  <a:sym typeface="Raleway Medium"/>
                </a:rPr>
                <a:t>City of Leeds</a:t>
              </a:r>
              <a:endParaRPr sz="1389"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sp>
        <p:nvSpPr>
          <p:cNvPr id="173" name="Google Shape;173;p31"/>
          <p:cNvSpPr/>
          <p:nvPr/>
        </p:nvSpPr>
        <p:spPr>
          <a:xfrm>
            <a:off x="55994" y="136592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Baseline: What Does AI Gives?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31"/>
          <p:cNvGrpSpPr/>
          <p:nvPr/>
        </p:nvGrpSpPr>
        <p:grpSpPr>
          <a:xfrm>
            <a:off x="56000" y="844751"/>
            <a:ext cx="4772335" cy="3329901"/>
            <a:chOff x="56000" y="844751"/>
            <a:chExt cx="4772335" cy="3329901"/>
          </a:xfrm>
        </p:grpSpPr>
        <p:pic>
          <p:nvPicPr>
            <p:cNvPr id="175" name="Google Shape;175;p31" title="Screenshot from 2025-11-12 17-53-34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7593" y="887525"/>
              <a:ext cx="4050741" cy="324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31" title="Screenshot from 2025-11-03 11-35-49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6000" y="844751"/>
              <a:ext cx="2027350" cy="3329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31"/>
          <p:cNvSpPr/>
          <p:nvPr/>
        </p:nvSpPr>
        <p:spPr>
          <a:xfrm>
            <a:off x="3826795" y="4872400"/>
            <a:ext cx="14904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</a:t>
            </a:r>
            <a:r>
              <a:rPr lang="en-GB" sz="900">
                <a:latin typeface="Raleway"/>
                <a:ea typeface="Raleway"/>
                <a:cs typeface="Raleway"/>
                <a:sym typeface="Raleway"/>
              </a:rPr>
              <a:t>Ms RoadDetections</a:t>
            </a: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/>
          <p:nvPr/>
        </p:nvSpPr>
        <p:spPr>
          <a:xfrm>
            <a:off x="2031221" y="979897"/>
            <a:ext cx="12756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400" lIns="79400" spcFirstLastPara="1" rIns="79400" wrap="square" tIns="79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9">
                <a:latin typeface="Raleway Medium"/>
                <a:ea typeface="Raleway Medium"/>
                <a:cs typeface="Raleway Medium"/>
                <a:sym typeface="Raleway Medium"/>
              </a:rPr>
              <a:t>City of Leeds</a:t>
            </a:r>
            <a:endParaRPr sz="1389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07453" y="1716622"/>
            <a:ext cx="622500" cy="6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3474363" y="3347050"/>
            <a:ext cx="2147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Medium"/>
              <a:buChar char="●"/>
            </a:pPr>
            <a:r>
              <a:rPr lang="en-GB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Recreate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Medium"/>
              <a:buChar char="●"/>
            </a:pPr>
            <a:r>
              <a:rPr lang="en-GB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Delete nodes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Medium"/>
              <a:buChar char="●"/>
            </a:pPr>
            <a:r>
              <a:rPr lang="en-GB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Split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Medium"/>
              <a:buChar char="●"/>
            </a:pPr>
            <a:r>
              <a:rPr lang="en-GB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Extend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Medium"/>
              <a:buChar char="●"/>
            </a:pPr>
            <a:r>
              <a:rPr lang="en-GB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Mearge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 Medium"/>
              <a:buChar char="●"/>
            </a:pPr>
            <a:r>
              <a:rPr lang="en-GB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etc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182" name="Google Shape;182;p31"/>
          <p:cNvCxnSpPr>
            <a:stCxn id="180" idx="2"/>
            <a:endCxn id="181" idx="0"/>
          </p:cNvCxnSpPr>
          <p:nvPr/>
        </p:nvCxnSpPr>
        <p:spPr>
          <a:xfrm>
            <a:off x="4518703" y="2339122"/>
            <a:ext cx="29400" cy="100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/>
          <p:nvPr/>
        </p:nvSpPr>
        <p:spPr>
          <a:xfrm>
            <a:off x="457174" y="205075"/>
            <a:ext cx="68037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The Challenge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2"/>
          <p:cNvSpPr/>
          <p:nvPr/>
        </p:nvSpPr>
        <p:spPr>
          <a:xfrm>
            <a:off x="457172" y="1063540"/>
            <a:ext cx="2808014" cy="3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Generally: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b="1" lang="en-GB" sz="1600">
                <a:solidFill>
                  <a:srgbClr val="3C78D8"/>
                </a:solidFill>
                <a:latin typeface="Raleway"/>
                <a:ea typeface="Raleway"/>
                <a:cs typeface="Raleway"/>
                <a:sym typeface="Raleway"/>
              </a:rPr>
              <a:t>JOSM</a:t>
            </a:r>
            <a:endParaRPr b="1" sz="1600">
              <a:solidFill>
                <a:srgbClr val="3C78D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#mapwithai #country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b="1" lang="en-GB" sz="1600">
                <a:solidFill>
                  <a:srgbClr val="EC48EC"/>
                </a:solidFill>
                <a:latin typeface="Raleway"/>
                <a:ea typeface="Raleway"/>
                <a:cs typeface="Raleway"/>
                <a:sym typeface="Raleway"/>
              </a:rPr>
              <a:t>RapidID</a:t>
            </a:r>
            <a:endParaRPr b="1" sz="1600">
              <a:solidFill>
                <a:srgbClr val="EC48E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“#nsroadimport #thailand”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“#nsroadimport #indonesia”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source: facebook wiki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4571992" y="4725225"/>
            <a:ext cx="4114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OpenStreetMap contributors, “Shortbread” style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5175" y="2149719"/>
            <a:ext cx="3246191" cy="8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1375" y="1449175"/>
            <a:ext cx="2615275" cy="26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Research Question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3"/>
          <p:cNvSpPr/>
          <p:nvPr/>
        </p:nvSpPr>
        <p:spPr>
          <a:xfrm>
            <a:off x="457172" y="1203299"/>
            <a:ext cx="8228400" cy="29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rPr lang="en-GB" sz="2900">
                <a:latin typeface="Raleway"/>
                <a:ea typeface="Raleway"/>
                <a:cs typeface="Raleway"/>
                <a:sym typeface="Raleway"/>
              </a:rPr>
              <a:t>Can Machine Generated Roads (MGR) data be reliably detected based on its geometric characteristics alone offering a potential workaround in the absence of explicit metadata.</a:t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t/>
            </a:r>
            <a:endParaRPr sz="29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Research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172" y="1203299"/>
            <a:ext cx="8228400" cy="29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rPr b="1" lang="en-GB" sz="2900">
                <a:latin typeface="Raleway"/>
                <a:ea typeface="Raleway"/>
                <a:cs typeface="Raleway"/>
                <a:sym typeface="Raleway"/>
              </a:rPr>
              <a:t>Study 1:</a:t>
            </a:r>
            <a:endParaRPr b="1"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rPr lang="en-GB" sz="2900">
                <a:latin typeface="Raleway"/>
                <a:ea typeface="Raleway"/>
                <a:cs typeface="Raleway"/>
                <a:sym typeface="Raleway"/>
              </a:rPr>
              <a:t>OSM Community Reactions to AI Contributions</a:t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t/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rPr b="1" lang="en-GB" sz="2900">
                <a:latin typeface="Raleway"/>
                <a:ea typeface="Raleway"/>
                <a:cs typeface="Raleway"/>
                <a:sym typeface="Raleway"/>
              </a:rPr>
              <a:t>Study 2:</a:t>
            </a:r>
            <a:endParaRPr b="1"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rPr lang="en-GB" sz="2900">
                <a:latin typeface="Raleway"/>
                <a:ea typeface="Raleway"/>
                <a:cs typeface="Raleway"/>
                <a:sym typeface="Raleway"/>
              </a:rPr>
              <a:t>How Reliably can we Detect AI-aR from OSM Database?</a:t>
            </a:r>
            <a:endParaRPr sz="2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aleway"/>
              <a:buNone/>
            </a:pPr>
            <a:r>
              <a:t/>
            </a:r>
            <a:endParaRPr sz="29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5" title="Screenshot from 2025-11-04 00-09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626"/>
            <a:ext cx="6047326" cy="157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5" title="Screenshot from 2025-11-04 00-10-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3397" y="1638648"/>
            <a:ext cx="4768903" cy="16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5" title="Screenshot from 2025-11-04 00-10-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5" y="3286675"/>
            <a:ext cx="5257651" cy="18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57500" y="1754663"/>
            <a:ext cx="2289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2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Data Source</a:t>
            </a:r>
            <a:endParaRPr sz="40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215" name="Google Shape;215;p35"/>
          <p:cNvGraphicFramePr/>
          <p:nvPr/>
        </p:nvGraphicFramePr>
        <p:xfrm>
          <a:off x="5372900" y="337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{813DA3D1-FC65-439A-BFEB-30AB05A8478D}</a:tableStyleId>
              </a:tblPr>
              <a:tblGrid>
                <a:gridCol w="2104975"/>
                <a:gridCol w="1498575"/>
              </a:tblGrid>
              <a:tr h="41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Thread Topic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Post Analyzed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</a:tr>
              <a:tr h="41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Tagging Thread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Editors AI-Content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Computer Vision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16" name="Google Shape;21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Study 1</a:t>
            </a:r>
            <a:endParaRPr sz="4000">
              <a:solidFill>
                <a:srgbClr val="00155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4571717" y="4310325"/>
            <a:ext cx="4114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OpenStreetMap contributors, “Shortbread” style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025" y="970650"/>
            <a:ext cx="3926963" cy="30104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5" name="Google Shape;225;p36"/>
          <p:cNvPicPr preferRelativeResize="0"/>
          <p:nvPr/>
        </p:nvPicPr>
        <p:blipFill rotWithShape="1">
          <a:blip r:embed="rId5">
            <a:alphaModFix/>
          </a:blip>
          <a:srcRect b="0" l="0" r="0" t="4534"/>
          <a:stretch/>
        </p:blipFill>
        <p:spPr>
          <a:xfrm>
            <a:off x="4721125" y="954001"/>
            <a:ext cx="3689020" cy="30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/>
          <p:nvPr/>
        </p:nvSpPr>
        <p:spPr>
          <a:xfrm>
            <a:off x="361422" y="83054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Hypothesis &amp; Testing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7"/>
          <p:cNvSpPr/>
          <p:nvPr/>
        </p:nvSpPr>
        <p:spPr>
          <a:xfrm>
            <a:off x="457172" y="1063540"/>
            <a:ext cx="2808000" cy="3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Algorithmic roads follow deterministic rules, likely producing roads with uniform node spacing and regular structural patterns. 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b="1" lang="en-GB" sz="1600">
                <a:latin typeface="Raleway"/>
                <a:ea typeface="Raleway"/>
                <a:cs typeface="Raleway"/>
                <a:sym typeface="Raleway"/>
              </a:rPr>
              <a:t>Node Density</a:t>
            </a:r>
            <a:endParaRPr b="1"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b="1" lang="en-GB" sz="1600">
                <a:latin typeface="Raleway"/>
                <a:ea typeface="Raleway"/>
                <a:cs typeface="Raleway"/>
                <a:sym typeface="Raleway"/>
              </a:rPr>
              <a:t>Std node distance</a:t>
            </a:r>
            <a:endParaRPr b="1"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2" name="Google Shape;232;p37"/>
          <p:cNvSpPr/>
          <p:nvPr/>
        </p:nvSpPr>
        <p:spPr>
          <a:xfrm>
            <a:off x="4571717" y="4310325"/>
            <a:ext cx="4114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OpenStreetMap contributors, “Shortbread” style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7"/>
          <p:cNvSpPr/>
          <p:nvPr/>
        </p:nvSpPr>
        <p:spPr>
          <a:xfrm>
            <a:off x="3498823" y="871301"/>
            <a:ext cx="2537400" cy="343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T-Test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Whether the mean node spacing differs between the two groups under the null hypothesis.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H₀: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Equal means, assuming equal variances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5" name="Google Shape;235;p37"/>
          <p:cNvSpPr/>
          <p:nvPr/>
        </p:nvSpPr>
        <p:spPr>
          <a:xfrm>
            <a:off x="6340148" y="871301"/>
            <a:ext cx="2537400" cy="343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Kolmogorov Smirnov (KS)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Does the underlying distributions differ? 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H₀</a:t>
            </a: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b="1"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F(x)</a:t>
            </a: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= </a:t>
            </a:r>
            <a:r>
              <a:rPr b="1"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G(x)</a:t>
            </a: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for all x, 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where 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F(x) = Pure AI Data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G(x) = Pure HGR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Results: Hypothesis Testing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8"/>
          <p:cNvSpPr/>
          <p:nvPr/>
        </p:nvSpPr>
        <p:spPr>
          <a:xfrm>
            <a:off x="7831068" y="4557675"/>
            <a:ext cx="910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</a:t>
            </a:r>
            <a:r>
              <a:rPr lang="en-GB" sz="900">
                <a:latin typeface="Raleway"/>
                <a:ea typeface="Raleway"/>
                <a:cs typeface="Raleway"/>
                <a:sym typeface="Raleway"/>
              </a:rPr>
              <a:t>BBC News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38"/>
          <p:cNvGraphicFramePr/>
          <p:nvPr/>
        </p:nvGraphicFramePr>
        <p:xfrm>
          <a:off x="3632219" y="12216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{E6B2DBCD-532E-4AD9-8E29-E767D153CF36}</a:tableStyleId>
              </a:tblPr>
              <a:tblGrid>
                <a:gridCol w="1149625"/>
                <a:gridCol w="1268925"/>
                <a:gridCol w="1724450"/>
                <a:gridCol w="1127925"/>
              </a:tblGrid>
              <a:tr h="690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t-test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Kolmogorov–Smirnov (KS) test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0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 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 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Statistics 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-968.18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Statistics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0.9887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4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P-value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0.0001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P-Value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0.0001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4" name="Google Shape;24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1" y="1578787"/>
            <a:ext cx="3530576" cy="19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Results: Hypothesis Testing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9"/>
          <p:cNvSpPr/>
          <p:nvPr/>
        </p:nvSpPr>
        <p:spPr>
          <a:xfrm>
            <a:off x="4571717" y="4318304"/>
            <a:ext cx="4114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OpenStreetMap contributors, “Shortbread” style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30753"/>
            <a:ext cx="8839204" cy="3383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2066575" y="157775"/>
            <a:ext cx="475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Methodology of Study 2</a:t>
            </a:r>
            <a:endParaRPr b="1"/>
          </a:p>
        </p:txBody>
      </p:sp>
      <p:pic>
        <p:nvPicPr>
          <p:cNvPr id="258" name="Google Shape;2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962063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300"/>
            <a:ext cx="1755425" cy="8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0500" y="1220700"/>
            <a:ext cx="1694925" cy="8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 txBox="1"/>
          <p:nvPr/>
        </p:nvSpPr>
        <p:spPr>
          <a:xfrm>
            <a:off x="7149250" y="3847500"/>
            <a:ext cx="193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Hashtags:</a:t>
            </a:r>
            <a:r>
              <a:rPr lang="en-GB" sz="1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#MapWithAI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Editor :</a:t>
            </a:r>
            <a:r>
              <a:rPr b="1"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editor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Imports:</a:t>
            </a:r>
            <a:r>
              <a:rPr lang="en-GB" sz="1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Catalogue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1" title="ML_Methods 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8175" y="947738"/>
            <a:ext cx="5762625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1"/>
          <p:cNvSpPr/>
          <p:nvPr/>
        </p:nvSpPr>
        <p:spPr>
          <a:xfrm>
            <a:off x="457172" y="1063540"/>
            <a:ext cx="2808000" cy="3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Rule base perform better than all.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General performance in the benchmark.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9" name="Google Shape;269;p41"/>
          <p:cNvSpPr/>
          <p:nvPr/>
        </p:nvSpPr>
        <p:spPr>
          <a:xfrm>
            <a:off x="2274025" y="112600"/>
            <a:ext cx="37980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Model Results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199" y="807475"/>
            <a:ext cx="5524925" cy="41437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2"/>
          <p:cNvSpPr/>
          <p:nvPr/>
        </p:nvSpPr>
        <p:spPr>
          <a:xfrm>
            <a:off x="414900" y="64726"/>
            <a:ext cx="80268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Why rule base perform  better?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2"/>
          <p:cNvSpPr/>
          <p:nvPr/>
        </p:nvSpPr>
        <p:spPr>
          <a:xfrm>
            <a:off x="215425" y="1063550"/>
            <a:ext cx="34152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Why the overlap?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aleway"/>
              <a:buChar char="○"/>
            </a:pPr>
            <a:r>
              <a:rPr lang="en-GB" sz="16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Original data touch?</a:t>
            </a:r>
            <a:endParaRPr sz="16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aleway"/>
              <a:buChar char="○"/>
            </a:pPr>
            <a:r>
              <a:rPr lang="en-GB" sz="16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GB" sz="16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atural  /chance</a:t>
            </a:r>
            <a:endParaRPr sz="16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Why the clear seperation?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aleway"/>
              <a:buChar char="○"/>
            </a:pPr>
            <a:r>
              <a:rPr lang="en-GB" sz="1600">
                <a:solidFill>
                  <a:srgbClr val="CC0000"/>
                </a:solidFill>
                <a:latin typeface="Raleway"/>
                <a:ea typeface="Raleway"/>
                <a:cs typeface="Raleway"/>
                <a:sym typeface="Raleway"/>
              </a:rPr>
              <a:t>Original data untouch?</a:t>
            </a:r>
            <a:endParaRPr sz="1600">
              <a:solidFill>
                <a:srgbClr val="CC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/>
          <p:nvPr/>
        </p:nvSpPr>
        <p:spPr>
          <a:xfrm>
            <a:off x="457172" y="1063540"/>
            <a:ext cx="2808000" cy="3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When month of the year is added, model outperform even benchmark 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82" name="Google Shape;282;p43" title="Logistic_with_changes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0200" y="743650"/>
            <a:ext cx="5563500" cy="31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3"/>
          <p:cNvSpPr/>
          <p:nvPr/>
        </p:nvSpPr>
        <p:spPr>
          <a:xfrm>
            <a:off x="566525" y="8872"/>
            <a:ext cx="65268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The Magic Judge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50" y="882875"/>
            <a:ext cx="8839204" cy="358229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4"/>
          <p:cNvSpPr/>
          <p:nvPr/>
        </p:nvSpPr>
        <p:spPr>
          <a:xfrm>
            <a:off x="169225" y="112600"/>
            <a:ext cx="88392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31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Month a Proxy, not an Intrinsic Property</a:t>
            </a:r>
            <a:endParaRPr b="1" i="0" sz="310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325" y="811075"/>
            <a:ext cx="6451241" cy="38209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" name="Google Shape;295;p45"/>
          <p:cNvSpPr/>
          <p:nvPr/>
        </p:nvSpPr>
        <p:spPr>
          <a:xfrm>
            <a:off x="82150" y="888000"/>
            <a:ext cx="2392200" cy="3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AI-assisted Mapping tools have not been </a:t>
            </a: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fully</a:t>
            </a:r>
            <a:r>
              <a:rPr lang="en-GB" sz="1600">
                <a:latin typeface="Raleway"/>
                <a:ea typeface="Raleway"/>
                <a:cs typeface="Raleway"/>
                <a:sym typeface="Raleway"/>
              </a:rPr>
              <a:t> adopted yet.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6" name="Google Shape;296;p45"/>
          <p:cNvSpPr/>
          <p:nvPr/>
        </p:nvSpPr>
        <p:spPr>
          <a:xfrm>
            <a:off x="1053225" y="112600"/>
            <a:ext cx="5864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Maybe it’s too early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5"/>
          <p:cNvSpPr/>
          <p:nvPr/>
        </p:nvSpPr>
        <p:spPr>
          <a:xfrm>
            <a:off x="4571717" y="4789068"/>
            <a:ext cx="4114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25" spcFirstLastPara="1" rIns="81625" wrap="square" tIns="408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aleway"/>
              <a:buNone/>
            </a:pPr>
            <a:r>
              <a:rPr b="0" i="0" lang="en-GB" sz="900" u="none" cap="none" strike="noStrike">
                <a:latin typeface="Raleway"/>
                <a:ea typeface="Raleway"/>
                <a:cs typeface="Raleway"/>
                <a:sym typeface="Raleway"/>
              </a:rPr>
              <a:t>© </a:t>
            </a:r>
            <a:r>
              <a:rPr lang="en-GB" sz="900">
                <a:latin typeface="Raleway"/>
                <a:ea typeface="Raleway"/>
                <a:cs typeface="Raleway"/>
                <a:sym typeface="Raleway"/>
              </a:rPr>
              <a:t>OSM TagInfo, Accessed on August 2025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400" y="1310175"/>
            <a:ext cx="2878837" cy="191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825" y="595233"/>
            <a:ext cx="2878826" cy="2159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6"/>
          <p:cNvSpPr txBox="1"/>
          <p:nvPr/>
        </p:nvSpPr>
        <p:spPr>
          <a:xfrm>
            <a:off x="216225" y="416500"/>
            <a:ext cx="161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Recreate</a:t>
            </a:r>
            <a:endParaRPr b="1" sz="2400"/>
          </a:p>
        </p:txBody>
      </p:sp>
      <p:sp>
        <p:nvSpPr>
          <p:cNvPr id="305" name="Google Shape;305;p46"/>
          <p:cNvSpPr txBox="1"/>
          <p:nvPr/>
        </p:nvSpPr>
        <p:spPr>
          <a:xfrm>
            <a:off x="128425" y="953888"/>
            <a:ext cx="221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Delete nodes</a:t>
            </a:r>
            <a:endParaRPr b="1" sz="2400"/>
          </a:p>
        </p:txBody>
      </p:sp>
      <p:sp>
        <p:nvSpPr>
          <p:cNvPr id="306" name="Google Shape;306;p46"/>
          <p:cNvSpPr txBox="1"/>
          <p:nvPr/>
        </p:nvSpPr>
        <p:spPr>
          <a:xfrm>
            <a:off x="524725" y="2137908"/>
            <a:ext cx="89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Split</a:t>
            </a:r>
            <a:endParaRPr b="1" sz="2400"/>
          </a:p>
        </p:txBody>
      </p:sp>
      <p:sp>
        <p:nvSpPr>
          <p:cNvPr id="307" name="Google Shape;307;p46"/>
          <p:cNvSpPr txBox="1"/>
          <p:nvPr/>
        </p:nvSpPr>
        <p:spPr>
          <a:xfrm>
            <a:off x="7623938" y="2801750"/>
            <a:ext cx="128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Extend</a:t>
            </a:r>
            <a:endParaRPr b="1" sz="2400"/>
          </a:p>
        </p:txBody>
      </p:sp>
      <p:sp>
        <p:nvSpPr>
          <p:cNvPr id="308" name="Google Shape;308;p46"/>
          <p:cNvSpPr txBox="1"/>
          <p:nvPr/>
        </p:nvSpPr>
        <p:spPr>
          <a:xfrm>
            <a:off x="443325" y="1504207"/>
            <a:ext cx="116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Merge</a:t>
            </a:r>
            <a:endParaRPr b="1" sz="2400"/>
          </a:p>
        </p:txBody>
      </p:sp>
      <p:sp>
        <p:nvSpPr>
          <p:cNvPr id="309" name="Google Shape;309;p46"/>
          <p:cNvSpPr/>
          <p:nvPr/>
        </p:nvSpPr>
        <p:spPr>
          <a:xfrm>
            <a:off x="2274025" y="112600"/>
            <a:ext cx="37980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Black Box?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6"/>
          <p:cNvSpPr/>
          <p:nvPr/>
        </p:nvSpPr>
        <p:spPr>
          <a:xfrm>
            <a:off x="383772" y="3484435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26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What role does the human play in the loop?</a:t>
            </a:r>
            <a:endParaRPr sz="26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Raleway"/>
              <a:buChar char="-"/>
            </a:pPr>
            <a:r>
              <a:rPr lang="en-GB" sz="26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Cant afford </a:t>
            </a:r>
            <a:r>
              <a:rPr lang="en-GB" sz="2600">
                <a:solidFill>
                  <a:srgbClr val="FF0000"/>
                </a:solidFill>
                <a:latin typeface="Raleway Black"/>
                <a:ea typeface="Raleway Black"/>
                <a:cs typeface="Raleway Black"/>
                <a:sym typeface="Raleway Black"/>
              </a:rPr>
              <a:t>=</a:t>
            </a:r>
            <a:r>
              <a:rPr lang="en-GB" sz="26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Data Poverty</a:t>
            </a:r>
            <a:endParaRPr sz="26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Future Risks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7"/>
          <p:cNvSpPr/>
          <p:nvPr/>
        </p:nvSpPr>
        <p:spPr>
          <a:xfrm>
            <a:off x="247350" y="1072674"/>
            <a:ext cx="84381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3937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800"/>
              <a:buFont typeface="Noto Sans Symbols"/>
              <a:buChar char="●"/>
            </a:pPr>
            <a:r>
              <a:rPr b="1"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Data validation Loop bias</a:t>
            </a:r>
            <a:endParaRPr b="1"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1800"/>
              <a:buFont typeface="Raleway"/>
              <a:buChar char="−"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Leading to complacency</a:t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1800"/>
              <a:buFont typeface="Raleway"/>
              <a:buChar char="●"/>
            </a:pPr>
            <a:r>
              <a:rPr b="1"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Accountability Sink</a:t>
            </a:r>
            <a:endParaRPr b="1"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1800"/>
              <a:buFont typeface="Raleway"/>
              <a:buChar char="−"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Who is responsible for the error we may see?</a:t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1800"/>
              <a:buFont typeface="Raleway"/>
              <a:buChar char="−"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Where do we put the </a:t>
            </a: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necessary</a:t>
            </a: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effort to improve quality?</a:t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b="1"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e.g.</a:t>
            </a: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HOT's experience during the Syria-Turkey earthquake response in 2023.</a:t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7" name="Google Shape;31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Take Home Lessons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8"/>
          <p:cNvSpPr/>
          <p:nvPr/>
        </p:nvSpPr>
        <p:spPr>
          <a:xfrm>
            <a:off x="247350" y="1072674"/>
            <a:ext cx="84381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800"/>
              <a:buFont typeface="Noto Sans Symbols"/>
              <a:buChar char="●"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The model performed better on the benchmark scenario than changeset.   </a:t>
            </a:r>
            <a:endParaRPr sz="16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1600"/>
              <a:buFont typeface="Raleway"/>
              <a:buChar char="-"/>
            </a:pPr>
            <a:r>
              <a:rPr lang="en-GB" sz="16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limitations of our metrics may also play a role in model performance.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2100" lvl="0" marL="3937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800"/>
              <a:buFont typeface="Noto Sans Symbols"/>
              <a:buChar char="●"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Temporal metadata acts as a proxy for the rollout of AI assistance tools, not as an intrinsic property of the geometry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2100" lvl="0" marL="3937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800"/>
              <a:buFont typeface="Noto Sans Symbols"/>
              <a:buChar char="●"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Such models may  perform best on fresh AI contributions with minimal human modification.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4800" lvl="1" marL="787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553"/>
              </a:buClr>
              <a:buSzPts val="1200"/>
              <a:buFont typeface="Noto Sans Symbols"/>
              <a:buChar char="−"/>
            </a:pPr>
            <a:r>
              <a:rPr lang="en-GB" sz="16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Distinction between AI-aR  and HGR will continue to blur as integration deepens.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2100" lvl="0" marL="3937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800"/>
              <a:buFont typeface="Noto Sans Symbols"/>
              <a:buChar char="●"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The absence of robust tagging frameworks for AI-assisted mapping compounds this challenge.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Conclusion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9"/>
          <p:cNvSpPr/>
          <p:nvPr/>
        </p:nvSpPr>
        <p:spPr>
          <a:xfrm>
            <a:off x="247350" y="1072674"/>
            <a:ext cx="84381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Prioritize AI-assisted Mapping tagging standardization.</a:t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66700" lvl="2" marL="1371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600"/>
              <a:buFont typeface="Noto Sans Symbols"/>
              <a:buChar char="■"/>
            </a:pPr>
            <a:r>
              <a:rPr lang="en-GB" sz="16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May not fully resolve the data quality challenges we have identified.</a:t>
            </a:r>
            <a:endParaRPr sz="16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66700" lvl="2" marL="1371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600"/>
              <a:buFont typeface="Noto Sans Symbols"/>
              <a:buChar char="■"/>
            </a:pPr>
            <a:r>
              <a:rPr lang="en-GB" sz="16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Provide a critical foundation for conducting quality analytics </a:t>
            </a:r>
            <a:endParaRPr sz="16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66700" lvl="2" marL="1371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1553"/>
              </a:buClr>
              <a:buSzPts val="600"/>
              <a:buFont typeface="Noto Sans Symbols"/>
              <a:buChar char="■"/>
            </a:pPr>
            <a:r>
              <a:rPr lang="en-GB" sz="16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Developing appropriate metrics.</a:t>
            </a:r>
            <a:endParaRPr sz="16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Make available the original AI-data the volunteers are suppose to modify?</a:t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31" name="Google Shape;33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526"/>
            <a:ext cx="1827900" cy="1827900"/>
          </a:xfrm>
          <a:prstGeom prst="heptagon">
            <a:avLst>
              <a:gd fmla="val 102572" name="hf"/>
              <a:gd fmla="val 105210" name="vf"/>
            </a:avLst>
          </a:prstGeom>
          <a:noFill/>
          <a:ln>
            <a:noFill/>
          </a:ln>
        </p:spPr>
      </p:pic>
      <p:pic>
        <p:nvPicPr>
          <p:cNvPr id="337" name="Google Shape;337;p50" title="Francis_andorful.jpg"/>
          <p:cNvPicPr preferRelativeResize="0"/>
          <p:nvPr/>
        </p:nvPicPr>
        <p:blipFill rotWithShape="1">
          <a:blip r:embed="rId4">
            <a:alphaModFix/>
          </a:blip>
          <a:srcRect b="0" l="0" r="0" t="28545"/>
          <a:stretch/>
        </p:blipFill>
        <p:spPr>
          <a:xfrm>
            <a:off x="3592050" y="478017"/>
            <a:ext cx="1959900" cy="1867200"/>
          </a:xfrm>
          <a:prstGeom prst="heptagon">
            <a:avLst>
              <a:gd fmla="val 102572" name="hf"/>
              <a:gd fmla="val 105210" name="vf"/>
            </a:avLst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4350" y="96547"/>
            <a:ext cx="1959900" cy="1959900"/>
          </a:xfrm>
          <a:prstGeom prst="heptagon">
            <a:avLst>
              <a:gd fmla="val 102572" name="hf"/>
              <a:gd fmla="val 105210" name="vf"/>
            </a:avLst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0650" y="2571750"/>
            <a:ext cx="1827900" cy="1827900"/>
          </a:xfrm>
          <a:prstGeom prst="heptagon">
            <a:avLst>
              <a:gd fmla="val 102572" name="hf"/>
              <a:gd fmla="val 105210" name="vf"/>
            </a:avLst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324250"/>
            <a:ext cx="2073900" cy="2073900"/>
          </a:xfrm>
          <a:prstGeom prst="heptagon">
            <a:avLst>
              <a:gd fmla="val 102572" name="hf"/>
              <a:gd fmla="val 105210" name="vf"/>
            </a:avLst>
          </a:prstGeom>
          <a:noFill/>
          <a:ln>
            <a:noFill/>
          </a:ln>
        </p:spPr>
      </p:pic>
      <p:pic>
        <p:nvPicPr>
          <p:cNvPr id="341" name="Google Shape;341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7850" y="2723025"/>
            <a:ext cx="1905000" cy="1905000"/>
          </a:xfrm>
          <a:prstGeom prst="heptagon">
            <a:avLst>
              <a:gd fmla="val 102572" name="hf"/>
              <a:gd fmla="val 105210" name="vf"/>
            </a:avLst>
          </a:prstGeom>
          <a:noFill/>
          <a:ln>
            <a:noFill/>
          </a:ln>
        </p:spPr>
      </p:pic>
      <p:sp>
        <p:nvSpPr>
          <p:cNvPr id="342" name="Google Shape;342;p50"/>
          <p:cNvSpPr txBox="1"/>
          <p:nvPr/>
        </p:nvSpPr>
        <p:spPr>
          <a:xfrm>
            <a:off x="-38400" y="1899975"/>
            <a:ext cx="2018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Dr. Benjamin Herfort</a:t>
            </a:r>
            <a:br>
              <a:rPr lang="en-GB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-GB" sz="1200">
                <a:latin typeface="Raleway Medium"/>
                <a:ea typeface="Raleway Medium"/>
                <a:cs typeface="Raleway Medium"/>
                <a:sym typeface="Raleway Medium"/>
              </a:rPr>
              <a:t>GIScience/ HeiGIT</a:t>
            </a:r>
            <a:endParaRPr sz="12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3" name="Google Shape;343;p50"/>
          <p:cNvSpPr txBox="1"/>
          <p:nvPr/>
        </p:nvSpPr>
        <p:spPr>
          <a:xfrm>
            <a:off x="3425150" y="2263950"/>
            <a:ext cx="2156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Francis Andorful</a:t>
            </a:r>
            <a:br>
              <a:rPr lang="en-GB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-GB" sz="1200">
                <a:latin typeface="Raleway Medium"/>
                <a:ea typeface="Raleway Medium"/>
                <a:cs typeface="Raleway Medium"/>
                <a:sym typeface="Raleway Medium"/>
              </a:rPr>
              <a:t>PhD Student, GIScience</a:t>
            </a:r>
            <a:endParaRPr sz="12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4" name="Google Shape;344;p50"/>
          <p:cNvSpPr txBox="1"/>
          <p:nvPr/>
        </p:nvSpPr>
        <p:spPr>
          <a:xfrm>
            <a:off x="6744950" y="2056450"/>
            <a:ext cx="2018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Prof. Alexander Zipf</a:t>
            </a:r>
            <a:br>
              <a:rPr lang="en-GB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-GB" sz="1200">
                <a:latin typeface="Raleway Medium"/>
                <a:ea typeface="Raleway Medium"/>
                <a:cs typeface="Raleway Medium"/>
                <a:sym typeface="Raleway Medium"/>
              </a:rPr>
              <a:t>GIScience/ HeiGIT</a:t>
            </a:r>
            <a:endParaRPr sz="12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5" name="Google Shape;345;p50"/>
          <p:cNvSpPr txBox="1"/>
          <p:nvPr/>
        </p:nvSpPr>
        <p:spPr>
          <a:xfrm>
            <a:off x="6570650" y="4398150"/>
            <a:ext cx="2156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Prof. Edson A. Melanda</a:t>
            </a:r>
            <a:br>
              <a:rPr lang="en-GB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-GB" sz="1050">
                <a:solidFill>
                  <a:srgbClr val="131314"/>
                </a:solidFill>
                <a:highlight>
                  <a:srgbClr val="FFFFFF"/>
                </a:highlight>
              </a:rPr>
              <a:t> Federal University of São Carlos</a:t>
            </a:r>
            <a:endParaRPr sz="105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31314"/>
                </a:solidFill>
                <a:highlight>
                  <a:srgbClr val="FFFFFF"/>
                </a:highlight>
              </a:rPr>
              <a:t>São Carlos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6" name="Google Shape;346;p50"/>
          <p:cNvSpPr txBox="1"/>
          <p:nvPr/>
        </p:nvSpPr>
        <p:spPr>
          <a:xfrm>
            <a:off x="3662300" y="4542575"/>
            <a:ext cx="2156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Nathan D. Anthonio</a:t>
            </a:r>
            <a:br>
              <a:rPr lang="en-GB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-GB" sz="1050">
                <a:solidFill>
                  <a:srgbClr val="131314"/>
                </a:solidFill>
                <a:highlight>
                  <a:srgbClr val="FFFFFF"/>
                </a:highlight>
              </a:rPr>
              <a:t> </a:t>
            </a:r>
            <a:r>
              <a:rPr lang="en-GB" sz="1050">
                <a:solidFill>
                  <a:srgbClr val="131314"/>
                </a:solidFill>
                <a:highlight>
                  <a:srgbClr val="FFFFFF"/>
                </a:highlight>
              </a:rPr>
              <a:t>Federal University of Paraná</a:t>
            </a:r>
            <a:endParaRPr sz="105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sp>
        <p:nvSpPr>
          <p:cNvPr id="347" name="Google Shape;347;p50"/>
          <p:cNvSpPr txBox="1"/>
          <p:nvPr/>
        </p:nvSpPr>
        <p:spPr>
          <a:xfrm>
            <a:off x="-17641" y="4298017"/>
            <a:ext cx="2339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Prof. Silvana P. Camboim</a:t>
            </a:r>
            <a:br>
              <a:rPr lang="en-GB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-GB" sz="1050">
                <a:solidFill>
                  <a:srgbClr val="131314"/>
                </a:solidFill>
                <a:highlight>
                  <a:srgbClr val="FFFFFF"/>
                </a:highlight>
              </a:rPr>
              <a:t> Federal University of Paraná</a:t>
            </a:r>
            <a:endParaRPr sz="105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sp>
        <p:nvSpPr>
          <p:cNvPr id="348" name="Google Shape;348;p50"/>
          <p:cNvSpPr/>
          <p:nvPr/>
        </p:nvSpPr>
        <p:spPr>
          <a:xfrm>
            <a:off x="2274043" y="-169950"/>
            <a:ext cx="39417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Meet the Team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/>
          <p:nvPr/>
        </p:nvSpPr>
        <p:spPr>
          <a:xfrm>
            <a:off x="457172" y="205067"/>
            <a:ext cx="822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4000"/>
              <a:buFont typeface="Raleway Black"/>
              <a:buNone/>
            </a:pPr>
            <a:r>
              <a:rPr lang="en-GB" sz="4000">
                <a:solidFill>
                  <a:srgbClr val="001553"/>
                </a:solidFill>
                <a:latin typeface="Raleway Black"/>
                <a:ea typeface="Raleway Black"/>
                <a:cs typeface="Raleway Black"/>
                <a:sym typeface="Raleway Black"/>
              </a:rPr>
              <a:t>References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1"/>
          <p:cNvSpPr/>
          <p:nvPr/>
        </p:nvSpPr>
        <p:spPr>
          <a:xfrm>
            <a:off x="247350" y="1072674"/>
            <a:ext cx="84381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Facebook. 2019. “Mapping-At-Facebook.” GitHub. July 2019. </a:t>
            </a: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https://github.com/facebookmicrosites/Open-Mapping-At-Facebook/wiki/Available-Countries</a:t>
            </a: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HOT. 2023. “HOT’s Approach to OSM Data Validation for Earthquake Response Mapping.” Humanitarian OpenStreetMap Team. March 17, 2023. </a:t>
            </a: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https://www.hotosm.org/updates/hot-approach-to-osm-data-validation-to-eq-mapping-projects/</a:t>
            </a: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endParaRPr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OSM TagInfo, accessed, August 2025. </a:t>
            </a: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taginfo.com</a:t>
            </a: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1400"/>
              <a:buFont typeface="Raleway"/>
              <a:buChar char="●"/>
            </a:pP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OSM Community forum, </a:t>
            </a: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6"/>
              </a:rPr>
              <a:t>https://community.openstreetmap.org/t/ai-assisted-tagging-in-openstreetmap-a-case-for-responsible-innovation-and-copyright-compliance/119461</a:t>
            </a: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  </a:t>
            </a:r>
            <a:endParaRPr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1400"/>
              <a:buFont typeface="Raleway"/>
              <a:buChar char="●"/>
            </a:pP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OSM Community forum, </a:t>
            </a: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7"/>
              </a:rPr>
              <a:t>https://community.openstreetmap.org/t/editors-adding-buildings-through-ai-tools/127720</a:t>
            </a: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  </a:t>
            </a:r>
            <a:endParaRPr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553"/>
              </a:buClr>
              <a:buSzPts val="1400"/>
              <a:buFont typeface="Raleway"/>
              <a:buChar char="●"/>
            </a:pP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OSM Community forum, </a:t>
            </a: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8"/>
              </a:rPr>
              <a:t>https://community.openstreetmap.org/t/about-mapping-features-with-computer-vision/127790</a:t>
            </a:r>
            <a:r>
              <a:rPr lang="en-GB">
                <a:solidFill>
                  <a:srgbClr val="00155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155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04500" y="136591"/>
            <a:ext cx="948000" cy="7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