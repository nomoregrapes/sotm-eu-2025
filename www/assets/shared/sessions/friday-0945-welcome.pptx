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8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4"/>
          <a:stretch/>
        </p:blipFill>
        <p:spPr>
          <a:xfrm>
            <a:off x="504000" y="5095800"/>
            <a:ext cx="2519640" cy="45972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/>
          <p:nvPr/>
        </p:nvPicPr>
        <p:blipFill>
          <a:blip r:embed="rId14"/>
          <a:stretch/>
        </p:blipFill>
        <p:spPr>
          <a:xfrm>
            <a:off x="504000" y="5095800"/>
            <a:ext cx="2519640" cy="459720"/>
          </a:xfrm>
          <a:prstGeom prst="rect">
            <a:avLst/>
          </a:prstGeom>
          <a:ln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79" name="Picture 78"/>
          <p:cNvPicPr/>
          <p:nvPr/>
        </p:nvPicPr>
        <p:blipFill>
          <a:blip r:embed="rId2"/>
          <a:srcRect r="38623" b="43175"/>
          <a:stretch/>
        </p:blipFill>
        <p:spPr>
          <a:xfrm>
            <a:off x="5158440" y="2448000"/>
            <a:ext cx="4920840" cy="3221280"/>
          </a:xfrm>
          <a:prstGeom prst="rect">
            <a:avLst/>
          </a:prstGeom>
          <a:ln>
            <a:noFill/>
          </a:ln>
        </p:spPr>
      </p:pic>
      <p:sp>
        <p:nvSpPr>
          <p:cNvPr id="80" name="CustomShape 2"/>
          <p:cNvSpPr/>
          <p:nvPr/>
        </p:nvSpPr>
        <p:spPr>
          <a:xfrm>
            <a:off x="3672000" y="1172520"/>
            <a:ext cx="5903280" cy="1707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81" name="CustomShape 3"/>
          <p:cNvSpPr/>
          <p:nvPr/>
        </p:nvSpPr>
        <p:spPr>
          <a:xfrm>
            <a:off x="3456000" y="1244520"/>
            <a:ext cx="6119280" cy="156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b="0" strike="noStrike" spc="-1">
                <a:solidFill>
                  <a:srgbClr val="001553"/>
                </a:solidFill>
                <a:latin typeface="Raleway Black"/>
              </a:rPr>
              <a:t>Welcome</a:t>
            </a:r>
            <a:endParaRPr lang="en-GB" sz="54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5400" b="0" strike="noStrike" spc="-1">
              <a:latin typeface="Arial"/>
            </a:endParaRPr>
          </a:p>
        </p:txBody>
      </p:sp>
      <p:pic>
        <p:nvPicPr>
          <p:cNvPr id="82" name="Picture 81"/>
          <p:cNvPicPr/>
          <p:nvPr/>
        </p:nvPicPr>
        <p:blipFill>
          <a:blip r:embed="rId3"/>
          <a:stretch/>
        </p:blipFill>
        <p:spPr>
          <a:xfrm>
            <a:off x="504000" y="1172520"/>
            <a:ext cx="3579120" cy="3579120"/>
          </a:xfrm>
          <a:prstGeom prst="rect">
            <a:avLst/>
          </a:prstGeom>
          <a:ln>
            <a:noFill/>
          </a:ln>
        </p:spPr>
      </p:pic>
      <p:sp>
        <p:nvSpPr>
          <p:cNvPr id="83" name="CustomShape 4"/>
          <p:cNvSpPr/>
          <p:nvPr/>
        </p:nvSpPr>
        <p:spPr>
          <a:xfrm>
            <a:off x="3600000" y="720000"/>
            <a:ext cx="5975640" cy="35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84" name="CustomShape 5"/>
          <p:cNvSpPr/>
          <p:nvPr/>
        </p:nvSpPr>
        <p:spPr>
          <a:xfrm>
            <a:off x="3672000" y="3312000"/>
            <a:ext cx="5903640" cy="104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</a:rPr>
              <a:t>Gregory Marler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</a:rPr>
              <a:t>Conference Lead</a:t>
            </a:r>
            <a:endParaRPr lang="en-GB" sz="3200" b="0" strike="noStrike" spc="-1">
              <a:latin typeface="Arial"/>
            </a:endParaRPr>
          </a:p>
        </p:txBody>
      </p:sp>
      <p:pic>
        <p:nvPicPr>
          <p:cNvPr id="85" name="Picture 84"/>
          <p:cNvPicPr/>
          <p:nvPr/>
        </p:nvPicPr>
        <p:blipFill>
          <a:blip r:embed="rId4"/>
          <a:srcRect l="28426" r="5214"/>
          <a:stretch/>
        </p:blipFill>
        <p:spPr>
          <a:xfrm>
            <a:off x="0" y="-72720"/>
            <a:ext cx="10080720" cy="5742000"/>
          </a:xfrm>
          <a:prstGeom prst="rect">
            <a:avLst/>
          </a:prstGeom>
          <a:ln>
            <a:noFill/>
          </a:ln>
        </p:spPr>
      </p:pic>
      <p:pic>
        <p:nvPicPr>
          <p:cNvPr id="86" name="Picture 85"/>
          <p:cNvPicPr/>
          <p:nvPr/>
        </p:nvPicPr>
        <p:blipFill>
          <a:blip r:embed="rId3"/>
          <a:stretch/>
        </p:blipFill>
        <p:spPr>
          <a:xfrm>
            <a:off x="360000" y="576000"/>
            <a:ext cx="3579120" cy="3579120"/>
          </a:xfrm>
          <a:prstGeom prst="rect">
            <a:avLst/>
          </a:prstGeom>
          <a:ln>
            <a:noFill/>
          </a:ln>
        </p:spPr>
      </p:pic>
      <p:sp>
        <p:nvSpPr>
          <p:cNvPr id="87" name="CustomShape 6"/>
          <p:cNvSpPr/>
          <p:nvPr/>
        </p:nvSpPr>
        <p:spPr>
          <a:xfrm>
            <a:off x="3672000" y="1172520"/>
            <a:ext cx="5903280" cy="1707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88" name="CustomShape 7"/>
          <p:cNvSpPr/>
          <p:nvPr/>
        </p:nvSpPr>
        <p:spPr>
          <a:xfrm>
            <a:off x="3456000" y="1630080"/>
            <a:ext cx="6119280" cy="156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b="0" strike="noStrike" spc="-1" dirty="0">
                <a:solidFill>
                  <a:srgbClr val="001553"/>
                </a:solidFill>
                <a:latin typeface="Raleway Black"/>
              </a:rPr>
              <a:t>Welcome to</a:t>
            </a:r>
            <a:endParaRPr lang="en-GB" sz="5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5400" b="0" strike="noStrike" spc="-1" dirty="0">
                <a:solidFill>
                  <a:srgbClr val="001553"/>
                </a:solidFill>
                <a:latin typeface="Raleway Black"/>
              </a:rPr>
              <a:t>Dundee</a:t>
            </a:r>
            <a:endParaRPr lang="en-GB" sz="5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5400" b="0" strike="noStrike" spc="-1" dirty="0">
              <a:latin typeface="Arial"/>
            </a:endParaRPr>
          </a:p>
        </p:txBody>
      </p:sp>
      <p:sp>
        <p:nvSpPr>
          <p:cNvPr id="89" name="CustomShape 8"/>
          <p:cNvSpPr/>
          <p:nvPr/>
        </p:nvSpPr>
        <p:spPr>
          <a:xfrm>
            <a:off x="3600000" y="720000"/>
            <a:ext cx="5975640" cy="35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1" name="Picture 90"/>
          <p:cNvPicPr/>
          <p:nvPr/>
        </p:nvPicPr>
        <p:blipFill>
          <a:blip r:embed="rId2"/>
          <a:srcRect r="38623" b="43175"/>
          <a:stretch/>
        </p:blipFill>
        <p:spPr>
          <a:xfrm>
            <a:off x="5158440" y="2448000"/>
            <a:ext cx="4920840" cy="3221280"/>
          </a:xfrm>
          <a:prstGeom prst="rect">
            <a:avLst/>
          </a:prstGeom>
          <a:ln>
            <a:noFill/>
          </a:ln>
        </p:spPr>
      </p:pic>
      <p:sp>
        <p:nvSpPr>
          <p:cNvPr id="92" name="CustomShape 2"/>
          <p:cNvSpPr/>
          <p:nvPr/>
        </p:nvSpPr>
        <p:spPr>
          <a:xfrm>
            <a:off x="3672000" y="1172520"/>
            <a:ext cx="5903280" cy="1707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93" name="CustomShape 3"/>
          <p:cNvSpPr/>
          <p:nvPr/>
        </p:nvSpPr>
        <p:spPr>
          <a:xfrm>
            <a:off x="3456000" y="1469160"/>
            <a:ext cx="6119280" cy="156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b="0" strike="noStrike" spc="-1" dirty="0">
                <a:solidFill>
                  <a:srgbClr val="001553"/>
                </a:solidFill>
                <a:latin typeface="Raleway Black"/>
              </a:rPr>
              <a:t>Welcome</a:t>
            </a:r>
            <a:endParaRPr lang="en-GB" sz="5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5400" b="0" strike="noStrike" spc="-1" dirty="0">
              <a:latin typeface="Arial"/>
            </a:endParaRPr>
          </a:p>
        </p:txBody>
      </p:sp>
      <p:pic>
        <p:nvPicPr>
          <p:cNvPr id="94" name="Picture 93"/>
          <p:cNvPicPr/>
          <p:nvPr/>
        </p:nvPicPr>
        <p:blipFill>
          <a:blip r:embed="rId3"/>
          <a:stretch/>
        </p:blipFill>
        <p:spPr>
          <a:xfrm>
            <a:off x="504000" y="1172520"/>
            <a:ext cx="3579120" cy="3579120"/>
          </a:xfrm>
          <a:prstGeom prst="rect">
            <a:avLst/>
          </a:prstGeom>
          <a:ln>
            <a:noFill/>
          </a:ln>
        </p:spPr>
      </p:pic>
      <p:sp>
        <p:nvSpPr>
          <p:cNvPr id="95" name="CustomShape 4"/>
          <p:cNvSpPr/>
          <p:nvPr/>
        </p:nvSpPr>
        <p:spPr>
          <a:xfrm>
            <a:off x="3600000" y="720000"/>
            <a:ext cx="5975640" cy="35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3672000" y="3312000"/>
            <a:ext cx="5903640" cy="104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</a:rPr>
              <a:t>Gregory Marler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</a:rPr>
              <a:t>Conference Lead</a:t>
            </a: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Need some help?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Ask our volunteer team.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Go to the Info Desk.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See the website.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Make friends...</a:t>
            </a:r>
            <a:endParaRPr lang="en-GB" sz="3200" b="0" strike="noStrike" spc="-1">
              <a:latin typeface="Arial"/>
            </a:endParaRPr>
          </a:p>
        </p:txBody>
      </p:sp>
      <p:grpSp>
        <p:nvGrpSpPr>
          <p:cNvPr id="99" name="Group 3"/>
          <p:cNvGrpSpPr/>
          <p:nvPr/>
        </p:nvGrpSpPr>
        <p:grpSpPr>
          <a:xfrm>
            <a:off x="6768000" y="1470600"/>
            <a:ext cx="2080800" cy="3281400"/>
            <a:chOff x="6768000" y="1470600"/>
            <a:chExt cx="2080800" cy="3281400"/>
          </a:xfrm>
        </p:grpSpPr>
        <p:sp>
          <p:nvSpPr>
            <p:cNvPr id="100" name="CustomShape 4"/>
            <p:cNvSpPr/>
            <p:nvPr/>
          </p:nvSpPr>
          <p:spPr>
            <a:xfrm>
              <a:off x="6768000" y="1470600"/>
              <a:ext cx="2053800" cy="972360"/>
            </a:xfrm>
            <a:prstGeom prst="rect">
              <a:avLst/>
            </a:prstGeom>
            <a:solidFill>
              <a:srgbClr val="00155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  <p:pic>
          <p:nvPicPr>
            <p:cNvPr id="101" name="Picture 100"/>
            <p:cNvPicPr/>
            <p:nvPr/>
          </p:nvPicPr>
          <p:blipFill>
            <a:blip r:embed="rId2"/>
            <a:stretch/>
          </p:blipFill>
          <p:spPr>
            <a:xfrm>
              <a:off x="6928560" y="1640520"/>
              <a:ext cx="596520" cy="72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2" name="TextShape 5"/>
            <p:cNvSpPr txBox="1"/>
            <p:nvPr/>
          </p:nvSpPr>
          <p:spPr>
            <a:xfrm>
              <a:off x="7495200" y="1614960"/>
              <a:ext cx="1252080" cy="6732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250" b="0" strike="noStrike" spc="-1">
                  <a:solidFill>
                    <a:srgbClr val="F82249"/>
                  </a:solidFill>
                  <a:latin typeface="Raleway Black"/>
                  <a:ea typeface="Noto Sans CJK SC"/>
                </a:rPr>
                <a:t>State of</a:t>
              </a:r>
              <a:endParaRPr lang="en-GB" sz="125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GB" sz="1250" b="0" strike="noStrike" spc="-1">
                  <a:solidFill>
                    <a:srgbClr val="F82249"/>
                  </a:solidFill>
                  <a:latin typeface="Raleway Black"/>
                  <a:ea typeface="Noto Sans CJK SC"/>
                </a:rPr>
                <a:t>the Map</a:t>
              </a:r>
              <a:endParaRPr lang="en-GB" sz="125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GB" sz="1250" b="0" strike="noStrike" spc="-1">
                  <a:solidFill>
                    <a:srgbClr val="F82249"/>
                  </a:solidFill>
                  <a:latin typeface="Raleway Black"/>
                  <a:ea typeface="Noto Sans CJK SC"/>
                </a:rPr>
                <a:t>Europe 2025</a:t>
              </a:r>
              <a:endParaRPr lang="en-GB" sz="1250" b="0" strike="noStrike" spc="-1">
                <a:latin typeface="Arial"/>
              </a:endParaRPr>
            </a:p>
          </p:txBody>
        </p:sp>
        <p:sp>
          <p:nvSpPr>
            <p:cNvPr id="103" name="TextShape 6"/>
            <p:cNvSpPr txBox="1"/>
            <p:nvPr/>
          </p:nvSpPr>
          <p:spPr>
            <a:xfrm>
              <a:off x="6907320" y="2447640"/>
              <a:ext cx="1800000" cy="803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600" b="0" strike="noStrike" spc="-1">
                  <a:latin typeface="Raleway Black"/>
                  <a:ea typeface="Noto Sans CJK SC"/>
                </a:rPr>
                <a:t>Example Name</a:t>
              </a:r>
              <a:endParaRPr lang="en-GB" sz="16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GB" sz="1600" b="0" strike="noStrike" spc="-1">
                <a:latin typeface="Arial"/>
              </a:endParaRPr>
            </a:p>
          </p:txBody>
        </p:sp>
        <p:sp>
          <p:nvSpPr>
            <p:cNvPr id="104" name="TextShape 7"/>
            <p:cNvSpPr txBox="1"/>
            <p:nvPr/>
          </p:nvSpPr>
          <p:spPr>
            <a:xfrm>
              <a:off x="6907320" y="3406680"/>
              <a:ext cx="18000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400" b="0" strike="noStrike" spc="-1">
                  <a:latin typeface="Raleway"/>
                  <a:ea typeface="Noto Sans CJK SC"/>
                </a:rPr>
                <a:t>example</a:t>
              </a:r>
              <a:endParaRPr lang="en-GB" sz="1400" b="0" strike="noStrike" spc="-1">
                <a:latin typeface="Arial"/>
              </a:endParaRPr>
            </a:p>
          </p:txBody>
        </p:sp>
        <p:pic>
          <p:nvPicPr>
            <p:cNvPr id="105" name="Picture 104"/>
            <p:cNvPicPr/>
            <p:nvPr/>
          </p:nvPicPr>
          <p:blipFill>
            <a:blip r:embed="rId3"/>
            <a:srcRect r="73704"/>
            <a:stretch/>
          </p:blipFill>
          <p:spPr>
            <a:xfrm>
              <a:off x="7000560" y="3457440"/>
              <a:ext cx="235080" cy="2120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6" name="Picture 105"/>
            <p:cNvPicPr/>
            <p:nvPr/>
          </p:nvPicPr>
          <p:blipFill>
            <a:blip r:embed="rId2"/>
            <a:stretch/>
          </p:blipFill>
          <p:spPr>
            <a:xfrm>
              <a:off x="6928560" y="1604520"/>
              <a:ext cx="596520" cy="72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07" name="CustomShape 8"/>
            <p:cNvSpPr/>
            <p:nvPr/>
          </p:nvSpPr>
          <p:spPr>
            <a:xfrm>
              <a:off x="6768000" y="4271760"/>
              <a:ext cx="2080800" cy="480240"/>
            </a:xfrm>
            <a:prstGeom prst="rect">
              <a:avLst/>
            </a:prstGeom>
            <a:solidFill>
              <a:srgbClr val="F822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  <p:sp>
          <p:nvSpPr>
            <p:cNvPr id="108" name="TextShape 9"/>
            <p:cNvSpPr txBox="1"/>
            <p:nvPr/>
          </p:nvSpPr>
          <p:spPr>
            <a:xfrm>
              <a:off x="6768000" y="4322880"/>
              <a:ext cx="1038960" cy="3704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GB" sz="1800" b="0" strike="noStrike" spc="-1">
                  <a:solidFill>
                    <a:srgbClr val="001553"/>
                  </a:solidFill>
                  <a:latin typeface="Raleway Black"/>
                </a:rPr>
                <a:t>TEAM</a:t>
              </a:r>
              <a:endParaRPr lang="en-GB" sz="1800" b="0" strike="noStrike" spc="-1">
                <a:latin typeface="Arial"/>
              </a:endParaRPr>
            </a:p>
          </p:txBody>
        </p:sp>
        <p:sp>
          <p:nvSpPr>
            <p:cNvPr id="109" name="TextShape 10"/>
            <p:cNvSpPr txBox="1"/>
            <p:nvPr/>
          </p:nvSpPr>
          <p:spPr>
            <a:xfrm>
              <a:off x="7806960" y="4322880"/>
              <a:ext cx="1041840" cy="3704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GB" sz="1800" b="0" strike="noStrike" spc="-1">
                  <a:solidFill>
                    <a:srgbClr val="001553"/>
                  </a:solidFill>
                  <a:latin typeface="Raleway Black"/>
                </a:rPr>
                <a:t>TEAM</a:t>
              </a:r>
              <a:endParaRPr lang="en-GB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</a:rPr>
              <a:t>Make friends, and support each other</a:t>
            </a:r>
            <a:endParaRPr lang="en-GB" sz="3600" b="0" strike="noStrike" spc="-1">
              <a:latin typeface="Arial"/>
            </a:endParaRPr>
          </a:p>
        </p:txBody>
      </p:sp>
      <p:sp>
        <p:nvSpPr>
          <p:cNvPr id="111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Inclusion &amp; Safety Team: Gregory, Jo, and Gala</a:t>
            </a:r>
            <a:endParaRPr lang="en-GB" sz="3200" b="0" strike="noStrike" spc="-1">
              <a:latin typeface="Arial"/>
            </a:endParaRPr>
          </a:p>
        </p:txBody>
      </p:sp>
      <p:pic>
        <p:nvPicPr>
          <p:cNvPr id="112" name="Picture 111"/>
          <p:cNvPicPr/>
          <p:nvPr/>
        </p:nvPicPr>
        <p:blipFill>
          <a:blip r:embed="rId2"/>
          <a:srcRect l="2365" t="22540" r="3532" b="18028"/>
          <a:stretch/>
        </p:blipFill>
        <p:spPr>
          <a:xfrm>
            <a:off x="720000" y="1028160"/>
            <a:ext cx="8639640" cy="313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Stay Connected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 dirty="0">
                <a:latin typeface="Raleway"/>
              </a:rPr>
              <a:t>Join the </a:t>
            </a:r>
            <a:r>
              <a:rPr lang="en-GB" sz="3200" b="0" strike="noStrike" spc="-1" dirty="0" err="1">
                <a:latin typeface="Raleway"/>
              </a:rPr>
              <a:t>Wifi</a:t>
            </a:r>
            <a:r>
              <a:rPr lang="en-GB" sz="3200" b="0" strike="noStrike" spc="-1" dirty="0">
                <a:latin typeface="Raleway"/>
              </a:rPr>
              <a:t>:     Abertay Guest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latin typeface="Raleway"/>
              </a:rPr>
              <a:t>	Requires an e-mail address (or LinkedIn)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latin typeface="Raleway"/>
              </a:rPr>
              <a:t>	Sends you a pin to enter in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latin typeface="Raleway"/>
              </a:rPr>
              <a:t>Post on social media with </a:t>
            </a:r>
            <a:r>
              <a:rPr lang="en-GB" sz="3200" b="1" strike="noStrike" spc="-1" dirty="0">
                <a:latin typeface="Raleway"/>
              </a:rPr>
              <a:t>#sotmeu25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6" name="CustomShape 2"/>
          <p:cNvSpPr/>
          <p:nvPr/>
        </p:nvSpPr>
        <p:spPr>
          <a:xfrm>
            <a:off x="3672000" y="812520"/>
            <a:ext cx="5902920" cy="170676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7" name="CustomShape 3"/>
          <p:cNvSpPr/>
          <p:nvPr/>
        </p:nvSpPr>
        <p:spPr>
          <a:xfrm>
            <a:off x="3456000" y="884520"/>
            <a:ext cx="6118920" cy="156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  <a:ea typeface="DejaVu Sans"/>
              </a:rPr>
              <a:t>Saturday evening social</a:t>
            </a:r>
            <a:endParaRPr lang="en-GB" sz="36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  <a:ea typeface="DejaVu Sans"/>
              </a:rPr>
              <a:t>at Verdant Works</a:t>
            </a:r>
            <a:endParaRPr lang="en-GB" sz="3600" b="0" strike="noStrike" spc="-1">
              <a:latin typeface="Arial"/>
            </a:endParaRPr>
          </a:p>
        </p:txBody>
      </p:sp>
      <p:pic>
        <p:nvPicPr>
          <p:cNvPr id="118" name="Picture 117"/>
          <p:cNvPicPr/>
          <p:nvPr/>
        </p:nvPicPr>
        <p:blipFill>
          <a:blip r:embed="rId2"/>
          <a:stretch/>
        </p:blipFill>
        <p:spPr>
          <a:xfrm>
            <a:off x="504000" y="504000"/>
            <a:ext cx="3578760" cy="3578760"/>
          </a:xfrm>
          <a:prstGeom prst="rect">
            <a:avLst/>
          </a:prstGeom>
          <a:ln>
            <a:noFill/>
          </a:ln>
        </p:spPr>
      </p:pic>
      <p:sp>
        <p:nvSpPr>
          <p:cNvPr id="119" name="CustomShape 4"/>
          <p:cNvSpPr/>
          <p:nvPr/>
        </p:nvSpPr>
        <p:spPr>
          <a:xfrm>
            <a:off x="3600000" y="432000"/>
            <a:ext cx="5975280" cy="357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  <a:ea typeface="DejaVu Sans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20" name="CustomShape 5"/>
          <p:cNvSpPr/>
          <p:nvPr/>
        </p:nvSpPr>
        <p:spPr>
          <a:xfrm>
            <a:off x="3312000" y="2556000"/>
            <a:ext cx="6264000" cy="259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1" strike="noStrike" spc="-1">
                <a:solidFill>
                  <a:srgbClr val="FFFFFF"/>
                </a:solidFill>
                <a:latin typeface="Raleway"/>
                <a:ea typeface="DejaVu Sans"/>
              </a:rPr>
              <a:t>6pm</a:t>
            </a: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 Doors open   </a:t>
            </a:r>
            <a:r>
              <a:rPr lang="en-GB" sz="3200" b="1" strike="noStrike" spc="-1">
                <a:solidFill>
                  <a:srgbClr val="FFFFFF"/>
                </a:solidFill>
                <a:latin typeface="Raleway"/>
                <a:ea typeface="DejaVu Sans"/>
              </a:rPr>
              <a:t>6:30pm</a:t>
            </a: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 Food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1" strike="noStrike" spc="-1">
                <a:solidFill>
                  <a:srgbClr val="FFFFFF"/>
                </a:solidFill>
                <a:latin typeface="Raleway"/>
                <a:ea typeface="DejaVu Sans"/>
              </a:rPr>
              <a:t>7pm</a:t>
            </a: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 prize giving       </a:t>
            </a:r>
            <a:r>
              <a:rPr lang="en-GB" sz="3200" b="1" strike="noStrike" spc="-1">
                <a:solidFill>
                  <a:srgbClr val="FFFFFF"/>
                </a:solidFill>
                <a:latin typeface="Raleway"/>
                <a:ea typeface="DejaVu Sans"/>
              </a:rPr>
              <a:t>9pm</a:t>
            </a: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 closes</a:t>
            </a:r>
            <a:endParaRPr lang="en-GB" sz="3200" b="0" strike="noStrike" spc="-1">
              <a:latin typeface="Arial"/>
            </a:endParaRPr>
          </a:p>
        </p:txBody>
      </p:sp>
      <p:pic>
        <p:nvPicPr>
          <p:cNvPr id="121" name="Picture 120"/>
          <p:cNvPicPr/>
          <p:nvPr/>
        </p:nvPicPr>
        <p:blipFill>
          <a:blip r:embed="rId3"/>
          <a:srcRect r="38632" b="43181"/>
          <a:stretch/>
        </p:blipFill>
        <p:spPr>
          <a:xfrm flipH="1">
            <a:off x="-17640" y="2422800"/>
            <a:ext cx="4920480" cy="3220920"/>
          </a:xfrm>
          <a:prstGeom prst="rect">
            <a:avLst/>
          </a:prstGeom>
          <a:ln>
            <a:noFill/>
          </a:ln>
        </p:spPr>
      </p:pic>
      <p:pic>
        <p:nvPicPr>
          <p:cNvPr id="122" name="Picture 121"/>
          <p:cNvPicPr/>
          <p:nvPr/>
        </p:nvPicPr>
        <p:blipFill>
          <a:blip r:embed="rId4"/>
          <a:stretch/>
        </p:blipFill>
        <p:spPr>
          <a:xfrm>
            <a:off x="5720760" y="3600000"/>
            <a:ext cx="4359960" cy="2062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Many sessions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Get involved, and ask questions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Switch between rooms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Lightning Talks: sign-up at Lunch Time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Reminder for speakers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504000" y="1172520"/>
            <a:ext cx="3095640" cy="3308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latin typeface="Raleway"/>
              </a:rPr>
              <a:t>At the </a:t>
            </a:r>
            <a:r>
              <a:rPr lang="en-GB" sz="1800" b="0" u="sng" strike="noStrike" spc="-1">
                <a:uFillTx/>
                <a:latin typeface="Raleway"/>
              </a:rPr>
              <a:t>start</a:t>
            </a:r>
            <a:r>
              <a:rPr lang="en-GB" sz="1800" b="0" strike="noStrike" spc="-1">
                <a:latin typeface="Raleway"/>
              </a:rPr>
              <a:t> of the break before your session, please meet the session-host at the front of the room.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latin typeface="Raleway"/>
              </a:rPr>
              <a:t>Provide your talk on a USB-stick, or use the provided one to copy it across.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latin typeface="Raleway"/>
              </a:rPr>
              <a:t>Filenames with your talk title will make organisation easier for us.</a:t>
            </a:r>
            <a:endParaRPr lang="en-GB" sz="1800" b="0" strike="noStrike" spc="-1">
              <a:latin typeface="Arial"/>
            </a:endParaRPr>
          </a:p>
        </p:txBody>
      </p:sp>
      <p:graphicFrame>
        <p:nvGraphicFramePr>
          <p:cNvPr id="127" name="Table 3"/>
          <p:cNvGraphicFramePr/>
          <p:nvPr/>
        </p:nvGraphicFramePr>
        <p:xfrm>
          <a:off x="4028400" y="1175760"/>
          <a:ext cx="5075280" cy="31345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12 – 1pm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Lunch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1pm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Talk C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Speakers for these talks should go to the room at 12pm with their slides, and to meet the session host.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1:30pm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Talk D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2pm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Talk E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2:30 - 3pm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Tea &amp; Coffee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3pm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Talk F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Speakers for these talks should go to the room at 2:30pm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3:30pm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strike="noStrike" spc="-1">
                          <a:latin typeface="Raleway"/>
                        </a:rPr>
                        <a:t>Talk G</a:t>
                      </a:r>
                      <a:endParaRPr lang="en-GB" sz="12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8" name="CustomShape 4"/>
          <p:cNvSpPr/>
          <p:nvPr/>
        </p:nvSpPr>
        <p:spPr>
          <a:xfrm>
            <a:off x="4028400" y="4310280"/>
            <a:ext cx="5043240" cy="29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400" b="0" strike="noStrike" spc="-1">
                <a:latin typeface="Raleway Black"/>
              </a:rPr>
              <a:t>Actual schedule timings are on the website</a:t>
            </a:r>
            <a:endParaRPr lang="en-GB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0" name="CustomShape 2"/>
          <p:cNvSpPr/>
          <p:nvPr/>
        </p:nvSpPr>
        <p:spPr>
          <a:xfrm>
            <a:off x="3672000" y="812520"/>
            <a:ext cx="5902920" cy="170676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1" name="CustomShape 3"/>
          <p:cNvSpPr/>
          <p:nvPr/>
        </p:nvSpPr>
        <p:spPr>
          <a:xfrm>
            <a:off x="3456000" y="884520"/>
            <a:ext cx="6118920" cy="156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  <a:ea typeface="DejaVu Sans"/>
              </a:rPr>
              <a:t>Visit the Info Desk</a:t>
            </a:r>
            <a:endParaRPr lang="en-GB" sz="3600" b="0" strike="noStrike" spc="-1">
              <a:latin typeface="Arial"/>
            </a:endParaRPr>
          </a:p>
        </p:txBody>
      </p:sp>
      <p:pic>
        <p:nvPicPr>
          <p:cNvPr id="132" name="Picture 131"/>
          <p:cNvPicPr/>
          <p:nvPr/>
        </p:nvPicPr>
        <p:blipFill>
          <a:blip r:embed="rId2"/>
          <a:stretch/>
        </p:blipFill>
        <p:spPr>
          <a:xfrm>
            <a:off x="504000" y="504000"/>
            <a:ext cx="3578760" cy="3578760"/>
          </a:xfrm>
          <a:prstGeom prst="rect">
            <a:avLst/>
          </a:prstGeom>
          <a:ln>
            <a:noFill/>
          </a:ln>
        </p:spPr>
      </p:pic>
      <p:sp>
        <p:nvSpPr>
          <p:cNvPr id="133" name="CustomShape 4"/>
          <p:cNvSpPr/>
          <p:nvPr/>
        </p:nvSpPr>
        <p:spPr>
          <a:xfrm>
            <a:off x="3600000" y="432000"/>
            <a:ext cx="5975280" cy="357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  <a:ea typeface="DejaVu Sans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3312000" y="2556000"/>
            <a:ext cx="6264000" cy="259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trike="noStrike" spc="-1">
                <a:solidFill>
                  <a:srgbClr val="FFFFFF"/>
                </a:solidFill>
                <a:latin typeface="Raleway"/>
                <a:ea typeface="DejaVu Sans"/>
              </a:rPr>
              <a:t>Take part in:</a:t>
            </a:r>
            <a:endParaRPr lang="en-GB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Badge-making</a:t>
            </a:r>
            <a:endParaRPr lang="en-GB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Collaborative posters</a:t>
            </a:r>
            <a:endParaRPr lang="en-GB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  <a:ea typeface="DejaVu Sans"/>
              </a:rPr>
              <a:t>Sticker-swap</a:t>
            </a:r>
            <a:endParaRPr lang="en-GB" sz="3200" b="0" strike="noStrike" spc="-1">
              <a:latin typeface="Arial"/>
            </a:endParaRPr>
          </a:p>
        </p:txBody>
      </p:sp>
      <p:pic>
        <p:nvPicPr>
          <p:cNvPr id="135" name="Picture 134"/>
          <p:cNvPicPr/>
          <p:nvPr/>
        </p:nvPicPr>
        <p:blipFill>
          <a:blip r:embed="rId3"/>
          <a:srcRect r="38632" b="43181"/>
          <a:stretch/>
        </p:blipFill>
        <p:spPr>
          <a:xfrm flipH="1">
            <a:off x="-17640" y="2422800"/>
            <a:ext cx="4920480" cy="3220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Thank you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To everyone here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To the team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To our sponsors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2400" b="0" strike="noStrike" spc="-1">
                <a:latin typeface="Raleway"/>
              </a:rPr>
              <a:t>TomTom			Infrageomatics			Verso</a:t>
            </a:r>
            <a:endParaRPr lang="en-GB" sz="2400" b="0" strike="noStrike" spc="-1">
              <a:latin typeface="Arial"/>
            </a:endParaRPr>
          </a:p>
        </p:txBody>
      </p:sp>
      <p:pic>
        <p:nvPicPr>
          <p:cNvPr id="138" name="Picture 137"/>
          <p:cNvPicPr/>
          <p:nvPr/>
        </p:nvPicPr>
        <p:blipFill>
          <a:blip r:embed="rId2"/>
          <a:stretch/>
        </p:blipFill>
        <p:spPr>
          <a:xfrm>
            <a:off x="720000" y="3850560"/>
            <a:ext cx="2314440" cy="466560"/>
          </a:xfrm>
          <a:prstGeom prst="rect">
            <a:avLst/>
          </a:prstGeom>
          <a:ln>
            <a:noFill/>
          </a:ln>
        </p:spPr>
      </p:pic>
      <p:pic>
        <p:nvPicPr>
          <p:cNvPr id="139" name="Picture 138"/>
          <p:cNvPicPr/>
          <p:nvPr/>
        </p:nvPicPr>
        <p:blipFill>
          <a:blip r:embed="rId3"/>
          <a:stretch/>
        </p:blipFill>
        <p:spPr>
          <a:xfrm>
            <a:off x="6984000" y="3779640"/>
            <a:ext cx="2373120" cy="536040"/>
          </a:xfrm>
          <a:prstGeom prst="rect">
            <a:avLst/>
          </a:prstGeom>
          <a:ln>
            <a:noFill/>
          </a:ln>
        </p:spPr>
      </p:pic>
      <p:pic>
        <p:nvPicPr>
          <p:cNvPr id="140" name="Picture 139"/>
          <p:cNvPicPr/>
          <p:nvPr/>
        </p:nvPicPr>
        <p:blipFill>
          <a:blip r:embed="rId4"/>
          <a:stretch/>
        </p:blipFill>
        <p:spPr>
          <a:xfrm>
            <a:off x="3852000" y="3768840"/>
            <a:ext cx="2376000" cy="551160"/>
          </a:xfrm>
          <a:prstGeom prst="rect">
            <a:avLst/>
          </a:prstGeom>
          <a:ln>
            <a:noFill/>
          </a:ln>
        </p:spPr>
      </p:pic>
      <p:pic>
        <p:nvPicPr>
          <p:cNvPr id="141" name="Picture 140"/>
          <p:cNvPicPr/>
          <p:nvPr/>
        </p:nvPicPr>
        <p:blipFill>
          <a:blip r:embed="rId5"/>
          <a:stretch/>
        </p:blipFill>
        <p:spPr>
          <a:xfrm>
            <a:off x="5751360" y="2160000"/>
            <a:ext cx="3752640" cy="1387080"/>
          </a:xfrm>
          <a:prstGeom prst="rect">
            <a:avLst/>
          </a:prstGeom>
          <a:ln>
            <a:noFill/>
          </a:ln>
        </p:spPr>
      </p:pic>
      <p:pic>
        <p:nvPicPr>
          <p:cNvPr id="142" name="Picture 141"/>
          <p:cNvPicPr/>
          <p:nvPr/>
        </p:nvPicPr>
        <p:blipFill>
          <a:blip r:embed="rId6"/>
          <a:stretch/>
        </p:blipFill>
        <p:spPr>
          <a:xfrm>
            <a:off x="3744000" y="2160000"/>
            <a:ext cx="1584000" cy="1444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0" strike="noStrike" spc="-1">
                <a:solidFill>
                  <a:srgbClr val="001553"/>
                </a:solidFill>
                <a:latin typeface="Raleway Black"/>
              </a:rPr>
              <a:t>Need some help?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144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Ask our volunteer team.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Go to the Info Desk.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See the website.</a:t>
            </a: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3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>
                <a:latin typeface="Raleway"/>
              </a:rPr>
              <a:t>Make friends...</a:t>
            </a:r>
            <a:endParaRPr lang="en-GB" sz="3200" b="0" strike="noStrike" spc="-1">
              <a:latin typeface="Arial"/>
            </a:endParaRPr>
          </a:p>
        </p:txBody>
      </p:sp>
      <p:grpSp>
        <p:nvGrpSpPr>
          <p:cNvPr id="145" name="Group 3"/>
          <p:cNvGrpSpPr/>
          <p:nvPr/>
        </p:nvGrpSpPr>
        <p:grpSpPr>
          <a:xfrm>
            <a:off x="6768000" y="1470600"/>
            <a:ext cx="2080800" cy="3281400"/>
            <a:chOff x="6768000" y="1470600"/>
            <a:chExt cx="2080800" cy="3281400"/>
          </a:xfrm>
        </p:grpSpPr>
        <p:sp>
          <p:nvSpPr>
            <p:cNvPr id="146" name="CustomShape 4"/>
            <p:cNvSpPr/>
            <p:nvPr/>
          </p:nvSpPr>
          <p:spPr>
            <a:xfrm>
              <a:off x="6768000" y="1470600"/>
              <a:ext cx="2053800" cy="972360"/>
            </a:xfrm>
            <a:prstGeom prst="rect">
              <a:avLst/>
            </a:prstGeom>
            <a:solidFill>
              <a:srgbClr val="00155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  <p:pic>
          <p:nvPicPr>
            <p:cNvPr id="147" name="Picture 146"/>
            <p:cNvPicPr/>
            <p:nvPr/>
          </p:nvPicPr>
          <p:blipFill>
            <a:blip r:embed="rId2"/>
            <a:stretch/>
          </p:blipFill>
          <p:spPr>
            <a:xfrm>
              <a:off x="6928560" y="1640520"/>
              <a:ext cx="596520" cy="72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48" name="TextShape 5"/>
            <p:cNvSpPr txBox="1"/>
            <p:nvPr/>
          </p:nvSpPr>
          <p:spPr>
            <a:xfrm>
              <a:off x="7495200" y="1614960"/>
              <a:ext cx="1252080" cy="6732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250" b="0" strike="noStrike" spc="-1">
                  <a:solidFill>
                    <a:srgbClr val="F82249"/>
                  </a:solidFill>
                  <a:latin typeface="Raleway Black"/>
                  <a:ea typeface="Noto Sans CJK SC"/>
                </a:rPr>
                <a:t>State of</a:t>
              </a:r>
              <a:endParaRPr lang="en-GB" sz="125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GB" sz="1250" b="0" strike="noStrike" spc="-1">
                  <a:solidFill>
                    <a:srgbClr val="F82249"/>
                  </a:solidFill>
                  <a:latin typeface="Raleway Black"/>
                  <a:ea typeface="Noto Sans CJK SC"/>
                </a:rPr>
                <a:t>the Map</a:t>
              </a:r>
              <a:endParaRPr lang="en-GB" sz="125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GB" sz="1250" b="0" strike="noStrike" spc="-1">
                  <a:solidFill>
                    <a:srgbClr val="F82249"/>
                  </a:solidFill>
                  <a:latin typeface="Raleway Black"/>
                  <a:ea typeface="Noto Sans CJK SC"/>
                </a:rPr>
                <a:t>Europe 2025</a:t>
              </a:r>
              <a:endParaRPr lang="en-GB" sz="1250" b="0" strike="noStrike" spc="-1">
                <a:latin typeface="Arial"/>
              </a:endParaRPr>
            </a:p>
          </p:txBody>
        </p:sp>
        <p:sp>
          <p:nvSpPr>
            <p:cNvPr id="149" name="TextShape 6"/>
            <p:cNvSpPr txBox="1"/>
            <p:nvPr/>
          </p:nvSpPr>
          <p:spPr>
            <a:xfrm>
              <a:off x="6907320" y="2447640"/>
              <a:ext cx="1800000" cy="8031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 anchor="b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600" b="0" strike="noStrike" spc="-1">
                  <a:latin typeface="Raleway Black"/>
                  <a:ea typeface="Noto Sans CJK SC"/>
                </a:rPr>
                <a:t>Example Name</a:t>
              </a:r>
              <a:endParaRPr lang="en-GB" sz="16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GB" sz="1600" b="0" strike="noStrike" spc="-1">
                <a:latin typeface="Arial"/>
              </a:endParaRPr>
            </a:p>
          </p:txBody>
        </p:sp>
        <p:sp>
          <p:nvSpPr>
            <p:cNvPr id="150" name="TextShape 7"/>
            <p:cNvSpPr txBox="1"/>
            <p:nvPr/>
          </p:nvSpPr>
          <p:spPr>
            <a:xfrm>
              <a:off x="6907320" y="3406680"/>
              <a:ext cx="18000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GB" sz="1400" b="0" strike="noStrike" spc="-1">
                  <a:latin typeface="Raleway"/>
                  <a:ea typeface="Noto Sans CJK SC"/>
                </a:rPr>
                <a:t>example</a:t>
              </a:r>
              <a:endParaRPr lang="en-GB" sz="1400" b="0" strike="noStrike" spc="-1">
                <a:latin typeface="Arial"/>
              </a:endParaRPr>
            </a:p>
          </p:txBody>
        </p:sp>
        <p:pic>
          <p:nvPicPr>
            <p:cNvPr id="151" name="Picture 150"/>
            <p:cNvPicPr/>
            <p:nvPr/>
          </p:nvPicPr>
          <p:blipFill>
            <a:blip r:embed="rId3"/>
            <a:srcRect r="73704"/>
            <a:stretch/>
          </p:blipFill>
          <p:spPr>
            <a:xfrm>
              <a:off x="7000560" y="3457440"/>
              <a:ext cx="235080" cy="21204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2" name="Picture 151"/>
            <p:cNvPicPr/>
            <p:nvPr/>
          </p:nvPicPr>
          <p:blipFill>
            <a:blip r:embed="rId2"/>
            <a:stretch/>
          </p:blipFill>
          <p:spPr>
            <a:xfrm>
              <a:off x="6928560" y="1604520"/>
              <a:ext cx="596520" cy="720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153" name="CustomShape 8"/>
            <p:cNvSpPr/>
            <p:nvPr/>
          </p:nvSpPr>
          <p:spPr>
            <a:xfrm>
              <a:off x="6768000" y="4271760"/>
              <a:ext cx="2080800" cy="480240"/>
            </a:xfrm>
            <a:prstGeom prst="rect">
              <a:avLst/>
            </a:prstGeom>
            <a:solidFill>
              <a:srgbClr val="F82249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GB"/>
            </a:p>
          </p:txBody>
        </p:sp>
        <p:sp>
          <p:nvSpPr>
            <p:cNvPr id="154" name="TextShape 9"/>
            <p:cNvSpPr txBox="1"/>
            <p:nvPr/>
          </p:nvSpPr>
          <p:spPr>
            <a:xfrm>
              <a:off x="6768000" y="4322880"/>
              <a:ext cx="1038960" cy="3704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GB" sz="1800" b="0" strike="noStrike" spc="-1">
                  <a:solidFill>
                    <a:srgbClr val="001553"/>
                  </a:solidFill>
                  <a:latin typeface="Raleway Black"/>
                </a:rPr>
                <a:t>TEAM</a:t>
              </a:r>
              <a:endParaRPr lang="en-GB" sz="1800" b="0" strike="noStrike" spc="-1">
                <a:latin typeface="Arial"/>
              </a:endParaRPr>
            </a:p>
          </p:txBody>
        </p:sp>
        <p:sp>
          <p:nvSpPr>
            <p:cNvPr id="155" name="TextShape 10"/>
            <p:cNvSpPr txBox="1"/>
            <p:nvPr/>
          </p:nvSpPr>
          <p:spPr>
            <a:xfrm>
              <a:off x="7806960" y="4322880"/>
              <a:ext cx="1041840" cy="3704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GB" sz="1800" b="0" strike="noStrike" spc="-1">
                  <a:solidFill>
                    <a:srgbClr val="001553"/>
                  </a:solidFill>
                  <a:latin typeface="Raleway Black"/>
                </a:rPr>
                <a:t>TEAM</a:t>
              </a:r>
              <a:endParaRPr lang="en-GB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57" name="Picture 156"/>
          <p:cNvPicPr/>
          <p:nvPr/>
        </p:nvPicPr>
        <p:blipFill>
          <a:blip r:embed="rId2"/>
          <a:stretch/>
        </p:blipFill>
        <p:spPr>
          <a:xfrm>
            <a:off x="504000" y="504000"/>
            <a:ext cx="3579120" cy="3579120"/>
          </a:xfrm>
          <a:prstGeom prst="rect">
            <a:avLst/>
          </a:prstGeom>
          <a:ln>
            <a:noFill/>
          </a:ln>
        </p:spPr>
      </p:pic>
      <p:pic>
        <p:nvPicPr>
          <p:cNvPr id="158" name="Picture 157"/>
          <p:cNvPicPr/>
          <p:nvPr/>
        </p:nvPicPr>
        <p:blipFill>
          <a:blip r:embed="rId3"/>
          <a:srcRect r="38623" b="43175"/>
          <a:stretch/>
        </p:blipFill>
        <p:spPr>
          <a:xfrm flipH="1">
            <a:off x="-18000" y="2422800"/>
            <a:ext cx="4920840" cy="3221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60" name="CustomShape 2"/>
          <p:cNvSpPr/>
          <p:nvPr/>
        </p:nvSpPr>
        <p:spPr>
          <a:xfrm>
            <a:off x="3672000" y="812520"/>
            <a:ext cx="5903280" cy="1707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61" name="CustomShape 3"/>
          <p:cNvSpPr/>
          <p:nvPr/>
        </p:nvSpPr>
        <p:spPr>
          <a:xfrm>
            <a:off x="3456000" y="884520"/>
            <a:ext cx="6119280" cy="156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</a:rPr>
              <a:t>Human elements of</a:t>
            </a:r>
            <a:endParaRPr lang="en-GB" sz="36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</a:rPr>
              <a:t>trust and data misuse</a:t>
            </a:r>
            <a:endParaRPr lang="en-GB" sz="36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600" b="0" strike="noStrike" spc="-1">
                <a:solidFill>
                  <a:srgbClr val="001553"/>
                </a:solidFill>
                <a:latin typeface="Raleway Black"/>
              </a:rPr>
              <a:t>in open maps</a:t>
            </a:r>
            <a:endParaRPr lang="en-GB" sz="3600" b="0" strike="noStrike" spc="-1">
              <a:latin typeface="Arial"/>
            </a:endParaRPr>
          </a:p>
        </p:txBody>
      </p:sp>
      <p:pic>
        <p:nvPicPr>
          <p:cNvPr id="162" name="Picture 161"/>
          <p:cNvPicPr/>
          <p:nvPr/>
        </p:nvPicPr>
        <p:blipFill>
          <a:blip r:embed="rId2"/>
          <a:stretch/>
        </p:blipFill>
        <p:spPr>
          <a:xfrm>
            <a:off x="504000" y="504000"/>
            <a:ext cx="3579120" cy="3579120"/>
          </a:xfrm>
          <a:prstGeom prst="rect">
            <a:avLst/>
          </a:prstGeom>
          <a:ln>
            <a:noFill/>
          </a:ln>
        </p:spPr>
      </p:pic>
      <p:sp>
        <p:nvSpPr>
          <p:cNvPr id="163" name="CustomShape 4"/>
          <p:cNvSpPr/>
          <p:nvPr/>
        </p:nvSpPr>
        <p:spPr>
          <a:xfrm>
            <a:off x="3600000" y="432000"/>
            <a:ext cx="5975640" cy="35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64" name="CustomShape 5"/>
          <p:cNvSpPr/>
          <p:nvPr/>
        </p:nvSpPr>
        <p:spPr>
          <a:xfrm>
            <a:off x="3672000" y="2556000"/>
            <a:ext cx="5903640" cy="259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</a:rPr>
              <a:t>Professor Lynne Coventry</a:t>
            </a:r>
            <a:endParaRPr lang="en-GB" sz="3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GB" sz="3200" b="0" strike="noStrike" spc="-1">
                <a:solidFill>
                  <a:srgbClr val="FFFFFF"/>
                </a:solidFill>
                <a:latin typeface="Raleway"/>
              </a:rPr>
              <a:t>Director of the CyberQuarter Abertay University</a:t>
            </a:r>
            <a:endParaRPr lang="en-GB" sz="3200" b="0" strike="noStrike" spc="-1">
              <a:latin typeface="Arial"/>
            </a:endParaRPr>
          </a:p>
        </p:txBody>
      </p:sp>
      <p:pic>
        <p:nvPicPr>
          <p:cNvPr id="165" name="Picture 164"/>
          <p:cNvPicPr/>
          <p:nvPr/>
        </p:nvPicPr>
        <p:blipFill>
          <a:blip r:embed="rId3"/>
          <a:srcRect r="38623" b="43175"/>
          <a:stretch/>
        </p:blipFill>
        <p:spPr>
          <a:xfrm flipH="1">
            <a:off x="-18000" y="2422800"/>
            <a:ext cx="4920840" cy="3221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67" name="Picture 166"/>
          <p:cNvPicPr/>
          <p:nvPr/>
        </p:nvPicPr>
        <p:blipFill>
          <a:blip r:embed="rId2"/>
          <a:stretch/>
        </p:blipFill>
        <p:spPr>
          <a:xfrm>
            <a:off x="504000" y="504000"/>
            <a:ext cx="3579120" cy="3579120"/>
          </a:xfrm>
          <a:prstGeom prst="rect">
            <a:avLst/>
          </a:prstGeom>
          <a:ln>
            <a:noFill/>
          </a:ln>
        </p:spPr>
      </p:pic>
      <p:pic>
        <p:nvPicPr>
          <p:cNvPr id="168" name="Picture 167"/>
          <p:cNvPicPr/>
          <p:nvPr/>
        </p:nvPicPr>
        <p:blipFill>
          <a:blip r:embed="rId3"/>
          <a:srcRect r="38623" b="43175"/>
          <a:stretch/>
        </p:blipFill>
        <p:spPr>
          <a:xfrm flipH="1">
            <a:off x="-18000" y="2422800"/>
            <a:ext cx="4920840" cy="3221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70" name="CustomShape 2"/>
          <p:cNvSpPr/>
          <p:nvPr/>
        </p:nvSpPr>
        <p:spPr>
          <a:xfrm>
            <a:off x="3672000" y="812520"/>
            <a:ext cx="5903280" cy="1707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71" name="CustomShape 3"/>
          <p:cNvSpPr/>
          <p:nvPr/>
        </p:nvSpPr>
        <p:spPr>
          <a:xfrm>
            <a:off x="3456000" y="884520"/>
            <a:ext cx="6119280" cy="1563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b="0" strike="noStrike" spc="-1">
                <a:solidFill>
                  <a:srgbClr val="001553"/>
                </a:solidFill>
                <a:latin typeface="Raleway Black"/>
              </a:rPr>
              <a:t>News from Europe</a:t>
            </a:r>
            <a:endParaRPr lang="en-GB" sz="5400" b="0" strike="noStrike" spc="-1">
              <a:latin typeface="Arial"/>
            </a:endParaRPr>
          </a:p>
        </p:txBody>
      </p:sp>
      <p:pic>
        <p:nvPicPr>
          <p:cNvPr id="172" name="Picture 171"/>
          <p:cNvPicPr/>
          <p:nvPr/>
        </p:nvPicPr>
        <p:blipFill>
          <a:blip r:embed="rId2"/>
          <a:stretch/>
        </p:blipFill>
        <p:spPr>
          <a:xfrm>
            <a:off x="504000" y="504000"/>
            <a:ext cx="3579120" cy="3579120"/>
          </a:xfrm>
          <a:prstGeom prst="rect">
            <a:avLst/>
          </a:prstGeom>
          <a:ln>
            <a:noFill/>
          </a:ln>
        </p:spPr>
      </p:pic>
      <p:sp>
        <p:nvSpPr>
          <p:cNvPr id="173" name="CustomShape 4"/>
          <p:cNvSpPr/>
          <p:nvPr/>
        </p:nvSpPr>
        <p:spPr>
          <a:xfrm>
            <a:off x="3600000" y="432000"/>
            <a:ext cx="5975640" cy="35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74" name="CustomShape 5"/>
          <p:cNvSpPr/>
          <p:nvPr/>
        </p:nvSpPr>
        <p:spPr>
          <a:xfrm>
            <a:off x="3672000" y="2556000"/>
            <a:ext cx="5903640" cy="2595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Gregory Marler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Jochen Topf,	OSM Germany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Lorenzo Stucchi,	OSM Italy</a:t>
            </a:r>
            <a:endParaRPr lang="en-GB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3200" b="0" strike="noStrike" spc="-1" dirty="0">
                <a:solidFill>
                  <a:srgbClr val="FFFFFF"/>
                </a:solidFill>
                <a:latin typeface="Raleway"/>
              </a:rPr>
              <a:t>Robert Whittaker,	OSM UK</a:t>
            </a:r>
            <a:endParaRPr lang="en-GB" sz="3200" b="0" strike="noStrike" spc="-1" dirty="0">
              <a:latin typeface="Arial"/>
            </a:endParaRPr>
          </a:p>
        </p:txBody>
      </p:sp>
      <p:pic>
        <p:nvPicPr>
          <p:cNvPr id="175" name="Picture 174"/>
          <p:cNvPicPr/>
          <p:nvPr/>
        </p:nvPicPr>
        <p:blipFill>
          <a:blip r:embed="rId3"/>
          <a:srcRect r="38623" b="43175"/>
          <a:stretch/>
        </p:blipFill>
        <p:spPr>
          <a:xfrm flipH="1">
            <a:off x="-18000" y="2422800"/>
            <a:ext cx="4920840" cy="3221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</TotalTime>
  <Words>397</Words>
  <Application>Microsoft Office PowerPoint</Application>
  <PresentationFormat>Custom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Raleway</vt:lpstr>
      <vt:lpstr>Raleway Black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Event Presenter</cp:lastModifiedBy>
  <cp:revision>9</cp:revision>
  <dcterms:created xsi:type="dcterms:W3CDTF">2025-10-25T14:53:15Z</dcterms:created>
  <dcterms:modified xsi:type="dcterms:W3CDTF">2025-11-14T08:44:21Z</dcterms:modified>
  <dc:language>en-GB</dc:language>
</cp:coreProperties>
</file>