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9"/>
  </p:notesMasterIdLst>
  <p:sldIdLst>
    <p:sldId id="256" r:id="rId6"/>
    <p:sldId id="259" r:id="rId7"/>
    <p:sldId id="282" r:id="rId8"/>
    <p:sldId id="281" r:id="rId9"/>
    <p:sldId id="261" r:id="rId10"/>
    <p:sldId id="262" r:id="rId11"/>
    <p:sldId id="274" r:id="rId12"/>
    <p:sldId id="283" r:id="rId13"/>
    <p:sldId id="275" r:id="rId14"/>
    <p:sldId id="284" r:id="rId15"/>
    <p:sldId id="279" r:id="rId16"/>
    <p:sldId id="285" r:id="rId17"/>
    <p:sldId id="272" r:id="rId18"/>
  </p:sldIdLst>
  <p:sldSz cx="12192000" cy="6858000"/>
  <p:notesSz cx="6858000" cy="9144000"/>
  <p:defaultTextStyle>
    <a:defPPr>
      <a:defRPr lang="LID4096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37EC48-7487-1AA0-288A-DC1F4B2F04D6}" v="4" dt="2025-11-15T10:57:41.369"/>
    <p1510:client id="{437B15C6-34E9-709D-0496-AFF26CE24464}" v="263" dt="2025-11-15T12:25:07.936"/>
    <p1510:client id="{81C80F40-785B-B954-3E95-FF56A2C40FC9}" v="42" dt="2025-11-15T14:32:17.590"/>
    <p1510:client id="{A40E5685-AE5B-3AC2-7B74-9ED5DD89FFFD}" v="9" dt="2025-11-14T12:00:42.727"/>
    <p1510:client id="{D217C6B2-B951-367D-CC4C-20E876F221FA}" v="93" dt="2025-11-15T10:42:58.449"/>
    <p1510:client id="{F690766D-16AD-9291-C7AF-32415A504758}" v="130" dt="2025-11-14T13:36:03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5741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3C51AB-E455-49A3-F799-CCA4171EC1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CE5EE-0598-A58D-C162-3A4C2C04804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0BD0003-8C7C-449D-814C-3D7CD4D37B7B}" type="datetimeFigureOut">
              <a:rPr lang="en-US"/>
              <a:pPr>
                <a:defRPr/>
              </a:pPr>
              <a:t>11/15/2025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8E0280A-FA83-9145-27AC-832EB3AF47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0634A26-B22D-33E6-827E-A52CDC620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0AD26-BA41-421F-C47F-2EA8D56F71A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1217D-BFDF-CADC-1D78-30A916A60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69A3AC3-AE59-438B-B08B-EEFD1817FADB}" type="slidenum">
              <a:rPr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1B5F5354-2A38-1729-0C98-5B1671678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2CF2F7E6-115E-69DC-558C-0A43B1B20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MSF medical humanitarian organization, MM Team, Community Eng &amp; Comms Coordinator</a:t>
            </a: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0B056A4C-0202-F6BA-E9DB-C8ED645184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0D2BBC8-C609-43CF-A5D2-DAAB2B968088}" type="slidenum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Since November 2012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9A3AC3-AE59-438B-B08B-EEFD1817FADB}" type="slidenum">
              <a:rPr lang="sk-SK"/>
              <a:pPr>
                <a:defRPr/>
              </a:pPr>
              <a:t>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9650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Checking other mappers’ mapping in OpenStreetMap on the HOT Tasking Manager, giving them feedback, correcting and completing (or invalidating for further mapping) it in order to ensure data quality </a:t>
            </a:r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9A3AC3-AE59-438B-B08B-EEFD1817FADB}" type="slidenum">
              <a:rPr lang="sk-SK"/>
              <a:pPr>
                <a:defRPr/>
              </a:pPr>
              <a:t>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91071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A3FB5991-1527-FF72-C92C-97871151D5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5D6B8AB7-A42C-F7EC-40F9-EB3D6B624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en-US" dirty="0">
              <a:ea typeface="Calibri"/>
              <a:cs typeface="Calibri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03D20E9B-B387-46FA-57CE-DA14BC925E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CD7DA39-89D1-4D2F-BF78-C810B6A4006B}" type="slidenum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HOT TM Data Quality working group</a:t>
            </a:r>
            <a:r>
              <a:rPr lang="sk-SK">
                <a:ea typeface="Calibri"/>
                <a:cs typeface="Calibri"/>
              </a:rPr>
              <a:t> - https://www.mentimeter.com/app/presentation/al5772cmkjjye7pafivr6gxz12aozrzw/edit?question=ywhc6ncaf2f2 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9A3AC3-AE59-438B-B08B-EEFD1817FADB}" type="slidenum">
              <a:rPr lang="sk-SK"/>
              <a:pPr>
                <a:defRPr/>
              </a:pPr>
              <a:t>11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91359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B899A1-27B1-6CF9-EE37-B29B0FAFB72F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CZ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083299" y="0"/>
            <a:ext cx="6108701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10" name="Boj s Covid-19"/>
          <p:cNvSpPr txBox="1">
            <a:spLocks noGrp="1"/>
          </p:cNvSpPr>
          <p:nvPr>
            <p:ph type="body" sz="quarter" idx="1"/>
          </p:nvPr>
        </p:nvSpPr>
        <p:spPr>
          <a:xfrm>
            <a:off x="393699" y="2584450"/>
            <a:ext cx="5295901" cy="16891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Boj s Covid-19"/>
          <p:cNvSpPr txBox="1">
            <a:spLocks noGrp="1"/>
          </p:cNvSpPr>
          <p:nvPr>
            <p:ph type="body" sz="quarter" idx="11"/>
          </p:nvPr>
        </p:nvSpPr>
        <p:spPr>
          <a:xfrm>
            <a:off x="400569" y="4381910"/>
            <a:ext cx="5295901" cy="354985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Boj s Covid-19"/>
          <p:cNvSpPr txBox="1">
            <a:spLocks noGrp="1"/>
          </p:cNvSpPr>
          <p:nvPr>
            <p:ph type="body" sz="quarter" idx="12"/>
          </p:nvPr>
        </p:nvSpPr>
        <p:spPr>
          <a:xfrm>
            <a:off x="393699" y="6205498"/>
            <a:ext cx="2733324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Boj s Covid-19"/>
          <p:cNvSpPr txBox="1">
            <a:spLocks noGrp="1"/>
          </p:cNvSpPr>
          <p:nvPr>
            <p:ph type="body" sz="quarter" idx="13"/>
          </p:nvPr>
        </p:nvSpPr>
        <p:spPr>
          <a:xfrm>
            <a:off x="3352800" y="6205498"/>
            <a:ext cx="2343670" cy="354985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200" b="0" i="0">
                <a:solidFill>
                  <a:schemeClr val="bg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4"/>
          <p:cNvSpPr>
            <a:spLocks noGrp="1"/>
          </p:cNvSpPr>
          <p:nvPr>
            <p:ph type="pic" sz="quarter" idx="14"/>
          </p:nvPr>
        </p:nvSpPr>
        <p:spPr>
          <a:xfrm>
            <a:off x="10067514" y="374080"/>
            <a:ext cx="1735490" cy="5687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18" name="Picture Placeholder 14"/>
          <p:cNvSpPr>
            <a:spLocks noGrp="1"/>
          </p:cNvSpPr>
          <p:nvPr>
            <p:ph type="pic" sz="quarter" idx="15"/>
          </p:nvPr>
        </p:nvSpPr>
        <p:spPr>
          <a:xfrm>
            <a:off x="8155586" y="374080"/>
            <a:ext cx="1735490" cy="5687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</p:spTree>
    <p:extLst>
      <p:ext uri="{BB962C8B-B14F-4D97-AF65-F5344CB8AC3E}">
        <p14:creationId xmlns:p14="http://schemas.microsoft.com/office/powerpoint/2010/main" val="2995509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10" name="Boj s Covid-19"/>
          <p:cNvSpPr txBox="1">
            <a:spLocks noGrp="1"/>
          </p:cNvSpPr>
          <p:nvPr>
            <p:ph type="body" sz="quarter" idx="1"/>
          </p:nvPr>
        </p:nvSpPr>
        <p:spPr>
          <a:xfrm>
            <a:off x="393699" y="2584450"/>
            <a:ext cx="5295901" cy="16891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Boj s Covid-19"/>
          <p:cNvSpPr txBox="1">
            <a:spLocks noGrp="1"/>
          </p:cNvSpPr>
          <p:nvPr>
            <p:ph type="body" sz="quarter" idx="11"/>
          </p:nvPr>
        </p:nvSpPr>
        <p:spPr>
          <a:xfrm>
            <a:off x="400569" y="4381910"/>
            <a:ext cx="5295901" cy="354985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Boj s Covid-19"/>
          <p:cNvSpPr txBox="1">
            <a:spLocks noGrp="1"/>
          </p:cNvSpPr>
          <p:nvPr>
            <p:ph type="body" sz="quarter" idx="12"/>
          </p:nvPr>
        </p:nvSpPr>
        <p:spPr>
          <a:xfrm>
            <a:off x="393699" y="6205498"/>
            <a:ext cx="2733324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Boj s Covid-19"/>
          <p:cNvSpPr txBox="1">
            <a:spLocks noGrp="1"/>
          </p:cNvSpPr>
          <p:nvPr>
            <p:ph type="body" sz="quarter" idx="13"/>
          </p:nvPr>
        </p:nvSpPr>
        <p:spPr>
          <a:xfrm>
            <a:off x="3352800" y="6205498"/>
            <a:ext cx="2343670" cy="354985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200" b="0" i="0">
                <a:solidFill>
                  <a:schemeClr val="bg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4"/>
          <p:cNvSpPr>
            <a:spLocks noGrp="1"/>
          </p:cNvSpPr>
          <p:nvPr>
            <p:ph type="pic" sz="quarter" idx="14"/>
          </p:nvPr>
        </p:nvSpPr>
        <p:spPr>
          <a:xfrm>
            <a:off x="10067514" y="374080"/>
            <a:ext cx="1735490" cy="5687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6" name="Picture Placeholder 14"/>
          <p:cNvSpPr>
            <a:spLocks noGrp="1"/>
          </p:cNvSpPr>
          <p:nvPr>
            <p:ph type="pic" sz="quarter" idx="15"/>
          </p:nvPr>
        </p:nvSpPr>
        <p:spPr>
          <a:xfrm>
            <a:off x="8155586" y="374080"/>
            <a:ext cx="1735490" cy="5687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</p:spTree>
    <p:extLst>
      <p:ext uri="{BB962C8B-B14F-4D97-AF65-F5344CB8AC3E}">
        <p14:creationId xmlns:p14="http://schemas.microsoft.com/office/powerpoint/2010/main" val="1615732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486308-439D-AB51-329A-031BA7AB48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088" y="581025"/>
            <a:ext cx="5916612" cy="569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Boj s Covid-19"/>
          <p:cNvSpPr txBox="1">
            <a:spLocks noGrp="1"/>
          </p:cNvSpPr>
          <p:nvPr>
            <p:ph type="body" sz="quarter" idx="1"/>
          </p:nvPr>
        </p:nvSpPr>
        <p:spPr>
          <a:xfrm>
            <a:off x="393699" y="2584450"/>
            <a:ext cx="5295901" cy="16891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4800" b="0" i="0">
                <a:solidFill>
                  <a:srgbClr val="EE0000"/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Boj s Covid-19"/>
          <p:cNvSpPr txBox="1">
            <a:spLocks noGrp="1"/>
          </p:cNvSpPr>
          <p:nvPr>
            <p:ph type="body" sz="quarter" idx="11"/>
          </p:nvPr>
        </p:nvSpPr>
        <p:spPr>
          <a:xfrm>
            <a:off x="400569" y="4381910"/>
            <a:ext cx="5295901" cy="354985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0" i="0">
                <a:solidFill>
                  <a:schemeClr val="tx1">
                    <a:lumMod val="95000"/>
                    <a:lumOff val="5000"/>
                  </a:schemeClr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Boj s Covid-19"/>
          <p:cNvSpPr txBox="1">
            <a:spLocks noGrp="1"/>
          </p:cNvSpPr>
          <p:nvPr>
            <p:ph type="body" sz="quarter" idx="12"/>
          </p:nvPr>
        </p:nvSpPr>
        <p:spPr>
          <a:xfrm>
            <a:off x="393699" y="6191643"/>
            <a:ext cx="2733324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chemeClr val="tx1">
                    <a:lumMod val="95000"/>
                    <a:lumOff val="5000"/>
                  </a:schemeClr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Boj s Covid-19"/>
          <p:cNvSpPr txBox="1">
            <a:spLocks noGrp="1"/>
          </p:cNvSpPr>
          <p:nvPr>
            <p:ph type="body" sz="quarter" idx="13"/>
          </p:nvPr>
        </p:nvSpPr>
        <p:spPr>
          <a:xfrm>
            <a:off x="3352800" y="6191643"/>
            <a:ext cx="2343670" cy="354985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200" b="0" i="0">
                <a:solidFill>
                  <a:schemeClr val="tx1">
                    <a:lumMod val="95000"/>
                    <a:lumOff val="5000"/>
                  </a:schemeClr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4"/>
          <p:cNvSpPr>
            <a:spLocks noGrp="1"/>
          </p:cNvSpPr>
          <p:nvPr>
            <p:ph type="pic" sz="quarter" idx="15"/>
          </p:nvPr>
        </p:nvSpPr>
        <p:spPr>
          <a:xfrm>
            <a:off x="393699" y="345644"/>
            <a:ext cx="1735490" cy="5687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4"/>
          </p:nvPr>
        </p:nvSpPr>
        <p:spPr>
          <a:xfrm>
            <a:off x="2305627" y="345644"/>
            <a:ext cx="1735490" cy="5687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</p:spTree>
    <p:extLst>
      <p:ext uri="{BB962C8B-B14F-4D97-AF65-F5344CB8AC3E}">
        <p14:creationId xmlns:p14="http://schemas.microsoft.com/office/powerpoint/2010/main" val="16360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359500" y="370285"/>
            <a:ext cx="5140325" cy="1081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Boj s Covid-19"/>
          <p:cNvSpPr txBox="1">
            <a:spLocks noGrp="1"/>
          </p:cNvSpPr>
          <p:nvPr>
            <p:ph type="body" sz="quarter" idx="12"/>
          </p:nvPr>
        </p:nvSpPr>
        <p:spPr>
          <a:xfrm>
            <a:off x="298269" y="6205498"/>
            <a:ext cx="2733324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rgbClr val="EE0000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58775" y="1706572"/>
            <a:ext cx="6157913" cy="4039552"/>
          </a:xfrm>
          <a:prstGeom prst="rect">
            <a:avLst/>
          </a:prstGeom>
        </p:spPr>
        <p:txBody>
          <a:bodyPr/>
          <a:lstStyle>
            <a:lvl1pPr>
              <a:buClr>
                <a:srgbClr val="EE0000"/>
              </a:buClr>
              <a:defRPr sz="2000" b="0" i="0">
                <a:latin typeface="NeueHaasGroteskText Pro Md" panose="020B0504020202020204" pitchFamily="34" charset="77"/>
              </a:defRPr>
            </a:lvl1pPr>
            <a:lvl2pPr>
              <a:defRPr sz="2000" b="0" i="0">
                <a:latin typeface="NeueHaasGroteskText Pro" panose="020B0504020202020204" pitchFamily="34" charset="77"/>
              </a:defRPr>
            </a:lvl2pPr>
            <a:lvl3pPr>
              <a:defRPr sz="2000" b="0" i="0">
                <a:latin typeface="NeueHaasGroteskText Pro" panose="020B0504020202020204" pitchFamily="34" charset="77"/>
              </a:defRPr>
            </a:lvl3pPr>
            <a:lvl4pPr>
              <a:defRPr sz="2000" b="0" i="0">
                <a:latin typeface="NeueHaasGroteskText Pro" panose="020B0504020202020204" pitchFamily="34" charset="77"/>
              </a:defRPr>
            </a:lvl4pPr>
            <a:lvl5pPr>
              <a:defRPr sz="2000" b="0" i="0">
                <a:latin typeface="NeueHaasGroteskTex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13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083299" y="0"/>
            <a:ext cx="6108701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59786" y="5015920"/>
            <a:ext cx="4779962" cy="15095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="0" i="0"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359500" y="2763765"/>
            <a:ext cx="5140325" cy="1081087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59500" y="374080"/>
            <a:ext cx="5140325" cy="318648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6875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137A5F-CEDB-43EA-350F-8DF9F4C920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C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59786" y="5015920"/>
            <a:ext cx="4779962" cy="15095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359500" y="2763765"/>
            <a:ext cx="5140325" cy="1081087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0" i="0">
                <a:solidFill>
                  <a:schemeClr val="bg1"/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59500" y="374080"/>
            <a:ext cx="5140325" cy="318648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6631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oj s Covid-19"/>
          <p:cNvSpPr txBox="1">
            <a:spLocks noGrp="1"/>
          </p:cNvSpPr>
          <p:nvPr>
            <p:ph type="body" sz="quarter" idx="12"/>
          </p:nvPr>
        </p:nvSpPr>
        <p:spPr>
          <a:xfrm>
            <a:off x="298269" y="6205498"/>
            <a:ext cx="2733324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rgbClr val="EE0000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17706" y="2957942"/>
            <a:ext cx="6230938" cy="2242420"/>
          </a:xfrm>
          <a:prstGeom prst="rect">
            <a:avLst/>
          </a:prstGeom>
        </p:spPr>
        <p:txBody>
          <a:bodyPr anchor="ctr" anchorCtr="0"/>
          <a:lstStyle>
            <a:lvl1pPr marL="285750" indent="-285750">
              <a:buClr>
                <a:srgbClr val="EE0000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98269" y="1657638"/>
            <a:ext cx="6808216" cy="78110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316557" y="339301"/>
            <a:ext cx="2863850" cy="673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248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oj s Covid-19"/>
          <p:cNvSpPr txBox="1">
            <a:spLocks noGrp="1"/>
          </p:cNvSpPr>
          <p:nvPr>
            <p:ph type="body" sz="quarter" idx="12"/>
          </p:nvPr>
        </p:nvSpPr>
        <p:spPr>
          <a:xfrm>
            <a:off x="298269" y="6205498"/>
            <a:ext cx="2733324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rgbClr val="EE0000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17707" y="2957942"/>
            <a:ext cx="4696746" cy="2242420"/>
          </a:xfrm>
          <a:prstGeom prst="rect">
            <a:avLst/>
          </a:prstGeom>
        </p:spPr>
        <p:txBody>
          <a:bodyPr anchor="ctr" anchorCtr="0"/>
          <a:lstStyle>
            <a:lvl1pPr marL="285750" indent="-285750">
              <a:buClr>
                <a:srgbClr val="EE0000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98269" y="1657638"/>
            <a:ext cx="4711443" cy="78110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2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316557" y="339301"/>
            <a:ext cx="2863850" cy="673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851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oj s Covid-19"/>
          <p:cNvSpPr txBox="1">
            <a:spLocks noGrp="1"/>
          </p:cNvSpPr>
          <p:nvPr>
            <p:ph type="body" sz="quarter" idx="12"/>
          </p:nvPr>
        </p:nvSpPr>
        <p:spPr>
          <a:xfrm>
            <a:off x="298269" y="6205498"/>
            <a:ext cx="2733324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rgbClr val="EE0000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17707" y="2957942"/>
            <a:ext cx="4067257" cy="3006440"/>
          </a:xfrm>
          <a:prstGeom prst="rect">
            <a:avLst/>
          </a:prstGeom>
        </p:spPr>
        <p:txBody>
          <a:bodyPr anchor="ctr" anchorCtr="0"/>
          <a:lstStyle>
            <a:lvl1pPr marL="285750" indent="-285750">
              <a:buClr>
                <a:srgbClr val="EE0000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98269" y="1470600"/>
            <a:ext cx="4523113" cy="78110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5133108" y="0"/>
            <a:ext cx="7058891" cy="6858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2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316557" y="339301"/>
            <a:ext cx="2863850" cy="673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391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com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24" name="Boj s Covid-19"/>
          <p:cNvSpPr txBox="1">
            <a:spLocks noGrp="1"/>
          </p:cNvSpPr>
          <p:nvPr>
            <p:ph type="body" sz="quarter" idx="12"/>
          </p:nvPr>
        </p:nvSpPr>
        <p:spPr>
          <a:xfrm>
            <a:off x="298269" y="6244491"/>
            <a:ext cx="2156173" cy="276999"/>
          </a:xfrm>
          <a:prstGeom prst="rect">
            <a:avLst/>
          </a:prstGeom>
          <a:solidFill>
            <a:schemeClr val="tx1"/>
          </a:solidFill>
        </p:spPr>
        <p:txBody>
          <a:bodyPr anchor="ctr" anchorCtr="1">
            <a:sp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169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/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096000" cy="6858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2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359500" y="374080"/>
            <a:ext cx="5140325" cy="318648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455500" y="374080"/>
            <a:ext cx="5140325" cy="318648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177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oj s Covid-19"/>
          <p:cNvSpPr txBox="1">
            <a:spLocks noGrp="1"/>
          </p:cNvSpPr>
          <p:nvPr>
            <p:ph type="body" sz="quarter" idx="12"/>
          </p:nvPr>
        </p:nvSpPr>
        <p:spPr>
          <a:xfrm>
            <a:off x="298269" y="6205498"/>
            <a:ext cx="2733324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rgbClr val="EE0000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316557" y="339301"/>
            <a:ext cx="2863850" cy="673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78678" y="2811733"/>
            <a:ext cx="2863850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575036" y="2811733"/>
            <a:ext cx="2863850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8749472" y="2811733"/>
            <a:ext cx="2863850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587479" y="3547437"/>
            <a:ext cx="3225800" cy="1468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4575036" y="3547437"/>
            <a:ext cx="3225800" cy="1468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 noProof="0">
                <a:sym typeface="Neue Haas Grotesk Text Pro 65 Medium"/>
              </a:rPr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2"/>
          </p:nvPr>
        </p:nvSpPr>
        <p:spPr>
          <a:xfrm>
            <a:off x="8749472" y="3547437"/>
            <a:ext cx="3225800" cy="1468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 noProof="0">
                <a:sym typeface="Neue Haas Grotesk Text Pro 65 Medium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3974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oj s Covid-19"/>
          <p:cNvSpPr txBox="1">
            <a:spLocks noGrp="1"/>
          </p:cNvSpPr>
          <p:nvPr>
            <p:ph type="body" sz="quarter" idx="12"/>
          </p:nvPr>
        </p:nvSpPr>
        <p:spPr>
          <a:xfrm>
            <a:off x="298269" y="6205498"/>
            <a:ext cx="2733324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rgbClr val="EE0000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15911" y="2145407"/>
            <a:ext cx="1554163" cy="15541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NeueHaasGroteskDisp Pro" panose="020B0504020202020204" pitchFamily="34" charset="77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740200" y="2145407"/>
            <a:ext cx="1554163" cy="15541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NeueHaasGroteskDisp Pro" panose="020B0504020202020204" pitchFamily="34" charset="77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897189" y="2145407"/>
            <a:ext cx="1554163" cy="155416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latin typeface="NeueHaasGroteskDisp Pro" panose="020B0504020202020204" pitchFamily="34" charset="77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316557" y="339301"/>
            <a:ext cx="2863850" cy="673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587479" y="4098356"/>
            <a:ext cx="3225800" cy="1468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4600679" y="4098356"/>
            <a:ext cx="3225800" cy="1468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 noProof="0">
                <a:sym typeface="Neue Haas Grotesk Text Pro 65 Medium"/>
              </a:rPr>
              <a:t>Click to edit Master text styles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9"/>
          </p:nvPr>
        </p:nvSpPr>
        <p:spPr>
          <a:xfrm>
            <a:off x="8753579" y="4098356"/>
            <a:ext cx="3225800" cy="1468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 noProof="0">
                <a:sym typeface="Neue Haas Grotesk Text Pro 65 Medium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269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d squares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99DFFFD1-999F-76BA-7D96-39C51F0BBA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1016000"/>
            <a:ext cx="2779712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A group of red pointers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79AB7227-65DF-2B4A-7D03-29B945F866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725" y="1016000"/>
            <a:ext cx="278130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A red cross on a black background&#10;&#10;Description automatically generated">
            <a:extLst>
              <a:ext uri="{FF2B5EF4-FFF2-40B4-BE49-F238E27FC236}">
                <a16:creationId xmlns:a16="http://schemas.microsoft.com/office/drawing/2014/main" id="{B9D41A6E-C5C9-D5F1-AE92-20FFA81BAA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0775" y="1016000"/>
            <a:ext cx="2779713" cy="277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1513" y="4594225"/>
            <a:ext cx="2780403" cy="1385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705798" y="4594225"/>
            <a:ext cx="2780403" cy="1385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740068" y="4594224"/>
            <a:ext cx="2780403" cy="164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316557" y="339301"/>
            <a:ext cx="2863850" cy="673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1160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cess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sob trpících infekcí má antimikrobální rezistenci">
            <a:extLst>
              <a:ext uri="{FF2B5EF4-FFF2-40B4-BE49-F238E27FC236}">
                <a16:creationId xmlns:a16="http://schemas.microsoft.com/office/drawing/2014/main" id="{206C0EC3-F829-3F6C-F2AD-45061B0083F9}"/>
              </a:ext>
            </a:extLst>
          </p:cNvPr>
          <p:cNvSpPr txBox="1">
            <a:spLocks/>
          </p:cNvSpPr>
          <p:nvPr userDrawn="1"/>
        </p:nvSpPr>
        <p:spPr>
          <a:xfrm>
            <a:off x="671513" y="4594225"/>
            <a:ext cx="2779712" cy="131921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marL="342900" indent="-342900"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308100" indent="-698500"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917700" indent="-698500"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2527300" indent="-698500"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136900" indent="-698500"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3594100" indent="-698500" defTabSz="2436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4051300" indent="-698500" defTabSz="2436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4508500" indent="-698500" defTabSz="2436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965700" indent="-698500" defTabSz="2436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GB" altLang="en-US" sz="1600">
                <a:solidFill>
                  <a:srgbClr val="000000"/>
                </a:solidFill>
                <a:latin typeface="NeueHaasGroteskText Pro Md" pitchFamily="34" charset="0"/>
                <a:cs typeface="NeueHaasGroteskText Pro Md" pitchFamily="34" charset="0"/>
                <a:sym typeface="Neue Haas Grotesk Text Pro 65 M" pitchFamily="34" charset="0"/>
              </a:rPr>
              <a:t>Krok</a:t>
            </a:r>
          </a:p>
          <a:p>
            <a:pPr eaLnBrk="1" hangingPunct="1">
              <a:buFontTx/>
              <a:buAutoNum type="arabicPeriod"/>
            </a:pPr>
            <a:endParaRPr lang="en-GB" altLang="en-US" sz="1600">
              <a:solidFill>
                <a:srgbClr val="000000"/>
              </a:solidFill>
              <a:latin typeface="NeueHaasGroteskText Pro Md" pitchFamily="34" charset="0"/>
              <a:cs typeface="NeueHaasGroteskText Pro Md" pitchFamily="34" charset="0"/>
              <a:sym typeface="Neue Haas Grotesk Text Pro 65 M" pitchFamily="34" charset="0"/>
            </a:endParaRPr>
          </a:p>
          <a:p>
            <a:pPr eaLnBrk="1" hangingPunct="1"/>
            <a:r>
              <a:rPr lang="en-GB" altLang="en-US" sz="1400">
                <a:solidFill>
                  <a:srgbClr val="000000"/>
                </a:solidFill>
                <a:latin typeface="NeueHaasGroteskDisp Pro"/>
                <a:cs typeface="NeueHaasGroteskText Pro Md" pitchFamily="34" charset="0"/>
                <a:sym typeface="Neue Haas Grotesk Text Pro 65 M" pitchFamily="34" charset="0"/>
              </a:rPr>
              <a:t>Dobrovolníci na dálku mapuí s pomocí satelitních snimků a OpenStreetMap</a:t>
            </a:r>
          </a:p>
        </p:txBody>
      </p:sp>
      <p:sp>
        <p:nvSpPr>
          <p:cNvPr id="3" name="lidí dnes na světě ohrožují opomíjené nemoci">
            <a:extLst>
              <a:ext uri="{FF2B5EF4-FFF2-40B4-BE49-F238E27FC236}">
                <a16:creationId xmlns:a16="http://schemas.microsoft.com/office/drawing/2014/main" id="{D4281742-C49B-BD8E-2590-6B0E89050097}"/>
              </a:ext>
            </a:extLst>
          </p:cNvPr>
          <p:cNvSpPr txBox="1">
            <a:spLocks/>
          </p:cNvSpPr>
          <p:nvPr userDrawn="1"/>
        </p:nvSpPr>
        <p:spPr>
          <a:xfrm>
            <a:off x="4697413" y="4594225"/>
            <a:ext cx="2741612" cy="131921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308100" indent="-698500"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917700" indent="-698500"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2527300" indent="-698500"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136900" indent="-698500"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3594100" indent="-698500" defTabSz="2436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4051300" indent="-698500" defTabSz="2436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4508500" indent="-698500" defTabSz="2436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965700" indent="-698500" defTabSz="2436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GB" altLang="en-US" sz="1600">
                <a:solidFill>
                  <a:srgbClr val="000000"/>
                </a:solidFill>
                <a:latin typeface="NeueHaasGroteskText Pro Md" pitchFamily="34" charset="0"/>
                <a:cs typeface="NeueHaasGroteskText Pro Md" pitchFamily="34" charset="0"/>
                <a:sym typeface="Neue Haas Grotesk Text Pro 65 M" pitchFamily="34" charset="0"/>
              </a:rPr>
              <a:t>2. Krok</a:t>
            </a:r>
          </a:p>
          <a:p>
            <a:pPr eaLnBrk="1" hangingPunct="1">
              <a:lnSpc>
                <a:spcPct val="90000"/>
              </a:lnSpc>
            </a:pPr>
            <a:endParaRPr lang="en-GB" altLang="en-US" sz="1600">
              <a:solidFill>
                <a:srgbClr val="000000"/>
              </a:solidFill>
              <a:latin typeface="NeueHaasGroteskText Pro Md" pitchFamily="34" charset="0"/>
              <a:cs typeface="NeueHaasGroteskText Pro Md" pitchFamily="34" charset="0"/>
              <a:sym typeface="Neue Haas Grotesk Text Pro 65 M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1400">
                <a:solidFill>
                  <a:srgbClr val="000000"/>
                </a:solidFill>
                <a:latin typeface="NeueHaasGroteskDisp Pro"/>
                <a:cs typeface="NeueHaasGroteskText Pro Md" pitchFamily="34" charset="0"/>
                <a:sym typeface="Neue Haas Grotesk Text Pro 65 M" pitchFamily="34" charset="0"/>
              </a:rPr>
              <a:t>Dobrovolníci z místních komunit přidávají detaily, jako třeba názvy ulic, čtvrtí nebo umístění center pro evakuaci</a:t>
            </a:r>
          </a:p>
          <a:p>
            <a:pPr eaLnBrk="1" hangingPunct="1">
              <a:lnSpc>
                <a:spcPct val="90000"/>
              </a:lnSpc>
            </a:pPr>
            <a:endParaRPr lang="en-GB" altLang="en-US" sz="1600">
              <a:solidFill>
                <a:srgbClr val="000000"/>
              </a:solidFill>
              <a:latin typeface="NeueHaasGroteskText Pro Md" pitchFamily="34" charset="0"/>
              <a:cs typeface="NeueHaasGroteskText Pro Md" pitchFamily="34" charset="0"/>
              <a:sym typeface="Neue Haas Grotesk Text Pro 65 M" pitchFamily="34" charset="0"/>
            </a:endParaRPr>
          </a:p>
        </p:txBody>
      </p:sp>
      <p:sp>
        <p:nvSpPr>
          <p:cNvPr id="4" name="farmaceutických firem utrácí víc za marketing než za R&amp;D">
            <a:extLst>
              <a:ext uri="{FF2B5EF4-FFF2-40B4-BE49-F238E27FC236}">
                <a16:creationId xmlns:a16="http://schemas.microsoft.com/office/drawing/2014/main" id="{BA92E32D-AB81-CD3B-7303-D8B18C726DB9}"/>
              </a:ext>
            </a:extLst>
          </p:cNvPr>
          <p:cNvSpPr txBox="1">
            <a:spLocks/>
          </p:cNvSpPr>
          <p:nvPr userDrawn="1"/>
        </p:nvSpPr>
        <p:spPr>
          <a:xfrm>
            <a:off x="8824913" y="4594225"/>
            <a:ext cx="2741612" cy="138588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308100" indent="-698500"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917700" indent="-698500"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2527300" indent="-698500"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136900" indent="-698500" defTabSz="2436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3594100" indent="-698500" defTabSz="2436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4051300" indent="-698500" defTabSz="2436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4508500" indent="-698500" defTabSz="2436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965700" indent="-698500" defTabSz="2436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GB" altLang="en-US" sz="1500">
                <a:solidFill>
                  <a:srgbClr val="000000"/>
                </a:solidFill>
                <a:latin typeface="NeueHaasGroteskText Pro Md" pitchFamily="34" charset="0"/>
                <a:cs typeface="NeueHaasGroteskText Pro Md" pitchFamily="34" charset="0"/>
                <a:sym typeface="Neue Haas Grotesk Text Pro 65 M" pitchFamily="34" charset="0"/>
              </a:rPr>
              <a:t>3. Krok</a:t>
            </a:r>
          </a:p>
          <a:p>
            <a:pPr eaLnBrk="1" hangingPunct="1">
              <a:lnSpc>
                <a:spcPct val="90000"/>
              </a:lnSpc>
            </a:pPr>
            <a:endParaRPr lang="en-GB" altLang="en-US" sz="1500">
              <a:solidFill>
                <a:srgbClr val="000000"/>
              </a:solidFill>
              <a:latin typeface="NeueHaasGroteskText Pro Md" pitchFamily="34" charset="0"/>
              <a:cs typeface="NeueHaasGroteskText Pro Md" pitchFamily="34" charset="0"/>
              <a:sym typeface="Neue Haas Grotesk Text Pro 65 M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1300">
                <a:solidFill>
                  <a:srgbClr val="000000"/>
                </a:solidFill>
                <a:latin typeface="NeueHaasGroteskText Pro" pitchFamily="34" charset="0"/>
                <a:cs typeface="NeueHaasGroteskText Pro Md" pitchFamily="34" charset="0"/>
                <a:sym typeface="Neue Haas Grotesk Text Pro 65 M" pitchFamily="34" charset="0"/>
              </a:rPr>
              <a:t>Humanitární organizace využívají informace z map, aby mohly plánovat minimalizaci rizik a zachraňovat životy v případě katastrof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71513" y="1016000"/>
            <a:ext cx="2779712" cy="2779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640612" y="1016000"/>
            <a:ext cx="2779712" cy="2779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740340" y="1016000"/>
            <a:ext cx="2779712" cy="2779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</p:spTree>
    <p:extLst>
      <p:ext uri="{BB962C8B-B14F-4D97-AF65-F5344CB8AC3E}">
        <p14:creationId xmlns:p14="http://schemas.microsoft.com/office/powerpoint/2010/main" val="1630751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E010AB-C336-0794-5B66-EEE8937EBF18}"/>
              </a:ext>
            </a:extLst>
          </p:cNvPr>
          <p:cNvSpPr/>
          <p:nvPr userDrawn="1"/>
        </p:nvSpPr>
        <p:spPr>
          <a:xfrm>
            <a:off x="4695825" y="601663"/>
            <a:ext cx="2800350" cy="71755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CZ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12231" y="694119"/>
            <a:ext cx="6967538" cy="59067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0" i="0">
                <a:solidFill>
                  <a:schemeClr val="bg1"/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34056" y="2437080"/>
            <a:ext cx="7523887" cy="3006440"/>
          </a:xfrm>
          <a:prstGeom prst="rect">
            <a:avLst/>
          </a:prstGeom>
        </p:spPr>
        <p:txBody>
          <a:bodyPr anchor="ctr" anchorCtr="0"/>
          <a:lstStyle>
            <a:lvl1pPr marL="285750" indent="-285750" algn="ctr">
              <a:buClr>
                <a:srgbClr val="EE0000"/>
              </a:buClr>
              <a:buFont typeface="Arial" panose="020B0604020202020204" pitchFamily="34" charset="0"/>
              <a:buChar char="•"/>
              <a:defRPr sz="1600" b="0" i="0" u="sng">
                <a:solidFill>
                  <a:schemeClr val="tx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25543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_ msf_c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0ED2C7C-2F40-9F1F-9876-A0D9E592B5C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CZ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4B2D8C-B288-D5A5-D5D1-E8DB0FEC52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7925" y="357188"/>
            <a:ext cx="173513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5143A959-085D-6154-258E-3875F22E5D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9913" y="357188"/>
            <a:ext cx="1527175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phic 4">
            <a:extLst>
              <a:ext uri="{FF2B5EF4-FFF2-40B4-BE49-F238E27FC236}">
                <a16:creationId xmlns:a16="http://schemas.microsoft.com/office/drawing/2014/main" id="{4DBFED6E-BFDA-30CA-446C-84A9036E00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607536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87507161-573B-9D10-8EC9-E065BED12A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688" y="607536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6">
            <a:extLst>
              <a:ext uri="{FF2B5EF4-FFF2-40B4-BE49-F238E27FC236}">
                <a16:creationId xmlns:a16="http://schemas.microsoft.com/office/drawing/2014/main" id="{5C9FDD1B-DE39-4A82-F87F-9B5708AD7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688" y="607536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Boj s Covid-19"/>
          <p:cNvSpPr txBox="1">
            <a:spLocks noGrp="1"/>
          </p:cNvSpPr>
          <p:nvPr>
            <p:ph type="body" sz="quarter" idx="1"/>
          </p:nvPr>
        </p:nvSpPr>
        <p:spPr>
          <a:xfrm>
            <a:off x="393699" y="2046266"/>
            <a:ext cx="7319407" cy="1689100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0" i="0">
                <a:solidFill>
                  <a:schemeClr val="bg1"/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388996" y="374080"/>
            <a:ext cx="5140325" cy="318648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Boj s Covid-19"/>
          <p:cNvSpPr txBox="1">
            <a:spLocks noGrp="1"/>
          </p:cNvSpPr>
          <p:nvPr>
            <p:ph type="body" sz="quarter" idx="11"/>
          </p:nvPr>
        </p:nvSpPr>
        <p:spPr>
          <a:xfrm>
            <a:off x="400570" y="4316208"/>
            <a:ext cx="5140326" cy="936141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Boj s Covid-19"/>
          <p:cNvSpPr txBox="1">
            <a:spLocks noGrp="1"/>
          </p:cNvSpPr>
          <p:nvPr>
            <p:ph type="body" sz="quarter" idx="12"/>
          </p:nvPr>
        </p:nvSpPr>
        <p:spPr>
          <a:xfrm>
            <a:off x="915098" y="6100144"/>
            <a:ext cx="1553088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Boj s Covid-19"/>
          <p:cNvSpPr txBox="1">
            <a:spLocks noGrp="1"/>
          </p:cNvSpPr>
          <p:nvPr>
            <p:ph type="body" sz="quarter" idx="17"/>
          </p:nvPr>
        </p:nvSpPr>
        <p:spPr>
          <a:xfrm>
            <a:off x="3169021" y="6100144"/>
            <a:ext cx="1553088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Boj s Covid-19"/>
          <p:cNvSpPr txBox="1">
            <a:spLocks noGrp="1"/>
          </p:cNvSpPr>
          <p:nvPr>
            <p:ph type="body" sz="quarter" idx="18"/>
          </p:nvPr>
        </p:nvSpPr>
        <p:spPr>
          <a:xfrm>
            <a:off x="5462872" y="6100144"/>
            <a:ext cx="1553088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5281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_ replacable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A043C81-A410-BD92-F531-A45DBFE6F8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CZ"/>
          </a:p>
        </p:txBody>
      </p:sp>
      <p:pic>
        <p:nvPicPr>
          <p:cNvPr id="7" name="Graphic 2">
            <a:extLst>
              <a:ext uri="{FF2B5EF4-FFF2-40B4-BE49-F238E27FC236}">
                <a16:creationId xmlns:a16="http://schemas.microsoft.com/office/drawing/2014/main" id="{B7E6FEAB-EA0F-7BAE-4DC0-00ACA2BAB0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607536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phic 3">
            <a:extLst>
              <a:ext uri="{FF2B5EF4-FFF2-40B4-BE49-F238E27FC236}">
                <a16:creationId xmlns:a16="http://schemas.microsoft.com/office/drawing/2014/main" id="{F9B14315-9C73-B4D1-ECF6-585DABC1E3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688" y="607536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8FAB86C7-EC85-B772-CE2F-2FDAB2EA4C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688" y="607536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Boj s Covid-19"/>
          <p:cNvSpPr txBox="1">
            <a:spLocks noGrp="1"/>
          </p:cNvSpPr>
          <p:nvPr>
            <p:ph type="body" sz="quarter" idx="1"/>
          </p:nvPr>
        </p:nvSpPr>
        <p:spPr>
          <a:xfrm>
            <a:off x="393699" y="2046266"/>
            <a:ext cx="7319407" cy="1689100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0" i="0">
                <a:solidFill>
                  <a:schemeClr val="bg1"/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Boj s Covid-19"/>
          <p:cNvSpPr txBox="1">
            <a:spLocks noGrp="1"/>
          </p:cNvSpPr>
          <p:nvPr>
            <p:ph type="body" sz="quarter" idx="12"/>
          </p:nvPr>
        </p:nvSpPr>
        <p:spPr>
          <a:xfrm>
            <a:off x="915098" y="6100144"/>
            <a:ext cx="1553088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388996" y="374080"/>
            <a:ext cx="5140325" cy="318648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Boj s Covid-19"/>
          <p:cNvSpPr txBox="1">
            <a:spLocks noGrp="1"/>
          </p:cNvSpPr>
          <p:nvPr>
            <p:ph type="body" sz="quarter" idx="17"/>
          </p:nvPr>
        </p:nvSpPr>
        <p:spPr>
          <a:xfrm>
            <a:off x="3169021" y="6100144"/>
            <a:ext cx="1553088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Boj s Covid-19"/>
          <p:cNvSpPr txBox="1">
            <a:spLocks noGrp="1"/>
          </p:cNvSpPr>
          <p:nvPr>
            <p:ph type="body" sz="quarter" idx="18"/>
          </p:nvPr>
        </p:nvSpPr>
        <p:spPr>
          <a:xfrm>
            <a:off x="5462872" y="6100144"/>
            <a:ext cx="1553088" cy="35498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Boj s Covid-19"/>
          <p:cNvSpPr txBox="1">
            <a:spLocks noGrp="1"/>
          </p:cNvSpPr>
          <p:nvPr>
            <p:ph type="body" sz="quarter" idx="11"/>
          </p:nvPr>
        </p:nvSpPr>
        <p:spPr>
          <a:xfrm>
            <a:off x="400570" y="4316208"/>
            <a:ext cx="5140326" cy="936141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NeueHaasGroteskText Pro Md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Picture Placeholder 14"/>
          <p:cNvSpPr>
            <a:spLocks noGrp="1"/>
          </p:cNvSpPr>
          <p:nvPr>
            <p:ph type="pic" sz="quarter" idx="15"/>
          </p:nvPr>
        </p:nvSpPr>
        <p:spPr>
          <a:xfrm>
            <a:off x="8186959" y="374080"/>
            <a:ext cx="1735490" cy="5687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  <p:sp>
        <p:nvSpPr>
          <p:cNvPr id="14" name="Picture Placeholder 14"/>
          <p:cNvSpPr>
            <a:spLocks noGrp="1"/>
          </p:cNvSpPr>
          <p:nvPr>
            <p:ph type="pic" sz="quarter" idx="14"/>
          </p:nvPr>
        </p:nvSpPr>
        <p:spPr>
          <a:xfrm>
            <a:off x="10098887" y="374080"/>
            <a:ext cx="1735490" cy="5687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NeueHaasGroteskText Pro" panose="020B0504020202020204" pitchFamily="34" charset="77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CZ" noProof="0"/>
          </a:p>
        </p:txBody>
      </p:sp>
    </p:spTree>
    <p:extLst>
      <p:ext uri="{BB962C8B-B14F-4D97-AF65-F5344CB8AC3E}">
        <p14:creationId xmlns:p14="http://schemas.microsoft.com/office/powerpoint/2010/main" val="2047362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11" r:id="rId2"/>
    <p:sldLayoutId id="2147483722" r:id="rId3"/>
    <p:sldLayoutId id="2147483712" r:id="rId4"/>
    <p:sldLayoutId id="2147483713" r:id="rId5"/>
    <p:sldLayoutId id="214748372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4" r:id="rId14"/>
    <p:sldLayoutId id="2147483725" r:id="rId15"/>
    <p:sldLayoutId id="2147483726" r:id="rId16"/>
    <p:sldLayoutId id="2147483727" r:id="rId17"/>
    <p:sldLayoutId id="2147483728" r:id="rId1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Placeholder 2">
            <a:extLst>
              <a:ext uri="{FF2B5EF4-FFF2-40B4-BE49-F238E27FC236}">
                <a16:creationId xmlns:a16="http://schemas.microsoft.com/office/drawing/2014/main" id="{3D65F623-90FB-F27A-CFA8-599C05748B12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393700" y="1385180"/>
            <a:ext cx="5295900" cy="288837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dirty="0"/>
              <a:t>Quality of OSM data created by humanitarian mappers</a:t>
            </a:r>
            <a:endParaRPr lang="LID4096" altLang="en-US" dirty="0">
              <a:latin typeface="NeueHaasGroteskText Pro Md" pitchFamily="34" charset="0"/>
            </a:endParaRPr>
          </a:p>
        </p:txBody>
      </p:sp>
      <p:sp>
        <p:nvSpPr>
          <p:cNvPr id="10244" name="Text Placeholder 3">
            <a:extLst>
              <a:ext uri="{FF2B5EF4-FFF2-40B4-BE49-F238E27FC236}">
                <a16:creationId xmlns:a16="http://schemas.microsoft.com/office/drawing/2014/main" id="{537A84BA-86F7-7EFF-37E9-ECA1D0C12CBA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00050" y="4381500"/>
            <a:ext cx="5295900" cy="35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>
                <a:latin typeface="NeueHaasGroteskText Pro Md" pitchFamily="34" charset="0"/>
              </a:rPr>
              <a:t>State of the Map Europe 202</a:t>
            </a:r>
            <a:r>
              <a:rPr lang="sk-SK" altLang="en-US" dirty="0">
                <a:latin typeface="NeueHaasGroteskText Pro Md" pitchFamily="34" charset="0"/>
              </a:rPr>
              <a:t>5</a:t>
            </a:r>
            <a:endParaRPr lang="LID4096" altLang="en-US" dirty="0">
              <a:latin typeface="NeueHaasGroteskText Pro Md" pitchFamily="34" charset="0"/>
            </a:endParaRPr>
          </a:p>
        </p:txBody>
      </p:sp>
      <p:sp>
        <p:nvSpPr>
          <p:cNvPr id="10245" name="Text Placeholder 4">
            <a:extLst>
              <a:ext uri="{FF2B5EF4-FFF2-40B4-BE49-F238E27FC236}">
                <a16:creationId xmlns:a16="http://schemas.microsoft.com/office/drawing/2014/main" id="{E493E13A-946F-A424-CF4A-ACB74A944BE3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393700" y="5377758"/>
            <a:ext cx="2733675" cy="1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sk-SK" altLang="en-US" dirty="0">
                <a:latin typeface="NeueHaasGroteskText Pro" pitchFamily="34" charset="0"/>
              </a:rPr>
              <a:t>Patrik Brigant</a:t>
            </a:r>
            <a:endParaRPr lang="en-US" altLang="en-US" dirty="0">
              <a:latin typeface="NeueHaasGroteskText Pro" pitchFamily="34" charset="0"/>
            </a:endParaRPr>
          </a:p>
          <a:p>
            <a:pPr eaLnBrk="1" hangingPunct="1"/>
            <a:r>
              <a:rPr lang="en-US" altLang="en-US" dirty="0">
                <a:latin typeface="NeueHaasGroteskText Pro" pitchFamily="34" charset="0"/>
              </a:rPr>
              <a:t>Missing Maps </a:t>
            </a:r>
            <a:r>
              <a:rPr lang="sk-SK" altLang="en-US" dirty="0">
                <a:latin typeface="NeueHaasGroteskText Pro" pitchFamily="34" charset="0"/>
              </a:rPr>
              <a:t>GIS </a:t>
            </a:r>
            <a:r>
              <a:rPr lang="sk-SK" altLang="en-US" dirty="0" err="1">
                <a:latin typeface="NeueHaasGroteskText Pro" pitchFamily="34" charset="0"/>
              </a:rPr>
              <a:t>Officer</a:t>
            </a:r>
            <a:endParaRPr lang="en-US" altLang="en-US" dirty="0">
              <a:latin typeface="NeueHaasGroteskText Pro" pitchFamily="34" charset="0"/>
            </a:endParaRPr>
          </a:p>
          <a:p>
            <a:pPr eaLnBrk="1" hangingPunct="1"/>
            <a:r>
              <a:rPr lang="en-US" altLang="en-US" dirty="0">
                <a:latin typeface="NeueHaasGroteskText Pro" pitchFamily="34" charset="0"/>
              </a:rPr>
              <a:t>M</a:t>
            </a:r>
            <a:r>
              <a:rPr lang="fr-CH" altLang="en-US" dirty="0" err="1">
                <a:latin typeface="NeueHaasGroteskText Pro" pitchFamily="34" charset="0"/>
              </a:rPr>
              <a:t>édecins</a:t>
            </a:r>
            <a:r>
              <a:rPr lang="fr-CH" altLang="en-US" dirty="0">
                <a:latin typeface="NeueHaasGroteskText Pro" pitchFamily="34" charset="0"/>
              </a:rPr>
              <a:t> Sans Frontières</a:t>
            </a:r>
            <a:endParaRPr lang="LID4096" altLang="en-US" dirty="0">
              <a:latin typeface="NeueHaasGroteskText Pro" pitchFamily="34" charset="0"/>
            </a:endParaRPr>
          </a:p>
        </p:txBody>
      </p:sp>
      <p:sp>
        <p:nvSpPr>
          <p:cNvPr id="10246" name="Text Placeholder 5">
            <a:extLst>
              <a:ext uri="{FF2B5EF4-FFF2-40B4-BE49-F238E27FC236}">
                <a16:creationId xmlns:a16="http://schemas.microsoft.com/office/drawing/2014/main" id="{7266D1E2-1CC9-67AE-8F0F-B1EB63FAAC1D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352800" y="6205538"/>
            <a:ext cx="2343150" cy="35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>
                <a:latin typeface="NeueHaasGroteskText Pro" pitchFamily="34" charset="0"/>
              </a:rPr>
              <a:t>1</a:t>
            </a:r>
            <a:r>
              <a:rPr lang="sk-SK" altLang="en-US" dirty="0">
                <a:latin typeface="NeueHaasGroteskText Pro" pitchFamily="34" charset="0"/>
              </a:rPr>
              <a:t>5</a:t>
            </a:r>
            <a:r>
              <a:rPr lang="en-US" altLang="en-US" dirty="0">
                <a:latin typeface="NeueHaasGroteskText Pro" pitchFamily="34" charset="0"/>
              </a:rPr>
              <a:t> November 202</a:t>
            </a:r>
            <a:r>
              <a:rPr lang="sk-SK" altLang="en-US" dirty="0">
                <a:latin typeface="NeueHaasGroteskText Pro" pitchFamily="34" charset="0"/>
              </a:rPr>
              <a:t>5</a:t>
            </a:r>
            <a:endParaRPr lang="LID4096" altLang="en-US" dirty="0">
              <a:latin typeface="NeueHaasGroteskText Pro" pitchFamily="34" charset="0"/>
            </a:endParaRPr>
          </a:p>
        </p:txBody>
      </p:sp>
      <p:pic>
        <p:nvPicPr>
          <p:cNvPr id="10247" name="Picture Placeholder 11" descr="A red and black logo&#10;&#10;Description automatically generated">
            <a:extLst>
              <a:ext uri="{FF2B5EF4-FFF2-40B4-BE49-F238E27FC236}">
                <a16:creationId xmlns:a16="http://schemas.microsoft.com/office/drawing/2014/main" id="{FE5C4A91-7145-0B54-2AA6-7240800B9BD5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9" b="6239"/>
          <a:stretch>
            <a:fillRect/>
          </a:stretch>
        </p:blipFill>
        <p:spPr bwMode="auto">
          <a:xfrm>
            <a:off x="10174288" y="374650"/>
            <a:ext cx="1735137" cy="5683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16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972F7FBF-6ECD-A165-286D-9D92AC1D0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384175"/>
            <a:ext cx="1546225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9" name="Picture Placeholder 18">
            <a:extLst>
              <a:ext uri="{FF2B5EF4-FFF2-40B4-BE49-F238E27FC236}">
                <a16:creationId xmlns:a16="http://schemas.microsoft.com/office/drawing/2014/main" id="{C34CACA5-EE5C-2D10-A0DF-8F655FF2E481}"/>
              </a:ext>
            </a:extLst>
          </p:cNvPr>
          <p:cNvSpPr>
            <a:spLocks noGrp="1" noChangeArrowheads="1"/>
          </p:cNvSpPr>
          <p:nvPr>
            <p:ph type="pic" sz="quarter" idx="15"/>
          </p:nvPr>
        </p:nvSpPr>
        <p:spPr bwMode="auto">
          <a:xfrm>
            <a:off x="8154988" y="374650"/>
            <a:ext cx="1736725" cy="5683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11" name="Picture Placeholder 10" descr="A person holding a computer and a person sitting in a chair&#10;&#10;AI-generated content may be incorrect.">
            <a:extLst>
              <a:ext uri="{FF2B5EF4-FFF2-40B4-BE49-F238E27FC236}">
                <a16:creationId xmlns:a16="http://schemas.microsoft.com/office/drawing/2014/main" id="{CDE45573-817A-FBF0-F05C-F3E2BC1E633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/>
          <a:srcRect l="23889" r="16729"/>
          <a:stretch/>
        </p:blipFill>
        <p:spPr>
          <a:xfrm>
            <a:off x="6083299" y="0"/>
            <a:ext cx="6108701" cy="6858000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Placeholder 1">
            <a:extLst>
              <a:ext uri="{FF2B5EF4-FFF2-40B4-BE49-F238E27FC236}">
                <a16:creationId xmlns:a16="http://schemas.microsoft.com/office/drawing/2014/main" id="{394B3C26-B9B2-DB3A-F2B0-63FF82F45FF6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358775" y="369888"/>
            <a:ext cx="5140325" cy="1081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latin typeface="NeueHaasGroteskText Pro Md"/>
              </a:rPr>
              <a:t>Who are you?</a:t>
            </a:r>
            <a:endParaRPr lang="sk-SK" dirty="0"/>
          </a:p>
        </p:txBody>
      </p:sp>
      <p:sp>
        <p:nvSpPr>
          <p:cNvPr id="12291" name="Text Placeholder 2">
            <a:extLst>
              <a:ext uri="{FF2B5EF4-FFF2-40B4-BE49-F238E27FC236}">
                <a16:creationId xmlns:a16="http://schemas.microsoft.com/office/drawing/2014/main" id="{E7561DDE-5655-1546-AC2F-C66931FB1D17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298450" y="6205538"/>
            <a:ext cx="2733675" cy="35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NeueHaasGroteskText Pro" pitchFamily="34" charset="0"/>
            </a:endParaRPr>
          </a:p>
        </p:txBody>
      </p:sp>
      <p:sp>
        <p:nvSpPr>
          <p:cNvPr id="12292" name="Text Placeholder 3">
            <a:extLst>
              <a:ext uri="{FF2B5EF4-FFF2-40B4-BE49-F238E27FC236}">
                <a16:creationId xmlns:a16="http://schemas.microsoft.com/office/drawing/2014/main" id="{514B1E69-0CAF-DA1B-D0EA-7702088E95AC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58775" y="1706563"/>
            <a:ext cx="6157913" cy="4040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latin typeface="NeueHaasGroteskText Pro Md"/>
              </a:rPr>
              <a:t>What was the first feedback that you received about your mapping? How did it made you feel?</a:t>
            </a:r>
          </a:p>
          <a:p>
            <a:endParaRPr lang="en-US" altLang="en-US" dirty="0">
              <a:latin typeface="NeueHaasGroteskText Pro M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0BF4B609-B561-3A6C-9592-6DE16EFB4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" y="5140325"/>
            <a:ext cx="12198350" cy="1746250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696B2DE-4C1B-28DC-9645-FB56607844C4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298450" y="6245225"/>
            <a:ext cx="2155825" cy="276225"/>
          </a:xfrm>
          <a:solidFill>
            <a:schemeClr val="tx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  <a:latin typeface="NeueHaasGroteskText Pro"/>
              </a:rPr>
              <a:t>Humstats.heigit.org</a:t>
            </a:r>
          </a:p>
        </p:txBody>
      </p:sp>
      <p:pic>
        <p:nvPicPr>
          <p:cNvPr id="10" name="Obrázok 9" descr="Obrázok, na ktorom je text, písmo, snímka obrazovky&#10;&#10;Obsah vygenerovaný pomocou AI môže byť nesprávny.">
            <a:extLst>
              <a:ext uri="{FF2B5EF4-FFF2-40B4-BE49-F238E27FC236}">
                <a16:creationId xmlns:a16="http://schemas.microsoft.com/office/drawing/2014/main" id="{2A9BA49B-2BD1-49DC-46DC-F491429F9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92064"/>
            <a:ext cx="12192000" cy="3873871"/>
          </a:xfrm>
          <a:prstGeom prst="rect">
            <a:avLst/>
          </a:prstGeom>
        </p:spPr>
      </p:pic>
      <p:pic>
        <p:nvPicPr>
          <p:cNvPr id="2" name="Obrázok 1">
            <a:extLst>
              <a:ext uri="{FF2B5EF4-FFF2-40B4-BE49-F238E27FC236}">
                <a16:creationId xmlns:a16="http://schemas.microsoft.com/office/drawing/2014/main" id="{B123103E-490C-3E49-DB1D-380BBCB79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" y="-28575"/>
            <a:ext cx="12198350" cy="3460750"/>
          </a:xfrm>
          <a:prstGeom prst="rect">
            <a:avLst/>
          </a:prstGeom>
        </p:spPr>
      </p:pic>
      <p:sp>
        <p:nvSpPr>
          <p:cNvPr id="12" name="Zástupný text 11">
            <a:extLst>
              <a:ext uri="{FF2B5EF4-FFF2-40B4-BE49-F238E27FC236}">
                <a16:creationId xmlns:a16="http://schemas.microsoft.com/office/drawing/2014/main" id="{16C7D33D-48B1-6725-693B-12B0AC7B67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3895" y="802085"/>
            <a:ext cx="10976977" cy="2025565"/>
          </a:xfrm>
        </p:spPr>
        <p:txBody>
          <a:bodyPr lIns="91440" tIns="45720" rIns="91440" bIns="45720" anchor="t"/>
          <a:lstStyle/>
          <a:p>
            <a:pPr algn="ctr"/>
            <a:r>
              <a:rPr lang="sk-SK" sz="4800" err="1">
                <a:latin typeface="Calibri"/>
                <a:ea typeface="Calibri"/>
                <a:cs typeface="Calibri"/>
              </a:rPr>
              <a:t>OpenStreetMap</a:t>
            </a:r>
            <a:r>
              <a:rPr lang="sk-SK" sz="4800" dirty="0">
                <a:latin typeface="Calibri"/>
                <a:ea typeface="Calibri"/>
                <a:cs typeface="Calibri"/>
              </a:rPr>
              <a:t> </a:t>
            </a:r>
          </a:p>
          <a:p>
            <a:pPr algn="ctr"/>
            <a:r>
              <a:rPr lang="sk-SK" dirty="0" err="1">
                <a:latin typeface="Calibri"/>
                <a:ea typeface="Calibri"/>
                <a:cs typeface="Calibri"/>
              </a:rPr>
              <a:t>Contributions</a:t>
            </a:r>
            <a:r>
              <a:rPr lang="sk-SK" dirty="0">
                <a:latin typeface="Calibri"/>
                <a:ea typeface="Calibri"/>
                <a:cs typeface="Calibri"/>
              </a:rPr>
              <a:t> to </a:t>
            </a:r>
            <a:r>
              <a:rPr lang="sk-SK" dirty="0" err="1">
                <a:latin typeface="Calibri"/>
                <a:ea typeface="Calibri"/>
                <a:cs typeface="Calibri"/>
              </a:rPr>
              <a:t>the</a:t>
            </a:r>
            <a:r>
              <a:rPr lang="sk-SK" dirty="0">
                <a:latin typeface="Calibri"/>
                <a:ea typeface="Calibri"/>
                <a:cs typeface="Calibri"/>
              </a:rPr>
              <a:t> OSM </a:t>
            </a:r>
            <a:r>
              <a:rPr lang="sk-SK" dirty="0" err="1">
                <a:latin typeface="Calibri"/>
                <a:ea typeface="Calibri"/>
                <a:cs typeface="Calibri"/>
              </a:rPr>
              <a:t>database</a:t>
            </a:r>
            <a:r>
              <a:rPr lang="sk-SK" dirty="0">
                <a:latin typeface="Calibri"/>
                <a:ea typeface="Calibri"/>
                <a:cs typeface="Calibri"/>
              </a:rPr>
              <a:t> </a:t>
            </a:r>
            <a:r>
              <a:rPr lang="sk-SK" dirty="0" err="1">
                <a:latin typeface="Calibri"/>
                <a:ea typeface="Calibri"/>
                <a:cs typeface="Calibri"/>
              </a:rPr>
              <a:t>through</a:t>
            </a:r>
            <a:r>
              <a:rPr lang="sk-SK" dirty="0">
                <a:latin typeface="Calibri"/>
                <a:ea typeface="Calibri"/>
                <a:cs typeface="Calibri"/>
              </a:rPr>
              <a:t> </a:t>
            </a:r>
            <a:r>
              <a:rPr lang="sk-SK" dirty="0" err="1">
                <a:latin typeface="Calibri"/>
                <a:ea typeface="Calibri"/>
                <a:cs typeface="Calibri"/>
              </a:rPr>
              <a:t>HOT's</a:t>
            </a:r>
            <a:r>
              <a:rPr lang="sk-SK" dirty="0">
                <a:latin typeface="Calibri"/>
                <a:ea typeface="Calibri"/>
                <a:cs typeface="Calibri"/>
              </a:rPr>
              <a:t> </a:t>
            </a:r>
            <a:r>
              <a:rPr lang="sk-SK" dirty="0" err="1">
                <a:latin typeface="Calibri"/>
                <a:ea typeface="Calibri"/>
                <a:cs typeface="Calibri"/>
              </a:rPr>
              <a:t>Tasking</a:t>
            </a:r>
            <a:r>
              <a:rPr lang="sk-SK" dirty="0">
                <a:latin typeface="Calibri"/>
                <a:ea typeface="Calibri"/>
                <a:cs typeface="Calibri"/>
              </a:rPr>
              <a:t> Manager 11/2012 - 10/2025</a:t>
            </a:r>
            <a:endParaRPr lang="sk-SK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0240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8F79B-34AF-6189-66CE-937B6C6EA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Placeholder 1">
            <a:extLst>
              <a:ext uri="{FF2B5EF4-FFF2-40B4-BE49-F238E27FC236}">
                <a16:creationId xmlns:a16="http://schemas.microsoft.com/office/drawing/2014/main" id="{67F45064-F618-A69F-2DCC-B68B40B82E0A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358775" y="369888"/>
            <a:ext cx="5140325" cy="1081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latin typeface="NeueHaasGroteskText Pro Md" pitchFamily="34" charset="0"/>
              </a:rPr>
              <a:t>Structure</a:t>
            </a:r>
            <a:endParaRPr lang="LID4096" altLang="en-US">
              <a:latin typeface="NeueHaasGroteskText Pro Md" pitchFamily="34" charset="0"/>
            </a:endParaRPr>
          </a:p>
        </p:txBody>
      </p:sp>
      <p:sp>
        <p:nvSpPr>
          <p:cNvPr id="12291" name="Text Placeholder 2">
            <a:extLst>
              <a:ext uri="{FF2B5EF4-FFF2-40B4-BE49-F238E27FC236}">
                <a16:creationId xmlns:a16="http://schemas.microsoft.com/office/drawing/2014/main" id="{2794232D-A5DB-E7E1-6631-C00FB4EF8629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298450" y="6205538"/>
            <a:ext cx="2733675" cy="35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NeueHaasGroteskText Pro" pitchFamily="34" charset="0"/>
            </a:endParaRPr>
          </a:p>
        </p:txBody>
      </p:sp>
      <p:sp>
        <p:nvSpPr>
          <p:cNvPr id="12292" name="Text Placeholder 3">
            <a:extLst>
              <a:ext uri="{FF2B5EF4-FFF2-40B4-BE49-F238E27FC236}">
                <a16:creationId xmlns:a16="http://schemas.microsoft.com/office/drawing/2014/main" id="{A2B26D31-E8DC-ACC1-BEDD-6B1B2B5A1FD9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58775" y="1706563"/>
            <a:ext cx="6157913" cy="4040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>
                <a:latin typeface="NeueHaasGroteskText Pro Md"/>
              </a:rPr>
              <a:t>Quality assurance using HOT Tasking Manager</a:t>
            </a:r>
            <a:endParaRPr lang="en-US" altLang="en-US" dirty="0">
              <a:latin typeface="NeueHaasGroteskText Pro Md" pitchFamily="34" charset="0"/>
            </a:endParaRPr>
          </a:p>
          <a:p>
            <a:pPr eaLnBrk="1" hangingPunct="1"/>
            <a:r>
              <a:rPr lang="en-US" altLang="en-US" dirty="0">
                <a:latin typeface="NeueHaasGroteskText Pro Md"/>
              </a:rPr>
              <a:t>Overview of what we have been doing for validation</a:t>
            </a:r>
          </a:p>
          <a:p>
            <a:pPr eaLnBrk="1" hangingPunct="1"/>
            <a:r>
              <a:rPr lang="en-US" altLang="en-US" dirty="0">
                <a:latin typeface="NeueHaasGroteskText Pro Md"/>
              </a:rPr>
              <a:t>DISCUSSION:</a:t>
            </a:r>
          </a:p>
          <a:p>
            <a:pPr lvl="1" eaLnBrk="1" hangingPunct="1"/>
            <a:r>
              <a:rPr lang="en-US" altLang="en-US" dirty="0">
                <a:latin typeface="NeueHaasGroteskText Pro"/>
              </a:rPr>
              <a:t>What can we do better?</a:t>
            </a:r>
          </a:p>
          <a:p>
            <a:pPr lvl="1" eaLnBrk="1" hangingPunct="1"/>
            <a:r>
              <a:rPr lang="en-US" altLang="en-US" dirty="0">
                <a:latin typeface="NeueHaasGroteskText Pro"/>
              </a:rPr>
              <a:t>How to facilitate completing priority tasks?</a:t>
            </a:r>
          </a:p>
          <a:p>
            <a:pPr lvl="1" eaLnBrk="1" hangingPunct="1"/>
            <a:r>
              <a:rPr lang="en-US" altLang="en-US" dirty="0">
                <a:latin typeface="NeueHaasGroteskText Pro"/>
              </a:rPr>
              <a:t>Bonus: trend</a:t>
            </a:r>
          </a:p>
        </p:txBody>
      </p:sp>
    </p:spTree>
    <p:extLst>
      <p:ext uri="{BB962C8B-B14F-4D97-AF65-F5344CB8AC3E}">
        <p14:creationId xmlns:p14="http://schemas.microsoft.com/office/powerpoint/2010/main" val="323622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Placeholder 2">
            <a:extLst>
              <a:ext uri="{FF2B5EF4-FFF2-40B4-BE49-F238E27FC236}">
                <a16:creationId xmlns:a16="http://schemas.microsoft.com/office/drawing/2014/main" id="{ACAD903A-1FA4-8C33-919B-ED39AF8F98E4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358775" y="-3425"/>
            <a:ext cx="5140325" cy="1081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>
                <a:latin typeface="NeueHaasGroteskText Pro Md" pitchFamily="34" charset="0"/>
              </a:rPr>
              <a:t>HOT Tasking Manager</a:t>
            </a:r>
          </a:p>
        </p:txBody>
      </p:sp>
      <p:pic>
        <p:nvPicPr>
          <p:cNvPr id="2" name="Obrázok 1" descr="Obrázok, na ktorom je text, mapa, diagram&#10;&#10;Obsah vygenerovaný pomocou AI môže byť nesprávny.">
            <a:extLst>
              <a:ext uri="{FF2B5EF4-FFF2-40B4-BE49-F238E27FC236}">
                <a16:creationId xmlns:a16="http://schemas.microsoft.com/office/drawing/2014/main" id="{32C40DB2-C418-3C89-CA26-964EE3484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867" y="1752728"/>
            <a:ext cx="6447138" cy="4648286"/>
          </a:xfrm>
          <a:prstGeom prst="rect">
            <a:avLst/>
          </a:prstGeom>
        </p:spPr>
      </p:pic>
      <p:pic>
        <p:nvPicPr>
          <p:cNvPr id="3" name="Obrázok 2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0E50F7FD-907C-3980-BD09-FABA24BD4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13" y="1746584"/>
            <a:ext cx="4706326" cy="46522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Placeholder 1">
            <a:extLst>
              <a:ext uri="{FF2B5EF4-FFF2-40B4-BE49-F238E27FC236}">
                <a16:creationId xmlns:a16="http://schemas.microsoft.com/office/drawing/2014/main" id="{5CBE9928-B458-4477-2230-CA7EE003CA84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298450" y="6205538"/>
            <a:ext cx="2733675" cy="35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NeueHaasGroteskText Pro" pitchFamily="34" charset="0"/>
            </a:endParaRPr>
          </a:p>
        </p:txBody>
      </p:sp>
      <p:sp>
        <p:nvSpPr>
          <p:cNvPr id="14339" name="Text Placeholder 2">
            <a:extLst>
              <a:ext uri="{FF2B5EF4-FFF2-40B4-BE49-F238E27FC236}">
                <a16:creationId xmlns:a16="http://schemas.microsoft.com/office/drawing/2014/main" id="{32E449BC-9E10-89D1-04DB-76F9D75B0FBA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17500" y="1552266"/>
            <a:ext cx="5778500" cy="3248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400" dirty="0">
                <a:latin typeface="NeueHaasGroteskText Pro"/>
              </a:rPr>
              <a:t>What is HOT TM validation?</a:t>
            </a:r>
          </a:p>
          <a:p>
            <a:r>
              <a:rPr lang="en-US" sz="2400" dirty="0">
                <a:latin typeface="NeueHaasGroteskText Pro"/>
              </a:rPr>
              <a:t>Result of validation</a:t>
            </a:r>
            <a:endParaRPr lang="en-US" altLang="en-US" sz="2400" dirty="0">
              <a:latin typeface="NeueHaasGroteskText Pro"/>
            </a:endParaRPr>
          </a:p>
          <a:p>
            <a:r>
              <a:rPr lang="en-US" altLang="en-US" sz="2400" dirty="0">
                <a:latin typeface="NeueHaasGroteskText Pro"/>
              </a:rPr>
              <a:t>Who is doing validation? </a:t>
            </a:r>
            <a:endParaRPr lang="en-US" dirty="0"/>
          </a:p>
          <a:p>
            <a:endParaRPr lang="en-US" altLang="en-US" sz="2400" dirty="0">
              <a:latin typeface="NeueHaasGroteskText Pro"/>
            </a:endParaRPr>
          </a:p>
          <a:p>
            <a:pPr eaLnBrk="1" hangingPunct="1"/>
            <a:endParaRPr lang="en-US" altLang="en-US" sz="2400" dirty="0">
              <a:latin typeface="NeueHaasGroteskText Pro"/>
            </a:endParaRPr>
          </a:p>
        </p:txBody>
      </p:sp>
      <p:sp>
        <p:nvSpPr>
          <p:cNvPr id="14340" name="Text Placeholder 3">
            <a:extLst>
              <a:ext uri="{FF2B5EF4-FFF2-40B4-BE49-F238E27FC236}">
                <a16:creationId xmlns:a16="http://schemas.microsoft.com/office/drawing/2014/main" id="{98A87266-E0D9-9D0F-281F-2ED032162FE7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466684" y="670146"/>
            <a:ext cx="10050741" cy="71926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>
                <a:latin typeface="NeueHaasGroteskText Pro Md"/>
              </a:rPr>
              <a:t>How OSM data validation over HOT TM works </a:t>
            </a:r>
            <a:endParaRPr lang="LID4096" altLang="en-US" dirty="0">
              <a:latin typeface="NeueHaasGroteskText Pro Md"/>
            </a:endParaRPr>
          </a:p>
        </p:txBody>
      </p:sp>
      <p:pic>
        <p:nvPicPr>
          <p:cNvPr id="2" name="Obrázok 1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B7680006-8993-0511-676B-F217C0702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86" y="2647166"/>
            <a:ext cx="6534150" cy="3724275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Placeholder 1">
            <a:extLst>
              <a:ext uri="{FF2B5EF4-FFF2-40B4-BE49-F238E27FC236}">
                <a16:creationId xmlns:a16="http://schemas.microsoft.com/office/drawing/2014/main" id="{2AF65176-FFD8-C614-6141-CA0FCF7F669B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298450" y="6205538"/>
            <a:ext cx="2733675" cy="35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NeueHaasGroteskText Pro" pitchFamily="34" charset="0"/>
            </a:endParaRPr>
          </a:p>
        </p:txBody>
      </p:sp>
      <p:sp>
        <p:nvSpPr>
          <p:cNvPr id="15365" name="Text Placeholder 4">
            <a:extLst>
              <a:ext uri="{FF2B5EF4-FFF2-40B4-BE49-F238E27FC236}">
                <a16:creationId xmlns:a16="http://schemas.microsoft.com/office/drawing/2014/main" id="{949CD9F8-7C12-9484-0652-916A385F92D4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315913" y="339725"/>
            <a:ext cx="2863850" cy="673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NeueHaasGroteskText Pro Md" pitchFamily="34" charset="0"/>
            </a:endParaRP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BCF8C0D-C3CD-CCA9-4E30-D4DF301A8C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49D1E92E-FD0F-7533-F975-9D15F4075C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8" name="Obrázok 7" descr="Obrázok, na ktorom je text, snímka obrazovky, vývoj&#10;&#10;Obsah vygenerovaný pomocou AI môže byť nesprávny.">
            <a:extLst>
              <a:ext uri="{FF2B5EF4-FFF2-40B4-BE49-F238E27FC236}">
                <a16:creationId xmlns:a16="http://schemas.microsoft.com/office/drawing/2014/main" id="{859BF731-F6A7-3099-24DC-63204FA74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3982"/>
            <a:ext cx="12192000" cy="48700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69ABFA34-010F-FE3E-FDC4-B400B21B7C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E533D05A-4E48-C35A-D519-EBD7A1E243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6531" y="339301"/>
            <a:ext cx="4217402" cy="673100"/>
          </a:xfrm>
        </p:spPr>
        <p:txBody>
          <a:bodyPr lIns="91440" tIns="45720" rIns="91440" bIns="45720" anchor="t"/>
          <a:lstStyle/>
          <a:p>
            <a:r>
              <a:rPr lang="sk-SK" sz="3600" err="1"/>
              <a:t>Learning</a:t>
            </a:r>
            <a:r>
              <a:rPr lang="sk-SK" sz="3600" dirty="0"/>
              <a:t> </a:t>
            </a:r>
            <a:r>
              <a:rPr lang="sk-SK" sz="3600" err="1"/>
              <a:t>materials</a:t>
            </a:r>
            <a:endParaRPr lang="sk-SK" sz="3600"/>
          </a:p>
        </p:txBody>
      </p:sp>
      <p:pic>
        <p:nvPicPr>
          <p:cNvPr id="6" name="Obrázok 5" descr="Obrázok, na ktorom je text, ľudská tvár, počítač, snímka obrazovky&#10;&#10;Obsah vygenerovaný pomocou AI môže byť nesprávny.">
            <a:extLst>
              <a:ext uri="{FF2B5EF4-FFF2-40B4-BE49-F238E27FC236}">
                <a16:creationId xmlns:a16="http://schemas.microsoft.com/office/drawing/2014/main" id="{5ADF755B-063B-28E1-36F9-793D94AB5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17" y="1283368"/>
            <a:ext cx="6231539" cy="4792579"/>
          </a:xfrm>
          <a:prstGeom prst="rect">
            <a:avLst/>
          </a:prstGeom>
        </p:spPr>
      </p:pic>
      <p:pic>
        <p:nvPicPr>
          <p:cNvPr id="7" name="Obrázok 6" descr="Obrázok, na ktorom je text, snímka obrazovky, písmo, štvorec&#10;&#10;Obsah vygenerovaný pomocou AI môže byť nesprávny.">
            <a:extLst>
              <a:ext uri="{FF2B5EF4-FFF2-40B4-BE49-F238E27FC236}">
                <a16:creationId xmlns:a16="http://schemas.microsoft.com/office/drawing/2014/main" id="{2B60F2F2-03E7-6B17-FFED-021A5B0F8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158" y="1143517"/>
            <a:ext cx="6416843" cy="240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57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Placeholder 1">
            <a:extLst>
              <a:ext uri="{FF2B5EF4-FFF2-40B4-BE49-F238E27FC236}">
                <a16:creationId xmlns:a16="http://schemas.microsoft.com/office/drawing/2014/main" id="{F565FE00-6AD8-0EA4-397C-A440B7B54E98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298450" y="6205538"/>
            <a:ext cx="2733675" cy="35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NeueHaasGroteskText Pro" pitchFamily="34" charset="0"/>
            </a:endParaRPr>
          </a:p>
        </p:txBody>
      </p:sp>
      <p:sp>
        <p:nvSpPr>
          <p:cNvPr id="16387" name="Text Placeholder 2">
            <a:extLst>
              <a:ext uri="{FF2B5EF4-FFF2-40B4-BE49-F238E27FC236}">
                <a16:creationId xmlns:a16="http://schemas.microsoft.com/office/drawing/2014/main" id="{FD9DD873-901A-A9A0-B9E7-F3155FC49B49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15913" y="7938"/>
            <a:ext cx="10774362" cy="3767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marL="0" indent="0" eaLnBrk="1" hangingPunct="1">
              <a:buNone/>
            </a:pPr>
            <a:r>
              <a:rPr lang="en-US" altLang="en-US" sz="2400" dirty="0">
                <a:latin typeface="NeueHaasGroteskText Pro"/>
              </a:rPr>
              <a:t>Validation training/group at MM London, Missing Maps CZ SK </a:t>
            </a:r>
            <a:r>
              <a:rPr lang="en-US" altLang="en-US" sz="2400" dirty="0" err="1">
                <a:latin typeface="NeueHaasGroteskText Pro"/>
              </a:rPr>
              <a:t>mapathons</a:t>
            </a:r>
            <a:r>
              <a:rPr lang="en-US" altLang="en-US" sz="2400" dirty="0">
                <a:latin typeface="NeueHaasGroteskText Pro"/>
              </a:rPr>
              <a:t> and   validation </a:t>
            </a:r>
            <a:r>
              <a:rPr lang="en-US" altLang="en-US" sz="2400" dirty="0" err="1">
                <a:latin typeface="NeueHaasGroteskText Pro"/>
              </a:rPr>
              <a:t>mapathons</a:t>
            </a:r>
            <a:endParaRPr lang="en-US" altLang="en-US" sz="2400" dirty="0">
              <a:latin typeface="NeueHaasGroteskText Pro"/>
            </a:endParaRPr>
          </a:p>
          <a:p>
            <a:pPr lvl="1" eaLnBrk="1" hangingPunct="1"/>
            <a:endParaRPr lang="cs-CZ" altLang="en-US" dirty="0">
              <a:ea typeface="Calibri"/>
              <a:cs typeface="Calibri"/>
            </a:endParaRPr>
          </a:p>
          <a:p>
            <a:pPr marL="457200" lvl="1" indent="0" eaLnBrk="1" hangingPunct="1">
              <a:buNone/>
            </a:pPr>
            <a:endParaRPr lang="en-US" altLang="en-US" dirty="0">
              <a:ea typeface="Calibri"/>
              <a:cs typeface="Calibri"/>
            </a:endParaRPr>
          </a:p>
        </p:txBody>
      </p:sp>
      <p:sp>
        <p:nvSpPr>
          <p:cNvPr id="16388" name="Text Placeholder 3">
            <a:extLst>
              <a:ext uri="{FF2B5EF4-FFF2-40B4-BE49-F238E27FC236}">
                <a16:creationId xmlns:a16="http://schemas.microsoft.com/office/drawing/2014/main" id="{4410B62A-CC15-AB10-FF9A-39FB5353DE92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298450" y="379413"/>
            <a:ext cx="11079163" cy="781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>
                <a:latin typeface="NeueHaasGroteskText Pro Md"/>
              </a:rPr>
              <a:t>What we do to get more validators</a:t>
            </a:r>
            <a:endParaRPr lang="LID4096" altLang="en-US" dirty="0">
              <a:latin typeface="NeueHaasGroteskText Pro Md" pitchFamily="34" charset="0"/>
            </a:endParaRPr>
          </a:p>
        </p:txBody>
      </p:sp>
      <p:sp>
        <p:nvSpPr>
          <p:cNvPr id="16389" name="Text Placeholder 4">
            <a:extLst>
              <a:ext uri="{FF2B5EF4-FFF2-40B4-BE49-F238E27FC236}">
                <a16:creationId xmlns:a16="http://schemas.microsoft.com/office/drawing/2014/main" id="{7BB67683-F262-021A-E4CA-DF0238703ED5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315913" y="339725"/>
            <a:ext cx="2863850" cy="673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NeueHaasGroteskText Pro Md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1CDE3F-1529-EE3B-EA6A-F2FB452FF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694" y="1884328"/>
            <a:ext cx="9050639" cy="44986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AA96E-A8A3-F56D-EDF2-C9C3C0819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Placeholder 1">
            <a:extLst>
              <a:ext uri="{FF2B5EF4-FFF2-40B4-BE49-F238E27FC236}">
                <a16:creationId xmlns:a16="http://schemas.microsoft.com/office/drawing/2014/main" id="{B23D1118-D676-C27C-048A-D95C251FC1C5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298450" y="6205538"/>
            <a:ext cx="2733675" cy="35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NeueHaasGroteskText Pro" pitchFamily="34" charset="0"/>
            </a:endParaRPr>
          </a:p>
        </p:txBody>
      </p:sp>
      <p:sp>
        <p:nvSpPr>
          <p:cNvPr id="15363" name="Text Placeholder 2">
            <a:extLst>
              <a:ext uri="{FF2B5EF4-FFF2-40B4-BE49-F238E27FC236}">
                <a16:creationId xmlns:a16="http://schemas.microsoft.com/office/drawing/2014/main" id="{164FE906-82F0-3CD6-E404-43A11D27B111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17500" y="2957513"/>
            <a:ext cx="5778500" cy="3248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marL="0" indent="0" eaLnBrk="1" hangingPunct="1">
              <a:buNone/>
            </a:pPr>
            <a:r>
              <a:rPr lang="en-US" altLang="en-US" sz="2400" dirty="0">
                <a:latin typeface="NeueHaasGroteskText Pro"/>
              </a:rPr>
              <a:t>     MSF Validators Team</a:t>
            </a:r>
            <a:endParaRPr lang="sk-SK"/>
          </a:p>
          <a:p>
            <a:pPr lvl="1" eaLnBrk="1" hangingPunct="1"/>
            <a:r>
              <a:rPr lang="sk-SK" altLang="en-US" sz="3200" dirty="0" err="1"/>
              <a:t>Sending</a:t>
            </a:r>
            <a:r>
              <a:rPr lang="en-US" altLang="en-US" sz="3200" dirty="0"/>
              <a:t> messages to announce upcoming MSF </a:t>
            </a:r>
            <a:r>
              <a:rPr lang="en-US" altLang="en-US" sz="3200" dirty="0" err="1"/>
              <a:t>mapathons</a:t>
            </a:r>
            <a:endParaRPr lang="en-US" altLang="en-US" sz="3200" dirty="0"/>
          </a:p>
          <a:p>
            <a:pPr lvl="1" eaLnBrk="1" hangingPunct="1"/>
            <a:r>
              <a:rPr lang="en-US" altLang="en-US" sz="3200" dirty="0"/>
              <a:t>Messages for urgent projects</a:t>
            </a:r>
          </a:p>
        </p:txBody>
      </p:sp>
      <p:sp>
        <p:nvSpPr>
          <p:cNvPr id="15364" name="Text Placeholder 3">
            <a:extLst>
              <a:ext uri="{FF2B5EF4-FFF2-40B4-BE49-F238E27FC236}">
                <a16:creationId xmlns:a16="http://schemas.microsoft.com/office/drawing/2014/main" id="{F6F2FDC7-18D8-D6F4-2D8B-320C5107C281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308476" y="1707481"/>
            <a:ext cx="10638840" cy="12522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>
                <a:latin typeface="NeueHaasGroteskText Pro Md"/>
              </a:rPr>
              <a:t>What we do for validation for MSF projects</a:t>
            </a:r>
            <a:endParaRPr lang="sk-SK" altLang="en-US" dirty="0">
              <a:latin typeface="NeueHaasGroteskText Pro Md" pitchFamily="34" charset="0"/>
            </a:endParaRPr>
          </a:p>
        </p:txBody>
      </p:sp>
      <p:sp>
        <p:nvSpPr>
          <p:cNvPr id="15365" name="Text Placeholder 4">
            <a:extLst>
              <a:ext uri="{FF2B5EF4-FFF2-40B4-BE49-F238E27FC236}">
                <a16:creationId xmlns:a16="http://schemas.microsoft.com/office/drawing/2014/main" id="{1D733128-573E-48D8-27BB-3A2E6D9B2DFB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315913" y="339725"/>
            <a:ext cx="2863850" cy="673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NeueHaasGroteskText Pro M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617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Placeholder 1">
            <a:extLst>
              <a:ext uri="{FF2B5EF4-FFF2-40B4-BE49-F238E27FC236}">
                <a16:creationId xmlns:a16="http://schemas.microsoft.com/office/drawing/2014/main" id="{063D7096-8820-6A47-FE52-7475FD5D94E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2611438" y="693738"/>
            <a:ext cx="6969125" cy="590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NeueHaasGroteskText Pro Md"/>
              </a:rPr>
              <a:t>Discussion</a:t>
            </a:r>
          </a:p>
        </p:txBody>
      </p:sp>
      <p:sp>
        <p:nvSpPr>
          <p:cNvPr id="19459" name="Text Placeholder 2">
            <a:extLst>
              <a:ext uri="{FF2B5EF4-FFF2-40B4-BE49-F238E27FC236}">
                <a16:creationId xmlns:a16="http://schemas.microsoft.com/office/drawing/2014/main" id="{0256BFD1-E6A5-93C5-69EF-6E43B24E4D8C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60353" y="1930620"/>
            <a:ext cx="5506480" cy="27270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400" i="1" u="none" dirty="0">
                <a:latin typeface="Calibri"/>
                <a:ea typeface="Calibri"/>
                <a:cs typeface="Calibri"/>
              </a:rPr>
              <a:t>Is this working? </a:t>
            </a:r>
          </a:p>
          <a:p>
            <a:pPr eaLnBrk="1" hangingPunct="1"/>
            <a:r>
              <a:rPr lang="en-US" altLang="en-US" sz="2400" i="1" u="none" dirty="0">
                <a:latin typeface="Calibri"/>
                <a:ea typeface="Calibri"/>
                <a:cs typeface="Calibri"/>
              </a:rPr>
              <a:t>Are these steps effective? </a:t>
            </a:r>
          </a:p>
          <a:p>
            <a:r>
              <a:rPr lang="cs-CZ" sz="2400" i="1" u="none" dirty="0" err="1">
                <a:latin typeface="Calibri"/>
                <a:ea typeface="Calibri"/>
                <a:cs typeface="Calibri"/>
              </a:rPr>
              <a:t>What</a:t>
            </a:r>
            <a:r>
              <a:rPr lang="cs-CZ" sz="2400" i="1" u="none" dirty="0">
                <a:latin typeface="Calibri"/>
                <a:ea typeface="Calibri"/>
                <a:cs typeface="Calibri"/>
              </a:rPr>
              <a:t> </a:t>
            </a:r>
            <a:r>
              <a:rPr lang="cs-CZ" sz="2400" i="1" u="none" dirty="0" err="1">
                <a:latin typeface="Calibri"/>
                <a:ea typeface="Calibri"/>
                <a:cs typeface="Calibri"/>
              </a:rPr>
              <a:t>frustrate</a:t>
            </a:r>
            <a:r>
              <a:rPr lang="cs-CZ" sz="2400" i="1" u="none" dirty="0">
                <a:latin typeface="Calibri"/>
                <a:ea typeface="Calibri"/>
                <a:cs typeface="Calibri"/>
              </a:rPr>
              <a:t> </a:t>
            </a:r>
            <a:r>
              <a:rPr lang="cs-CZ" sz="2400" i="1" u="none" dirty="0" err="1">
                <a:latin typeface="Calibri"/>
                <a:ea typeface="Calibri"/>
                <a:cs typeface="Calibri"/>
              </a:rPr>
              <a:t>you</a:t>
            </a:r>
            <a:r>
              <a:rPr lang="cs-CZ" sz="2400" i="1" u="none" dirty="0">
                <a:latin typeface="Calibri"/>
                <a:ea typeface="Calibri"/>
                <a:cs typeface="Calibri"/>
              </a:rPr>
              <a:t> as a </a:t>
            </a:r>
            <a:r>
              <a:rPr lang="cs-CZ" sz="2400" i="1" u="none" dirty="0" err="1">
                <a:latin typeface="Calibri"/>
                <a:ea typeface="Calibri"/>
                <a:cs typeface="Calibri"/>
              </a:rPr>
              <a:t>validator</a:t>
            </a:r>
            <a:r>
              <a:rPr lang="cs-CZ" sz="2400" i="1" u="none" dirty="0">
                <a:latin typeface="Calibri"/>
                <a:ea typeface="Calibri"/>
                <a:cs typeface="Calibri"/>
              </a:rPr>
              <a:t>?</a:t>
            </a:r>
            <a:endParaRPr lang="en-US" altLang="en-US" sz="2400" i="1" u="none" dirty="0">
              <a:latin typeface="Calibri"/>
              <a:ea typeface="Calibri"/>
              <a:cs typeface="Calibri"/>
            </a:endParaRPr>
          </a:p>
          <a:p>
            <a:pPr eaLnBrk="1" hangingPunct="1"/>
            <a:r>
              <a:rPr lang="en-US" altLang="en-US" sz="2400" i="1" u="none" dirty="0">
                <a:latin typeface="Calibri"/>
                <a:ea typeface="Calibri"/>
                <a:cs typeface="Calibri"/>
              </a:rPr>
              <a:t>What would you like to see more of</a:t>
            </a:r>
            <a:r>
              <a:rPr lang="cs-CZ" altLang="en-US" sz="2400" i="1" u="none" dirty="0">
                <a:latin typeface="Calibri"/>
                <a:ea typeface="Calibri"/>
                <a:cs typeface="Calibri"/>
              </a:rPr>
              <a:t>?</a:t>
            </a:r>
            <a:endParaRPr lang="en-US" altLang="en-US" sz="2400" i="1" u="none" dirty="0">
              <a:latin typeface="Calibri"/>
              <a:ea typeface="Calibri"/>
              <a:cs typeface="Calibri"/>
            </a:endParaRPr>
          </a:p>
          <a:p>
            <a:endParaRPr lang="cs-CZ" altLang="en-US" sz="2400" i="1" u="none" dirty="0">
              <a:latin typeface="Calibri"/>
              <a:ea typeface="Calibri"/>
              <a:cs typeface="Calibri"/>
            </a:endParaRPr>
          </a:p>
          <a:p>
            <a:pPr eaLnBrk="1" hangingPunct="1"/>
            <a:endParaRPr lang="en-US" altLang="en-US" sz="2400" i="1" u="none" dirty="0">
              <a:latin typeface="Calibri"/>
              <a:ea typeface="Calibri"/>
              <a:cs typeface="Calibri"/>
            </a:endParaRPr>
          </a:p>
        </p:txBody>
      </p:sp>
      <p:pic>
        <p:nvPicPr>
          <p:cNvPr id="4" name="Obrázok 3" descr="Obrázok, na ktorom je vzor, grafika, pixel, dizajn&#10;&#10;Obsah vygenerovaný pomocou AI môže byť nesprávny.">
            <a:extLst>
              <a:ext uri="{FF2B5EF4-FFF2-40B4-BE49-F238E27FC236}">
                <a16:creationId xmlns:a16="http://schemas.microsoft.com/office/drawing/2014/main" id="{5397DBB6-2869-CF3D-3642-D66E909BF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227" y="1433763"/>
            <a:ext cx="5513309" cy="54242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D1B12-7D79-1FF3-57F4-78C9CCE0B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Placeholder 1">
            <a:extLst>
              <a:ext uri="{FF2B5EF4-FFF2-40B4-BE49-F238E27FC236}">
                <a16:creationId xmlns:a16="http://schemas.microsoft.com/office/drawing/2014/main" id="{6BF8EA00-C7CA-4FEC-D1A3-83AB55E7735E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298450" y="6205538"/>
            <a:ext cx="2733675" cy="35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NeueHaasGroteskText Pro" pitchFamily="34" charset="0"/>
            </a:endParaRPr>
          </a:p>
        </p:txBody>
      </p:sp>
      <p:sp>
        <p:nvSpPr>
          <p:cNvPr id="15365" name="Text Placeholder 4">
            <a:extLst>
              <a:ext uri="{FF2B5EF4-FFF2-40B4-BE49-F238E27FC236}">
                <a16:creationId xmlns:a16="http://schemas.microsoft.com/office/drawing/2014/main" id="{2A4C2A8A-FAA9-28EC-9C49-39F1D742B5DA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315913" y="339725"/>
            <a:ext cx="2863850" cy="673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NeueHaasGroteskText Pro Md" pitchFamily="34" charset="0"/>
            </a:endParaRP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4ABC053-9A0D-66FF-284A-634DAF2C81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D716F3E-01B5-F59F-55FE-5756B0C045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6" name="Obrázok 5" descr="Obrázok, na ktorom je text, snímka obrazovky, rad, vývoj&#10;&#10;Obsah vygenerovaný pomocou AI môže byť nesprávny.">
            <a:extLst>
              <a:ext uri="{FF2B5EF4-FFF2-40B4-BE49-F238E27FC236}">
                <a16:creationId xmlns:a16="http://schemas.microsoft.com/office/drawing/2014/main" id="{A972AF6B-C085-F382-8636-C5E25CF6C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3083"/>
            <a:ext cx="12192000" cy="427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42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Placeholder 1">
            <a:extLst>
              <a:ext uri="{FF2B5EF4-FFF2-40B4-BE49-F238E27FC236}">
                <a16:creationId xmlns:a16="http://schemas.microsoft.com/office/drawing/2014/main" id="{C9D3139B-BEEC-5400-6521-1B207142E623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393700" y="2046288"/>
            <a:ext cx="7319963" cy="1689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fontAlgn="base">
              <a:spcAft>
                <a:spcPct val="0"/>
              </a:spcAft>
            </a:pPr>
            <a:r>
              <a:rPr lang="en-US" altLang="en-US" dirty="0">
                <a:latin typeface="NeueHaasGroteskText Pro Md" pitchFamily="34" charset="0"/>
              </a:rPr>
              <a:t>Join us mapping so that help can find its way.</a:t>
            </a:r>
            <a:endParaRPr lang="LID4096" altLang="en-US" dirty="0">
              <a:latin typeface="NeueHaasGroteskText Pro Md" pitchFamily="34" charset="0"/>
            </a:endParaRPr>
          </a:p>
        </p:txBody>
      </p:sp>
      <p:sp>
        <p:nvSpPr>
          <p:cNvPr id="23555" name="Text Placeholder 2">
            <a:extLst>
              <a:ext uri="{FF2B5EF4-FFF2-40B4-BE49-F238E27FC236}">
                <a16:creationId xmlns:a16="http://schemas.microsoft.com/office/drawing/2014/main" id="{D814785B-B5DF-0F95-D1B7-89D88E4CE646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914400" y="6100763"/>
            <a:ext cx="1554163" cy="3540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 err="1">
                <a:latin typeface="NeueHaasGroteskText Pro" pitchFamily="34" charset="0"/>
              </a:rPr>
              <a:t>TheMissingMaps</a:t>
            </a:r>
            <a:endParaRPr lang="LID4096" altLang="en-US" dirty="0">
              <a:latin typeface="NeueHaasGroteskText Pro" pitchFamily="34" charset="0"/>
            </a:endParaRPr>
          </a:p>
        </p:txBody>
      </p:sp>
      <p:sp>
        <p:nvSpPr>
          <p:cNvPr id="23556" name="Text Placeholder 3">
            <a:extLst>
              <a:ext uri="{FF2B5EF4-FFF2-40B4-BE49-F238E27FC236}">
                <a16:creationId xmlns:a16="http://schemas.microsoft.com/office/drawing/2014/main" id="{37B73194-2DC5-4CC4-1028-4C6EA770E63E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388938" y="374650"/>
            <a:ext cx="5140325" cy="317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latin typeface="NeueHaasGroteskText Pro Md" pitchFamily="34" charset="0"/>
              </a:rPr>
              <a:t>Thank you!</a:t>
            </a:r>
            <a:endParaRPr lang="LID4096" altLang="en-US">
              <a:latin typeface="NeueHaasGroteskText Pro Md" pitchFamily="34" charset="0"/>
            </a:endParaRPr>
          </a:p>
        </p:txBody>
      </p:sp>
      <p:sp>
        <p:nvSpPr>
          <p:cNvPr id="23557" name="Text Placeholder 4">
            <a:extLst>
              <a:ext uri="{FF2B5EF4-FFF2-40B4-BE49-F238E27FC236}">
                <a16:creationId xmlns:a16="http://schemas.microsoft.com/office/drawing/2014/main" id="{A2599570-F593-6BF6-6878-EF9B7A651F7B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3168650" y="6100763"/>
            <a:ext cx="1554163" cy="3540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latin typeface="NeueHaasGroteskText Pro" pitchFamily="34" charset="0"/>
              </a:rPr>
              <a:t>TheMissingMaps</a:t>
            </a:r>
            <a:endParaRPr lang="LID4096" altLang="en-US">
              <a:latin typeface="NeueHaasGroteskText Pro" pitchFamily="34" charset="0"/>
            </a:endParaRPr>
          </a:p>
        </p:txBody>
      </p:sp>
      <p:sp>
        <p:nvSpPr>
          <p:cNvPr id="23559" name="Text Placeholder 6">
            <a:extLst>
              <a:ext uri="{FF2B5EF4-FFF2-40B4-BE49-F238E27FC236}">
                <a16:creationId xmlns:a16="http://schemas.microsoft.com/office/drawing/2014/main" id="{82300C37-686A-0E4B-C1E3-DFBC62D45CB3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00050" y="3724860"/>
            <a:ext cx="9699625" cy="152817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>
                <a:latin typeface="NeueHaasGroteskText Pro Md" pitchFamily="34" charset="0"/>
              </a:rPr>
              <a:t>patrik.brigant@prague.msf.org</a:t>
            </a:r>
            <a:endParaRPr lang="sk-SK" altLang="en-US" dirty="0">
              <a:latin typeface="NeueHaasGroteskText Pro Md" pitchFamily="34" charset="0"/>
            </a:endParaRPr>
          </a:p>
          <a:p>
            <a:pPr eaLnBrk="1" hangingPunct="1"/>
            <a:r>
              <a:rPr lang="en-US" altLang="en-US" dirty="0">
                <a:latin typeface="NeueHaasGroteskText Pro Md" pitchFamily="34" charset="0"/>
              </a:rPr>
              <a:t>OSM: </a:t>
            </a:r>
            <a:r>
              <a:rPr lang="sk-SK" altLang="en-US" dirty="0" err="1">
                <a:latin typeface="NeueHaasGroteskText Pro Md" pitchFamily="34" charset="0"/>
              </a:rPr>
              <a:t>Patrik_B</a:t>
            </a:r>
            <a:endParaRPr lang="en-US" altLang="en-US" dirty="0">
              <a:latin typeface="NeueHaasGroteskText Pro Md" pitchFamily="34" charset="0"/>
            </a:endParaRPr>
          </a:p>
          <a:p>
            <a:r>
              <a:rPr lang="sk-SK" altLang="en-US" dirty="0">
                <a:latin typeface="NeueHaasGroteskText Pro Md" pitchFamily="34" charset="0"/>
              </a:rPr>
              <a:t>OSM/HOTOSM </a:t>
            </a:r>
            <a:r>
              <a:rPr lang="sk-SK" altLang="en-US" dirty="0" err="1">
                <a:latin typeface="NeueHaasGroteskText Pro Md" pitchFamily="34" charset="0"/>
              </a:rPr>
              <a:t>Slack</a:t>
            </a:r>
            <a:r>
              <a:rPr lang="sk-SK" altLang="en-US" dirty="0">
                <a:latin typeface="NeueHaasGroteskText Pro Md" pitchFamily="34" charset="0"/>
              </a:rPr>
              <a:t>: </a:t>
            </a:r>
            <a:r>
              <a:rPr lang="sk-SK" dirty="0" err="1">
                <a:latin typeface="NeueHaasGroteskText Pro Md" pitchFamily="34" charset="0"/>
              </a:rPr>
              <a:t>Patrik_B</a:t>
            </a:r>
          </a:p>
          <a:p>
            <a:pPr eaLnBrk="1" hangingPunct="1"/>
            <a:endParaRPr lang="en-US" altLang="en-US" dirty="0">
              <a:latin typeface="NeueHaasGroteskText Pro Md" pitchFamily="34" charset="0"/>
            </a:endParaRPr>
          </a:p>
        </p:txBody>
      </p:sp>
      <p:pic>
        <p:nvPicPr>
          <p:cNvPr id="23560" name="Picture Placeholder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9430A1B-53E8-5F6E-A175-CBF3FC8380EB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9" b="6239"/>
          <a:stretch>
            <a:fillRect/>
          </a:stretch>
        </p:blipFill>
        <p:spPr bwMode="auto">
          <a:xfrm>
            <a:off x="10099675" y="374650"/>
            <a:ext cx="1735138" cy="5683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1" name="Graphic 15">
            <a:extLst>
              <a:ext uri="{FF2B5EF4-FFF2-40B4-BE49-F238E27FC236}">
                <a16:creationId xmlns:a16="http://schemas.microsoft.com/office/drawing/2014/main" id="{DE7BBD73-3BCF-7DD6-C8B7-65B4DADC1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4" t="40552" r="54865" b="42931"/>
          <a:stretch>
            <a:fillRect/>
          </a:stretch>
        </p:blipFill>
        <p:spPr bwMode="auto">
          <a:xfrm>
            <a:off x="8224838" y="250825"/>
            <a:ext cx="173513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2A286A-E4D5-81ED-1B34-A93093BAB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54" y="5051049"/>
            <a:ext cx="9162310" cy="9347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ADDBF3-14DF-F409-02AD-EAB4763C0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13" y="5987674"/>
            <a:ext cx="787319" cy="647790"/>
          </a:xfrm>
          <a:prstGeom prst="rect">
            <a:avLst/>
          </a:prstGeom>
        </p:spPr>
      </p:pic>
      <p:pic>
        <p:nvPicPr>
          <p:cNvPr id="2" name="Grafický objekt 1">
            <a:extLst>
              <a:ext uri="{FF2B5EF4-FFF2-40B4-BE49-F238E27FC236}">
                <a16:creationId xmlns:a16="http://schemas.microsoft.com/office/drawing/2014/main" id="{693D747E-53FA-5239-A593-5F1553498B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8016" y="5991727"/>
            <a:ext cx="659732" cy="65973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6D21FE-CC00-BA4F-848A-83ACA4258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6287" y="6102768"/>
            <a:ext cx="1554163" cy="35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NeueHaasGroteskText Pro" panose="020B0504020202020204" pitchFamily="34" charset="77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>
                <a:latin typeface="NeueHaasGroteskText Pro" pitchFamily="34" charset="0"/>
              </a:rPr>
              <a:t>TheMissingMaps</a:t>
            </a:r>
            <a:endParaRPr lang="LID4096" altLang="en-US">
              <a:latin typeface="NeueHaasGroteskText Pro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A6C22DD7-E3E0-184B-A5C9-C1A03D68791E}" vid="{16FBCC31-2D8E-E74F-8F2A-25F70A417D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LongProperties xmlns="http://schemas.microsoft.com/office/2006/metadata/longPropertie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132E1716B97C489A12D5AACB40A36E" ma:contentTypeVersion="19" ma:contentTypeDescription="Create a new document." ma:contentTypeScope="" ma:versionID="14b8942de503114ed78b3c27192b295c">
  <xsd:schema xmlns:xsd="http://www.w3.org/2001/XMLSchema" xmlns:xs="http://www.w3.org/2001/XMLSchema" xmlns:p="http://schemas.microsoft.com/office/2006/metadata/properties" xmlns:ns2="89681a1e-2012-4536-8e64-ac849505184f" xmlns:ns3="80790338-a929-4603-9d1e-236dc4757f43" xmlns:ns4="20c1abfa-485b-41c9-a329-38772ca1fd48" targetNamespace="http://schemas.microsoft.com/office/2006/metadata/properties" ma:root="true" ma:fieldsID="6067a808d471073992194eff04857f08" ns2:_="" ns3:_="" ns4:_="">
    <xsd:import namespace="89681a1e-2012-4536-8e64-ac849505184f"/>
    <xsd:import namespace="80790338-a929-4603-9d1e-236dc4757f43"/>
    <xsd:import namespace="20c1abfa-485b-41c9-a329-38772ca1fd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681a1e-2012-4536-8e64-ac84950518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3f8169e7-20d4-4f95-9450-953b2d8ea5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790338-a929-4603-9d1e-236dc4757f4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c1abfa-485b-41c9-a329-38772ca1fd48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e35470b7-4bc4-4dfb-8965-eda599ef26f3}" ma:internalName="TaxCatchAll" ma:showField="CatchAllData" ma:web="80790338-a929-4603-9d1e-236dc4757f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681a1e-2012-4536-8e64-ac849505184f">
      <Terms xmlns="http://schemas.microsoft.com/office/infopath/2007/PartnerControls"/>
    </lcf76f155ced4ddcb4097134ff3c332f>
    <TaxCatchAll xmlns="20c1abfa-485b-41c9-a329-38772ca1fd48" xsi:nil="true"/>
    <SharedWithUsers xmlns="80790338-a929-4603-9d1e-236dc4757f43">
      <UserInfo>
        <DisplayName>Jorieke Vyncke</DisplayName>
        <AccountId>12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1EF4DD77-2597-4EC4-A576-7FE335594F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FC9CE9-E463-41B7-B2DD-AB03270B0529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2AA2C8A4-AFBA-4FF9-9C77-E21FFAF9D8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681a1e-2012-4536-8e64-ac849505184f"/>
    <ds:schemaRef ds:uri="80790338-a929-4603-9d1e-236dc4757f43"/>
    <ds:schemaRef ds:uri="20c1abfa-485b-41c9-a329-38772ca1fd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61B2E0D1-16DB-4F58-89B3-D050C0A9EA8E}">
  <ds:schemaRefs>
    <ds:schemaRef ds:uri="http://schemas.microsoft.com/office/2006/metadata/properties"/>
    <ds:schemaRef ds:uri="http://schemas.microsoft.com/office/infopath/2007/PartnerControls"/>
    <ds:schemaRef ds:uri="89681a1e-2012-4536-8e64-ac849505184f"/>
    <ds:schemaRef ds:uri="20c1abfa-485b-41c9-a329-38772ca1fd48"/>
    <ds:schemaRef ds:uri="80790338-a929-4603-9d1e-236dc4757f4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MSF validation</Template>
  <TotalTime>3518</TotalTime>
  <Words>324</Words>
  <Application>Microsoft Office PowerPoint</Application>
  <PresentationFormat>Widescreen</PresentationFormat>
  <Paragraphs>52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Neue Haas Grotesk Text Pro 65 Medium</vt:lpstr>
      <vt:lpstr>NeueHaasGroteskDisp Pro</vt:lpstr>
      <vt:lpstr>NeueHaasGroteskText Pro</vt:lpstr>
      <vt:lpstr>NeueHaasGroteskText Pro Md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Jana Bauerová</dc:creator>
  <cp:lastModifiedBy>Patrik Brigant</cp:lastModifiedBy>
  <cp:revision>250</cp:revision>
  <dcterms:created xsi:type="dcterms:W3CDTF">2023-11-10T07:51:55Z</dcterms:created>
  <dcterms:modified xsi:type="dcterms:W3CDTF">2025-11-15T14:36:35Z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0x0101007B132E1716B97C489A12D5AACB40A36E</vt:lpwstr>
  </property>
  <property fmtid="{D5CDD505-2E9C-101B-9397-08002B2CF9AE}" pid="3" name="MediaServiceImageTags">
    <vt:lpwstr/>
  </property>
  <property fmtid="{D5CDD505-2E9C-101B-9397-08002B2CF9AE}" pid="4" name="display_urn:schemas-microsoft-com:office:office#SharedWithUsers">
    <vt:lpwstr>Jorieke Vyncke</vt:lpwstr>
  </property>
  <property fmtid="{D5CDD505-2E9C-101B-9397-08002B2CF9AE}" pid="5" name="SharedWithUsers">
    <vt:lpwstr>12;#Jorieke Vyncke</vt:lpwstr>
  </property>
</Properties>
</file>